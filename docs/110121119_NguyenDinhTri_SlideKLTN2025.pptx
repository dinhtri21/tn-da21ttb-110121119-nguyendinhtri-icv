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1"/>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x="18288000" cy="10287000"/>
  <p:notesSz cx="6858000" cy="9144000"/>
  <p:embeddedFontLst>
    <p:embeddedFont>
      <p:font typeface="Arimo Bold" charset="1" panose="020B0704020202020204"/>
      <p:regular r:id="rId44"/>
    </p:embeddedFont>
    <p:embeddedFont>
      <p:font typeface="Inter Bold" charset="1" panose="020B0802030000000004"/>
      <p:regular r:id="rId45"/>
    </p:embeddedFont>
    <p:embeddedFont>
      <p:font typeface="Inter Bold Italics" charset="1" panose="020B0802030000000004"/>
      <p:regular r:id="rId46"/>
    </p:embeddedFont>
    <p:embeddedFont>
      <p:font typeface="Inter" charset="1" panose="020B0502030000000004"/>
      <p:regular r:id="rId47"/>
    </p:embeddedFont>
    <p:embeddedFont>
      <p:font typeface="Arimo Italics" charset="1" panose="020B0604020202090204"/>
      <p:regular r:id="rId49"/>
    </p:embeddedFont>
    <p:embeddedFont>
      <p:font typeface="Open Sans Bold" charset="1" panose="00000000000000000000"/>
      <p:regular r:id="rId50"/>
    </p:embeddedFont>
    <p:embeddedFont>
      <p:font typeface="Inter Italics" charset="1" panose="020B0502030000000004"/>
      <p:regular r:id="rId52"/>
    </p:embeddedFont>
    <p:embeddedFont>
      <p:font typeface="Open Sans" charset="1" panose="00000000000000000000"/>
      <p:regular r:id="rId57"/>
    </p:embeddedFont>
    <p:embeddedFont>
      <p:font typeface="Open Sans Italics" charset="1" panose="00000000000000000000"/>
      <p:regular r:id="rId6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notesMasters/notesMaster1.xml" Type="http://schemas.openxmlformats.org/officeDocument/2006/relationships/notesMaster"/><Relationship Id="rId42" Target="theme/theme2.xml" Type="http://schemas.openxmlformats.org/officeDocument/2006/relationships/theme"/><Relationship Id="rId43" Target="notesSlides/notesSlide1.xml" Type="http://schemas.openxmlformats.org/officeDocument/2006/relationships/notesSlide"/><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47" Target="fonts/font47.fntdata" Type="http://schemas.openxmlformats.org/officeDocument/2006/relationships/font"/><Relationship Id="rId48" Target="notesSlides/notesSlide2.xml" Type="http://schemas.openxmlformats.org/officeDocument/2006/relationships/notesSlide"/><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51" Target="notesSlides/notesSlide3.xml" Type="http://schemas.openxmlformats.org/officeDocument/2006/relationships/notesSlide"/><Relationship Id="rId52" Target="fonts/font52.fntdata" Type="http://schemas.openxmlformats.org/officeDocument/2006/relationships/font"/><Relationship Id="rId53" Target="notesSlides/notesSlide4.xml" Type="http://schemas.openxmlformats.org/officeDocument/2006/relationships/notesSlide"/><Relationship Id="rId54" Target="notesSlides/notesSlide5.xml" Type="http://schemas.openxmlformats.org/officeDocument/2006/relationships/notesSlide"/><Relationship Id="rId55" Target="notesSlides/notesSlide6.xml" Type="http://schemas.openxmlformats.org/officeDocument/2006/relationships/notesSlide"/><Relationship Id="rId56" Target="notesSlides/notesSlide7.xml" Type="http://schemas.openxmlformats.org/officeDocument/2006/relationships/notesSlide"/><Relationship Id="rId57" Target="fonts/font57.fntdata" Type="http://schemas.openxmlformats.org/officeDocument/2006/relationships/font"/><Relationship Id="rId58" Target="notesSlides/notesSlide8.xml" Type="http://schemas.openxmlformats.org/officeDocument/2006/relationships/notesSlide"/><Relationship Id="rId59" Target="notesSlides/notesSlide9.xml" Type="http://schemas.openxmlformats.org/officeDocument/2006/relationships/notesSlide"/><Relationship Id="rId6" Target="slides/slide1.xml" Type="http://schemas.openxmlformats.org/officeDocument/2006/relationships/slide"/><Relationship Id="rId60" Target="notesSlides/notesSlide10.xml" Type="http://schemas.openxmlformats.org/officeDocument/2006/relationships/notesSlide"/><Relationship Id="rId61" Target="notesSlides/notesSlide11.xml" Type="http://schemas.openxmlformats.org/officeDocument/2006/relationships/notesSlide"/><Relationship Id="rId62" Target="notesSlides/notesSlide12.xml" Type="http://schemas.openxmlformats.org/officeDocument/2006/relationships/notesSlide"/><Relationship Id="rId63" Target="fonts/font63.fntdata" Type="http://schemas.openxmlformats.org/officeDocument/2006/relationships/font"/><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Xin chào quý thầy cô và các bạn có mặt trong buổi báo cáo khoá luận tốt nghiệp ngày hôm nay</a:t>
            </a:r>
          </a:p>
          <a:p>
            <a:r>
              <a:rPr lang="en-US"/>
              <a:t/>
            </a:r>
          </a:p>
          <a:p>
            <a:r>
              <a:rPr lang="en-US"/>
              <a:t>Em tên là ...</a:t>
            </a:r>
          </a:p>
          <a:p>
            <a:r>
              <a:rPr lang="en-US"/>
              <a:t>là sinh viên khoá 21 ngành ...</a:t>
            </a:r>
          </a:p>
          <a:p>
            <a:r>
              <a:rPr lang="en-US"/>
              <a:t/>
            </a:r>
          </a:p>
          <a:p>
            <a:r>
              <a:rPr lang="en-US"/>
              <a:t>Đề tài hôm nay e sẽ báo cáo là....</a:t>
            </a:r>
          </a:p>
          <a:p>
            <a:r>
              <a:rPr lang="en-US"/>
              <a:t/>
            </a:r>
          </a:p>
          <a:p>
            <a:r>
              <a:rPr lang="en-US"/>
              <a:t>Giảng viên hướng dẫn e là thầy...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Đầu tiên e sẽ đi vào phần tóm tắt nội dung báo cáo</a:t>
            </a:r>
          </a:p>
          <a:p>
            <a:r>
              <a:rPr lang="en-US"/>
              <a:t/>
            </a:r>
          </a:p>
          <a:p>
            <a:r>
              <a:rPr lang="en-US"/>
              <a:t>Nội dung báo cáo của em sẽ gồm 6 phần: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Tiếp theo sẽ e sẽ đi vào phần 1 TỔNG QUAN </a:t>
            </a:r>
          </a:p>
          <a:p>
            <a:r>
              <a:rPr lang="en-US"/>
              <a:t/>
            </a:r>
          </a:p>
          <a:p>
            <a:r>
              <a:rPr lang="en-US"/>
              <a:t>=&gt; Nội dung đầu tiên là đặt vấn đề và bối cảnh</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Nội dung tiếp theo là Mục tiêu và nội dung nghiên cứu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lin a chi téch chơ</a:t>
            </a:r>
          </a:p>
          <a:p>
            <a:r>
              <a:rPr lang="en-US"/>
              <a:t/>
            </a:r>
          </a:p>
          <a:p>
            <a:r>
              <a:rPr lang="en-US"/>
              <a:t>Tầng Entities</a:t>
            </a:r>
          </a:p>
          <a:p>
            <a:r>
              <a:rPr lang="en-US"/>
              <a:t>Đây là lõi của hệ thống, nơi chứa các quy tắc nghiệp vụ mang tính toàn cục của hệ thống. Nó gần như không bị ảnh hưởng bởi thay đổi bên ngoài như giao diện hay database. Có thể coi đây là “trái tim” của ứng dụng.</a:t>
            </a:r>
          </a:p>
          <a:p>
            <a:r>
              <a:rPr lang="en-US"/>
              <a:t/>
            </a:r>
          </a:p>
          <a:p>
            <a:r>
              <a:rPr lang="en-US"/>
              <a:t>Tầng Use Cases</a:t>
            </a:r>
          </a:p>
          <a:p>
            <a:r>
              <a:rPr lang="en-US"/>
              <a:t>Tầng này chứa các nghiệp vụ đặc thù của ứng dụng. Nó hiện thực hóa chức năng cụ thể. Nếu quy trình nghiệp vụ thay đổi, thì tầng này sẽ thay đổi theo, nhưng nó không phụ thuộc vào UI hay database.</a:t>
            </a:r>
          </a:p>
          <a:p>
            <a:r>
              <a:rPr lang="en-US"/>
              <a:t/>
            </a:r>
          </a:p>
          <a:p>
            <a:r>
              <a:rPr lang="en-US"/>
              <a:t>Tầng Interface Adapters</a:t>
            </a:r>
          </a:p>
          <a:p>
            <a:r>
              <a:rPr lang="en-US"/>
              <a:t>Đóng vai trò là cầu nối giữa các tầng nghiệp vụ (use cases và entities) với các yếu tố bên ngoài như cơ sở dữ liệu, giao diện người dùng hoặc dịch vụ bên ngoài. </a:t>
            </a:r>
          </a:p>
          <a:p>
            <a:r>
              <a:rPr lang="en-US"/>
              <a:t/>
            </a:r>
          </a:p>
          <a:p>
            <a:r>
              <a:rPr lang="en-US"/>
              <a:t>Tầng Frameworks &amp; Drivers</a:t>
            </a:r>
          </a:p>
          <a:p>
            <a:r>
              <a:rPr lang="en-US"/>
              <a:t>Đây là tầng ngoài cùng, chứa framework, DB, web server,… Tầng này nằm ở rìa, thay đổi thoải mái mà không ảnh hưởng đến logic bên trong.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Bên cạnh là ảnh mô tả e lấy trang chính thức của post man có thể hình dung thì API giống như người phụ vụ hỗ giúp khách hàng và người đầu bếp tương tác với nhau</a:t>
            </a:r>
          </a:p>
          <a:p>
            <a:r>
              <a:rPr lang="en-US"/>
              <a:t/>
            </a:r>
          </a:p>
          <a:p>
            <a:r>
              <a:rPr lang="en-US"/>
              <a:t>Khi khách hàng gửi 1 yêu cầu thì người phục vụ sẽ chuyển nó đến đầu bếp để nấu món ăn và giao lại món ăn cho khách</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Trong đó:</a:t>
            </a:r>
          </a:p>
          <a:p>
            <a:r>
              <a:rPr lang="en-US"/>
              <a:t>	(1): Các trình duyệt của người dùng.</a:t>
            </a:r>
          </a:p>
          <a:p>
            <a:r>
              <a:rPr lang="en-US"/>
              <a:t>	(2): Giao diện người dùng, nơi người dùng tương tác với hệ thống</a:t>
            </a:r>
          </a:p>
          <a:p>
            <a:r>
              <a:rPr lang="en-US"/>
              <a:t>	(3): Các API từ server</a:t>
            </a:r>
          </a:p>
          <a:p>
            <a:r>
              <a:rPr lang="en-US"/>
              <a:t>	(4): Máy chủ ứng dụng ASP.NET Core Web API xử lý các yêu cầu từ client.</a:t>
            </a:r>
          </a:p>
          <a:p>
            <a:r>
              <a:rPr lang="en-US"/>
              <a:t>	(5): Đây là lớp chịu trách nhiệm cho các controller, middleware,… định tuyến và xử lý yêu cầu.</a:t>
            </a:r>
          </a:p>
          <a:p>
            <a:r>
              <a:rPr lang="en-US"/>
              <a:t>	(6): Lớp chứa logic nghiệp vụ, các use case và luồng công việc đặc thù của ứng dụng.</a:t>
            </a:r>
          </a:p>
          <a:p>
            <a:r>
              <a:rPr lang="en-US"/>
              <a:t>	(7): Lớp chứa các thực thể, logic nghiệp vụ và mô hình cốt lõi.</a:t>
            </a:r>
          </a:p>
          <a:p>
            <a:r>
              <a:rPr lang="en-US"/>
              <a:t>	(8): Lớp này chứa các truy cập dữ liệu, dịch vụ và tích hợp với các hệ thống bên ngoài, chẳng hạn như giao tiếp với API của bên thứ ba và các thao tác cơ sở dữ liệu.</a:t>
            </a:r>
          </a:p>
          <a:p>
            <a:r>
              <a:rPr lang="en-US"/>
              <a:t>	(9): Cơ sở dữ liệu nơi dữ liệu của ứng dụng được lưu trữ.</a:t>
            </a:r>
          </a:p>
          <a:p>
            <a:r>
              <a:rPr lang="en-US"/>
              <a:t>	(10): Các dịch vụ bên ngoài như Gemini (thông qua api) mà ứng dụng tương tác, thông qua lớp Infrastructure.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Hệ thống có hai tác nhân: người dùng vãng lai, người dùng đăng nhập.</a:t>
            </a:r>
          </a:p>
          <a:p>
            <a:r>
              <a:rPr lang="en-US"/>
              <a:t/>
            </a:r>
          </a:p>
          <a:p>
            <a:r>
              <a:rPr lang="en-US"/>
              <a:t>Quản lý CV bao gồm CRUD CV và dịch CV sang ngôn ngữ khác, tích hợp AI</a:t>
            </a:r>
          </a:p>
          <a:p>
            <a:r>
              <a:rPr lang="en-US"/>
              <a:t/>
            </a:r>
          </a:p>
          <a:p>
            <a:r>
              <a:rPr lang="en-US"/>
              <a:t>Import ... tích hợp AI</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Axios =&gt; A-xi-ốt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MediatR =&gt; Mi-đi-ây-tờ</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Presentation : re sên stấy sền</a:t>
            </a:r>
          </a:p>
          <a:p>
            <a:r>
              <a:rPr lang="en-US"/>
              <a:t/>
            </a:r>
          </a:p>
          <a:p>
            <a:r>
              <a:rPr lang="en-US"/>
              <a:t>Infrastructure: In-phơ-rắc-chơ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Hệ thống được triển khai Docker Compose với ba container: backend, frontend và nginx.</a:t>
            </a:r>
          </a:p>
          <a:p>
            <a:r>
              <a:rPr lang="en-US"/>
              <a:t/>
            </a:r>
          </a:p>
          <a:p>
            <a:r>
              <a:rPr lang="en-US"/>
              <a:t>Server là backend .NET, chạy nội bộ trên cổng 8080, kết nối MongoDB và dùng JWT, Google OAuth.</a:t>
            </a:r>
          </a:p>
          <a:p>
            <a:r>
              <a:rPr lang="en-US"/>
              <a:t/>
            </a:r>
          </a:p>
          <a:p>
            <a:r>
              <a:rPr lang="en-US"/>
              <a:t>Client là frontend Next.js, chạy trên cổng 3000, gọi API qua Nginx.</a:t>
            </a:r>
          </a:p>
          <a:p>
            <a:r>
              <a:rPr lang="en-US"/>
              <a:t/>
            </a:r>
          </a:p>
          <a:p>
            <a:r>
              <a:rPr lang="en-US"/>
              <a:t>Nginx là cổng ra ngoài: nhận request từ domain icv.codes.</a:t>
            </a:r>
          </a:p>
          <a:p>
            <a:r>
              <a:rPr lang="en-US"/>
              <a:t/>
            </a:r>
          </a:p>
          <a:p>
            <a:r>
              <a:rPr lang="en-US"/>
              <a:t>Nếu request / thì chuyển đến client.</a:t>
            </a:r>
          </a:p>
          <a:p>
            <a:r>
              <a:rPr lang="en-US"/>
              <a:t/>
            </a:r>
          </a:p>
          <a:p>
            <a:r>
              <a:rPr lang="en-US"/>
              <a:t>Nếu request /api/ thì chuyển đến server.</a:t>
            </a:r>
          </a:p>
          <a:p>
            <a:r>
              <a:rPr lang="en-US"/>
              <a:t/>
            </a:r>
          </a:p>
          <a:p>
            <a:r>
              <a:rPr lang="en-US"/>
              <a:t>Tóm lại, luồng đi là:</a:t>
            </a:r>
          </a:p>
          <a:p>
            <a:r>
              <a:rPr lang="en-US"/>
              <a:t>Người dùng → icv.codes → Nginx → chia về Client hoặc Server.</a:t>
            </a:r>
          </a:p>
          <a:p>
            <a:r>
              <a:rPr lang="en-US"/>
              <a:t/>
            </a:r>
          </a:p>
          <a:p>
            <a:r>
              <a:rPr lang="en-US"/>
              <a:t/>
            </a:r>
          </a:p>
          <a:p>
            <a:r>
              <a:rPr lang="en-US"/>
              <a:t>Quy trình triển khai, thì đầu tiên em sẽ viết dockerfile và dockercompose build 3 fe, be và nginx thành image =&gt; sau đó đẩy lên dockerhub</a:t>
            </a:r>
          </a:p>
          <a:p>
            <a:r>
              <a:rPr lang="en-US"/>
              <a:t/>
            </a:r>
          </a:p>
          <a:p>
            <a:r>
              <a:rPr lang="en-US"/>
              <a:t>=&gt; truy cập vps tải docker compose cấu hình env, nginx domain và chạy thôi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9.png" Type="http://schemas.openxmlformats.org/officeDocument/2006/relationships/image"/><Relationship Id="rId4"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svg" Type="http://schemas.openxmlformats.org/officeDocument/2006/relationships/image"/><Relationship Id="rId11" Target="../media/image18.png" Type="http://schemas.openxmlformats.org/officeDocument/2006/relationships/image"/><Relationship Id="rId12" Target="../media/image19.svg" Type="http://schemas.openxmlformats.org/officeDocument/2006/relationships/image"/><Relationship Id="rId13" Target="../media/image20.png" Type="http://schemas.openxmlformats.org/officeDocument/2006/relationships/image"/><Relationship Id="rId14" Target="../media/image21.svg" Type="http://schemas.openxmlformats.org/officeDocument/2006/relationships/image"/><Relationship Id="rId15" Target="../media/image22.png" Type="http://schemas.openxmlformats.org/officeDocument/2006/relationships/image"/><Relationship Id="rId16" Target="../media/image23.svg" Type="http://schemas.openxmlformats.org/officeDocument/2006/relationships/image"/><Relationship Id="rId17" Target="../media/image24.png" Type="http://schemas.openxmlformats.org/officeDocument/2006/relationships/image"/><Relationship Id="rId18" Target="../media/image25.svg" Type="http://schemas.openxmlformats.org/officeDocument/2006/relationships/image"/><Relationship Id="rId2" Target="../media/image6.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 Id="rId9" Target="../media/image1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6.png" Type="http://schemas.openxmlformats.org/officeDocument/2006/relationships/image"/><Relationship Id="rId4" Target="../media/image2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27.png" Type="http://schemas.openxmlformats.org/officeDocument/2006/relationships/image"/><Relationship Id="rId4" Target="../media/image28.svg" Type="http://schemas.openxmlformats.org/officeDocument/2006/relationships/image"/><Relationship Id="rId5" Target="../media/image29.png" Type="http://schemas.openxmlformats.org/officeDocument/2006/relationships/image"/><Relationship Id="rId6" Target="../media/image30.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6.png" Type="http://schemas.openxmlformats.org/officeDocument/2006/relationships/image"/><Relationship Id="rId4" Target="../media/image3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3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4.svg" Type="http://schemas.openxmlformats.org/officeDocument/2006/relationships/image"/><Relationship Id="rId11" Target="../media/image35.png" Type="http://schemas.openxmlformats.org/officeDocument/2006/relationships/image"/><Relationship Id="rId12" Target="../media/image36.png" Type="http://schemas.openxmlformats.org/officeDocument/2006/relationships/image"/><Relationship Id="rId13" Target="../media/image37.svg" Type="http://schemas.openxmlformats.org/officeDocument/2006/relationships/image"/><Relationship Id="rId2" Target="../notesSlides/notesSlide7.xml" Type="http://schemas.openxmlformats.org/officeDocument/2006/relationships/notesSlide"/><Relationship Id="rId3" Target="../media/image6.png" Type="http://schemas.openxmlformats.org/officeDocument/2006/relationships/image"/><Relationship Id="rId4" Target="../media/image9.png" Type="http://schemas.openxmlformats.org/officeDocument/2006/relationships/image"/><Relationship Id="rId5" Target="../media/image27.png" Type="http://schemas.openxmlformats.org/officeDocument/2006/relationships/image"/><Relationship Id="rId6" Target="../media/image28.svg" Type="http://schemas.openxmlformats.org/officeDocument/2006/relationships/image"/><Relationship Id="rId7" Target="../media/image29.png" Type="http://schemas.openxmlformats.org/officeDocument/2006/relationships/image"/><Relationship Id="rId8" Target="../media/image30.svg" Type="http://schemas.openxmlformats.org/officeDocument/2006/relationships/image"/><Relationship Id="rId9" Target="../media/image3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38.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6.png" Type="http://schemas.openxmlformats.org/officeDocument/2006/relationships/image"/><Relationship Id="rId4" Target="../media/image39.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6.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6.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40.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6.png" Type="http://schemas.openxmlformats.org/officeDocument/2006/relationships/image"/><Relationship Id="rId4" Target="../media/image41.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5.png" Type="http://schemas.openxmlformats.org/officeDocument/2006/relationships/image"/><Relationship Id="rId11" Target="../media/image46.svg" Type="http://schemas.openxmlformats.org/officeDocument/2006/relationships/image"/><Relationship Id="rId12" Target="../media/image47.png" Type="http://schemas.openxmlformats.org/officeDocument/2006/relationships/image"/><Relationship Id="rId13" Target="../media/image48.png" Type="http://schemas.openxmlformats.org/officeDocument/2006/relationships/image"/><Relationship Id="rId14" Target="../media/image49.svg" Type="http://schemas.openxmlformats.org/officeDocument/2006/relationships/image"/><Relationship Id="rId2" Target="../notesSlides/notesSlide12.xml" Type="http://schemas.openxmlformats.org/officeDocument/2006/relationships/notesSlide"/><Relationship Id="rId3" Target="../media/image6.png" Type="http://schemas.openxmlformats.org/officeDocument/2006/relationships/image"/><Relationship Id="rId4" Target="../media/image36.png" Type="http://schemas.openxmlformats.org/officeDocument/2006/relationships/image"/><Relationship Id="rId5" Target="../media/image37.svg" Type="http://schemas.openxmlformats.org/officeDocument/2006/relationships/image"/><Relationship Id="rId6" Target="../media/image9.png" Type="http://schemas.openxmlformats.org/officeDocument/2006/relationships/image"/><Relationship Id="rId7" Target="../media/image42.png" Type="http://schemas.openxmlformats.org/officeDocument/2006/relationships/image"/><Relationship Id="rId8" Target="../media/image43.png" Type="http://schemas.openxmlformats.org/officeDocument/2006/relationships/image"/><Relationship Id="rId9" Target="../media/image44.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50.png" Type="http://schemas.openxmlformats.org/officeDocument/2006/relationships/image"/><Relationship Id="rId4" Target="../media/image51.png" Type="http://schemas.openxmlformats.org/officeDocument/2006/relationships/image"/><Relationship Id="rId5" Target="../media/image52.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53.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54.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55.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56.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57.png" Type="http://schemas.openxmlformats.org/officeDocument/2006/relationships/image"/><Relationship Id="rId4" Target="../media/image58.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59.png" Type="http://schemas.openxmlformats.org/officeDocument/2006/relationships/image"/><Relationship Id="rId4" Target="../media/image60.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1.png" Type="http://schemas.openxmlformats.org/officeDocument/2006/relationships/image"/><Relationship Id="rId3" Target="../media/image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69949" y="790771"/>
            <a:ext cx="643763" cy="643763"/>
          </a:xfrm>
          <a:custGeom>
            <a:avLst/>
            <a:gdLst/>
            <a:ahLst/>
            <a:cxnLst/>
            <a:rect r="r" b="b" t="t" l="l"/>
            <a:pathLst>
              <a:path h="643763" w="643763">
                <a:moveTo>
                  <a:pt x="0" y="0"/>
                </a:moveTo>
                <a:lnTo>
                  <a:pt x="643763" y="0"/>
                </a:lnTo>
                <a:lnTo>
                  <a:pt x="643763" y="643763"/>
                </a:lnTo>
                <a:lnTo>
                  <a:pt x="0" y="643763"/>
                </a:lnTo>
                <a:lnTo>
                  <a:pt x="0" y="0"/>
                </a:lnTo>
                <a:close/>
              </a:path>
            </a:pathLst>
          </a:custGeom>
          <a:blipFill>
            <a:blip r:embed="rId3"/>
            <a:stretch>
              <a:fillRect l="0" t="0" r="0" b="0"/>
            </a:stretch>
          </a:blipFill>
        </p:spPr>
      </p:sp>
      <p:sp>
        <p:nvSpPr>
          <p:cNvPr name="TextBox 3" id="3"/>
          <p:cNvSpPr txBox="true"/>
          <p:nvPr/>
        </p:nvSpPr>
        <p:spPr>
          <a:xfrm rot="0">
            <a:off x="1857230" y="781246"/>
            <a:ext cx="5171587" cy="662813"/>
          </a:xfrm>
          <a:prstGeom prst="rect">
            <a:avLst/>
          </a:prstGeom>
        </p:spPr>
        <p:txBody>
          <a:bodyPr anchor="t" rtlCol="false" tIns="0" lIns="0" bIns="0" rIns="0">
            <a:spAutoFit/>
          </a:bodyPr>
          <a:lstStyle/>
          <a:p>
            <a:pPr algn="l">
              <a:lnSpc>
                <a:spcPts val="2595"/>
              </a:lnSpc>
            </a:pPr>
            <a:r>
              <a:rPr lang="en-US" b="true" sz="2199">
                <a:solidFill>
                  <a:srgbClr val="001E70"/>
                </a:solidFill>
                <a:latin typeface="Arimo Bold"/>
                <a:ea typeface="Arimo Bold"/>
                <a:cs typeface="Arimo Bold"/>
                <a:sym typeface="Arimo Bold"/>
              </a:rPr>
              <a:t>TRƯỜNG ĐẠI HỌC TRÀ VINH</a:t>
            </a:r>
          </a:p>
          <a:p>
            <a:pPr algn="l" marL="0" indent="0" lvl="0">
              <a:lnSpc>
                <a:spcPts val="2595"/>
              </a:lnSpc>
            </a:pPr>
            <a:r>
              <a:rPr lang="en-US" b="true" sz="2199">
                <a:solidFill>
                  <a:srgbClr val="001E70"/>
                </a:solidFill>
                <a:latin typeface="Arimo Bold"/>
                <a:ea typeface="Arimo Bold"/>
                <a:cs typeface="Arimo Bold"/>
                <a:sym typeface="Arimo Bold"/>
              </a:rPr>
              <a:t>TRƯỜNG KỸ THUẬT VÀ CÔNG NGHỆ</a:t>
            </a:r>
          </a:p>
        </p:txBody>
      </p:sp>
      <p:sp>
        <p:nvSpPr>
          <p:cNvPr name="TextBox 4" id="4"/>
          <p:cNvSpPr txBox="true"/>
          <p:nvPr/>
        </p:nvSpPr>
        <p:spPr>
          <a:xfrm rot="0">
            <a:off x="13036853" y="852620"/>
            <a:ext cx="4349235" cy="432943"/>
          </a:xfrm>
          <a:prstGeom prst="rect">
            <a:avLst/>
          </a:prstGeom>
        </p:spPr>
        <p:txBody>
          <a:bodyPr anchor="t" rtlCol="false" tIns="0" lIns="0" bIns="0" rIns="0">
            <a:spAutoFit/>
          </a:bodyPr>
          <a:lstStyle/>
          <a:p>
            <a:pPr algn="ctr" marL="0" indent="0" lvl="0">
              <a:lnSpc>
                <a:spcPts val="3536"/>
              </a:lnSpc>
            </a:pPr>
            <a:r>
              <a:rPr lang="en-US" b="true" sz="2600">
                <a:solidFill>
                  <a:srgbClr val="00618A"/>
                </a:solidFill>
                <a:latin typeface="Inter Bold"/>
                <a:ea typeface="Inter Bold"/>
                <a:cs typeface="Inter Bold"/>
                <a:sym typeface="Inter Bold"/>
              </a:rPr>
              <a:t>BÁO CÁO TỐT NGHIỆP</a:t>
            </a:r>
          </a:p>
        </p:txBody>
      </p:sp>
      <p:sp>
        <p:nvSpPr>
          <p:cNvPr name="TextBox 5" id="5"/>
          <p:cNvSpPr txBox="true"/>
          <p:nvPr/>
        </p:nvSpPr>
        <p:spPr>
          <a:xfrm rot="0">
            <a:off x="13947630" y="8531721"/>
            <a:ext cx="3687673" cy="860425"/>
          </a:xfrm>
          <a:prstGeom prst="rect">
            <a:avLst/>
          </a:prstGeom>
        </p:spPr>
        <p:txBody>
          <a:bodyPr anchor="t" rtlCol="false" tIns="0" lIns="0" bIns="0" rIns="0">
            <a:spAutoFit/>
          </a:bodyPr>
          <a:lstStyle/>
          <a:p>
            <a:pPr algn="l">
              <a:lnSpc>
                <a:spcPts val="3499"/>
              </a:lnSpc>
            </a:pPr>
            <a:r>
              <a:rPr lang="en-US" sz="2499" i="true" b="true">
                <a:solidFill>
                  <a:srgbClr val="000000"/>
                </a:solidFill>
                <a:latin typeface="Inter Bold Italics"/>
                <a:ea typeface="Inter Bold Italics"/>
                <a:cs typeface="Inter Bold Italics"/>
                <a:sym typeface="Inter Bold Italics"/>
              </a:rPr>
              <a:t>Giảng viên hướng dẫn:</a:t>
            </a:r>
          </a:p>
          <a:p>
            <a:pPr algn="l" marL="0" indent="0" lvl="0">
              <a:lnSpc>
                <a:spcPts val="3499"/>
              </a:lnSpc>
              <a:spcBef>
                <a:spcPct val="0"/>
              </a:spcBef>
            </a:pPr>
            <a:r>
              <a:rPr lang="en-US" sz="2499">
                <a:solidFill>
                  <a:srgbClr val="000000"/>
                </a:solidFill>
                <a:latin typeface="Inter"/>
                <a:ea typeface="Inter"/>
                <a:cs typeface="Inter"/>
                <a:sym typeface="Inter"/>
              </a:rPr>
              <a:t>TS. Nguyễn Bảo Ân</a:t>
            </a:r>
          </a:p>
        </p:txBody>
      </p:sp>
      <p:sp>
        <p:nvSpPr>
          <p:cNvPr name="TextBox 6" id="6"/>
          <p:cNvSpPr txBox="true"/>
          <p:nvPr/>
        </p:nvSpPr>
        <p:spPr>
          <a:xfrm rot="0">
            <a:off x="1028700" y="3535642"/>
            <a:ext cx="6731012" cy="2724150"/>
          </a:xfrm>
          <a:prstGeom prst="rect">
            <a:avLst/>
          </a:prstGeom>
        </p:spPr>
        <p:txBody>
          <a:bodyPr anchor="t" rtlCol="false" tIns="0" lIns="0" bIns="0" rIns="0">
            <a:spAutoFit/>
          </a:bodyPr>
          <a:lstStyle/>
          <a:p>
            <a:pPr algn="l" marL="0" indent="0" lvl="0">
              <a:lnSpc>
                <a:spcPts val="5399"/>
              </a:lnSpc>
              <a:spcBef>
                <a:spcPct val="0"/>
              </a:spcBef>
            </a:pPr>
            <a:r>
              <a:rPr lang="en-US" b="true" sz="4499" spc="124" strike="noStrike" u="none">
                <a:solidFill>
                  <a:srgbClr val="00618A"/>
                </a:solidFill>
                <a:latin typeface="Arimo Bold"/>
                <a:ea typeface="Arimo Bold"/>
                <a:cs typeface="Arimo Bold"/>
                <a:sym typeface="Arimo Bold"/>
              </a:rPr>
              <a:t>XÂY DỰNG HỆ THỐNG TẠO VÀ ĐÁNH GIÁ</a:t>
            </a:r>
          </a:p>
          <a:p>
            <a:pPr algn="l" marL="0" indent="0" lvl="0">
              <a:lnSpc>
                <a:spcPts val="5399"/>
              </a:lnSpc>
              <a:spcBef>
                <a:spcPct val="0"/>
              </a:spcBef>
            </a:pPr>
            <a:r>
              <a:rPr lang="en-US" b="true" sz="4499" spc="121" strike="noStrike" u="none">
                <a:solidFill>
                  <a:srgbClr val="00618A"/>
                </a:solidFill>
                <a:latin typeface="Arimo Bold"/>
                <a:ea typeface="Arimo Bold"/>
                <a:cs typeface="Arimo Bold"/>
                <a:sym typeface="Arimo Bold"/>
              </a:rPr>
              <a:t>HỒ SƠ XIN VIỆC</a:t>
            </a:r>
          </a:p>
          <a:p>
            <a:pPr algn="l" marL="0" indent="0" lvl="0">
              <a:lnSpc>
                <a:spcPts val="5399"/>
              </a:lnSpc>
              <a:spcBef>
                <a:spcPct val="0"/>
              </a:spcBef>
            </a:pPr>
            <a:r>
              <a:rPr lang="en-US" b="true" sz="4499" spc="124" strike="noStrike" u="none">
                <a:solidFill>
                  <a:srgbClr val="00618A"/>
                </a:solidFill>
                <a:latin typeface="Arimo Bold"/>
                <a:ea typeface="Arimo Bold"/>
                <a:cs typeface="Arimo Bold"/>
                <a:sym typeface="Arimo Bold"/>
              </a:rPr>
              <a:t>TÍCH HỢP AI</a:t>
            </a:r>
          </a:p>
        </p:txBody>
      </p:sp>
      <p:sp>
        <p:nvSpPr>
          <p:cNvPr name="Freeform 7" id="7"/>
          <p:cNvSpPr/>
          <p:nvPr/>
        </p:nvSpPr>
        <p:spPr>
          <a:xfrm flipH="false" flipV="false" rot="8100000">
            <a:off x="13356027" y="289526"/>
            <a:ext cx="9399159" cy="9375661"/>
          </a:xfrm>
          <a:custGeom>
            <a:avLst/>
            <a:gdLst/>
            <a:ahLst/>
            <a:cxnLst/>
            <a:rect r="r" b="b" t="t" l="l"/>
            <a:pathLst>
              <a:path h="9375661" w="9399159">
                <a:moveTo>
                  <a:pt x="0" y="0"/>
                </a:moveTo>
                <a:lnTo>
                  <a:pt x="9399159" y="0"/>
                </a:lnTo>
                <a:lnTo>
                  <a:pt x="9399159" y="9375661"/>
                </a:lnTo>
                <a:lnTo>
                  <a:pt x="0" y="9375661"/>
                </a:lnTo>
                <a:lnTo>
                  <a:pt x="0" y="0"/>
                </a:lnTo>
                <a:close/>
              </a:path>
            </a:pathLst>
          </a:custGeom>
          <a:blipFill>
            <a:blip r:embed="rId4">
              <a:alphaModFix amt="25000"/>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7986711" y="1434534"/>
            <a:ext cx="9399376" cy="5977243"/>
            <a:chOff x="0" y="0"/>
            <a:chExt cx="12532501" cy="7969657"/>
          </a:xfrm>
        </p:grpSpPr>
        <p:sp>
          <p:nvSpPr>
            <p:cNvPr name="Freeform 9" id="9"/>
            <p:cNvSpPr/>
            <p:nvPr/>
          </p:nvSpPr>
          <p:spPr>
            <a:xfrm flipH="false" flipV="false" rot="0">
              <a:off x="0" y="1685123"/>
              <a:ext cx="12532501" cy="6284534"/>
            </a:xfrm>
            <a:custGeom>
              <a:avLst/>
              <a:gdLst/>
              <a:ahLst/>
              <a:cxnLst/>
              <a:rect r="r" b="b" t="t" l="l"/>
              <a:pathLst>
                <a:path h="6284534" w="12532501">
                  <a:moveTo>
                    <a:pt x="0" y="0"/>
                  </a:moveTo>
                  <a:lnTo>
                    <a:pt x="12532501" y="0"/>
                  </a:lnTo>
                  <a:lnTo>
                    <a:pt x="12532501" y="6284534"/>
                  </a:lnTo>
                  <a:lnTo>
                    <a:pt x="0" y="6284534"/>
                  </a:lnTo>
                  <a:lnTo>
                    <a:pt x="0" y="0"/>
                  </a:lnTo>
                  <a:close/>
                </a:path>
              </a:pathLst>
            </a:custGeom>
            <a:blipFill>
              <a:blip r:embed="rId6"/>
              <a:stretch>
                <a:fillRect l="0" t="-20149" r="0" b="0"/>
              </a:stretch>
            </a:blipFill>
          </p:spPr>
        </p:sp>
        <p:sp>
          <p:nvSpPr>
            <p:cNvPr name="Freeform 10" id="10"/>
            <p:cNvSpPr/>
            <p:nvPr/>
          </p:nvSpPr>
          <p:spPr>
            <a:xfrm flipH="false" flipV="false" rot="0">
              <a:off x="1221744" y="0"/>
              <a:ext cx="10108444" cy="7966825"/>
            </a:xfrm>
            <a:custGeom>
              <a:avLst/>
              <a:gdLst/>
              <a:ahLst/>
              <a:cxnLst/>
              <a:rect r="r" b="b" t="t" l="l"/>
              <a:pathLst>
                <a:path h="7966825" w="10108444">
                  <a:moveTo>
                    <a:pt x="0" y="0"/>
                  </a:moveTo>
                  <a:lnTo>
                    <a:pt x="10108444" y="0"/>
                  </a:lnTo>
                  <a:lnTo>
                    <a:pt x="10108444" y="7966825"/>
                  </a:lnTo>
                  <a:lnTo>
                    <a:pt x="0" y="7966825"/>
                  </a:lnTo>
                  <a:lnTo>
                    <a:pt x="0" y="0"/>
                  </a:lnTo>
                  <a:close/>
                </a:path>
              </a:pathLst>
            </a:custGeom>
            <a:blipFill>
              <a:blip r:embed="rId7"/>
              <a:stretch>
                <a:fillRect l="-27299" t="-17136" r="-27607" b="-30273"/>
              </a:stretch>
            </a:blipFill>
          </p:spPr>
        </p:sp>
        <p:sp>
          <p:nvSpPr>
            <p:cNvPr name="Freeform 11" id="11"/>
            <p:cNvSpPr/>
            <p:nvPr/>
          </p:nvSpPr>
          <p:spPr>
            <a:xfrm flipH="false" flipV="false" rot="0">
              <a:off x="0" y="1341412"/>
              <a:ext cx="12532501" cy="1119824"/>
            </a:xfrm>
            <a:custGeom>
              <a:avLst/>
              <a:gdLst/>
              <a:ahLst/>
              <a:cxnLst/>
              <a:rect r="r" b="b" t="t" l="l"/>
              <a:pathLst>
                <a:path h="1119824" w="12532501">
                  <a:moveTo>
                    <a:pt x="0" y="0"/>
                  </a:moveTo>
                  <a:lnTo>
                    <a:pt x="12532501" y="0"/>
                  </a:lnTo>
                  <a:lnTo>
                    <a:pt x="12532501" y="1119824"/>
                  </a:lnTo>
                  <a:lnTo>
                    <a:pt x="0" y="1119824"/>
                  </a:lnTo>
                  <a:lnTo>
                    <a:pt x="0" y="0"/>
                  </a:lnTo>
                  <a:close/>
                </a:path>
              </a:pathLst>
            </a:custGeom>
            <a:blipFill>
              <a:blip r:embed="rId6"/>
              <a:stretch>
                <a:fillRect l="0" t="0" r="0" b="-574287"/>
              </a:stretch>
            </a:blipFill>
          </p:spPr>
        </p:sp>
      </p:grpSp>
      <p:sp>
        <p:nvSpPr>
          <p:cNvPr name="TextBox 12" id="12"/>
          <p:cNvSpPr txBox="true"/>
          <p:nvPr/>
        </p:nvSpPr>
        <p:spPr>
          <a:xfrm rot="0">
            <a:off x="1028700" y="7655421"/>
            <a:ext cx="4678149" cy="1736725"/>
          </a:xfrm>
          <a:prstGeom prst="rect">
            <a:avLst/>
          </a:prstGeom>
        </p:spPr>
        <p:txBody>
          <a:bodyPr anchor="t" rtlCol="false" tIns="0" lIns="0" bIns="0" rIns="0">
            <a:spAutoFit/>
          </a:bodyPr>
          <a:lstStyle/>
          <a:p>
            <a:pPr algn="l">
              <a:lnSpc>
                <a:spcPts val="3499"/>
              </a:lnSpc>
            </a:pPr>
            <a:r>
              <a:rPr lang="en-US" sz="2499" i="true" b="true">
                <a:solidFill>
                  <a:srgbClr val="000000"/>
                </a:solidFill>
                <a:latin typeface="Inter Bold Italics"/>
                <a:ea typeface="Inter Bold Italics"/>
                <a:cs typeface="Inter Bold Italics"/>
                <a:sym typeface="Inter Bold Italics"/>
              </a:rPr>
              <a:t>Sinh viên thực hiện:</a:t>
            </a:r>
          </a:p>
          <a:p>
            <a:pPr algn="l" marL="0" indent="0" lvl="0">
              <a:lnSpc>
                <a:spcPts val="3499"/>
              </a:lnSpc>
              <a:spcBef>
                <a:spcPct val="0"/>
              </a:spcBef>
            </a:pPr>
            <a:r>
              <a:rPr lang="en-US" sz="2499" strike="noStrike" u="none">
                <a:solidFill>
                  <a:srgbClr val="000000"/>
                </a:solidFill>
                <a:latin typeface="Inter"/>
                <a:ea typeface="Inter"/>
                <a:cs typeface="Inter"/>
                <a:sym typeface="Inter"/>
              </a:rPr>
              <a:t>Họ tên: Nguyễn Đình Trí</a:t>
            </a:r>
          </a:p>
          <a:p>
            <a:pPr algn="l" marL="0" indent="0" lvl="0">
              <a:lnSpc>
                <a:spcPts val="3499"/>
              </a:lnSpc>
              <a:spcBef>
                <a:spcPct val="0"/>
              </a:spcBef>
            </a:pPr>
            <a:r>
              <a:rPr lang="en-US" sz="2499" strike="noStrike" u="none">
                <a:solidFill>
                  <a:srgbClr val="000000"/>
                </a:solidFill>
                <a:latin typeface="Inter"/>
                <a:ea typeface="Inter"/>
                <a:cs typeface="Inter"/>
                <a:sym typeface="Inter"/>
              </a:rPr>
              <a:t>MSSV: 110121119</a:t>
            </a:r>
          </a:p>
          <a:p>
            <a:pPr algn="l" marL="0" indent="0" lvl="0">
              <a:lnSpc>
                <a:spcPts val="3499"/>
              </a:lnSpc>
              <a:spcBef>
                <a:spcPct val="0"/>
              </a:spcBef>
            </a:pPr>
            <a:r>
              <a:rPr lang="en-US" sz="2499" strike="noStrike" u="none">
                <a:solidFill>
                  <a:srgbClr val="000000"/>
                </a:solidFill>
                <a:latin typeface="Inter"/>
                <a:ea typeface="Inter"/>
                <a:cs typeface="Inter"/>
                <a:sym typeface="Inter"/>
              </a:rPr>
              <a:t>Lớp: DA21TTB</a:t>
            </a:r>
          </a:p>
        </p:txBody>
      </p:sp>
      <p:sp>
        <p:nvSpPr>
          <p:cNvPr name="AutoShape 13" id="13"/>
          <p:cNvSpPr/>
          <p:nvPr/>
        </p:nvSpPr>
        <p:spPr>
          <a:xfrm>
            <a:off x="1028717" y="3320539"/>
            <a:ext cx="4678132" cy="0"/>
          </a:xfrm>
          <a:prstGeom prst="line">
            <a:avLst/>
          </a:prstGeom>
          <a:ln cap="rnd" w="19050">
            <a:solidFill>
              <a:srgbClr val="075985"/>
            </a:solidFill>
            <a:prstDash val="solid"/>
            <a:headEnd type="none" len="sm" w="sm"/>
            <a:tailEnd type="none" len="sm" w="sm"/>
          </a:ln>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706170" y="9258300"/>
            <a:ext cx="16872253" cy="0"/>
          </a:xfrm>
          <a:prstGeom prst="line">
            <a:avLst/>
          </a:prstGeom>
          <a:ln cap="rnd" w="19050">
            <a:solidFill>
              <a:srgbClr val="4BADD6"/>
            </a:solidFill>
            <a:prstDash val="solid"/>
            <a:headEnd type="none" len="sm" w="sm"/>
            <a:tailEnd type="none" len="sm" w="sm"/>
          </a:ln>
        </p:spPr>
      </p:sp>
      <p:sp>
        <p:nvSpPr>
          <p:cNvPr name="AutoShape 3" id="3"/>
          <p:cNvSpPr/>
          <p:nvPr/>
        </p:nvSpPr>
        <p:spPr>
          <a:xfrm flipH="true">
            <a:off x="763320" y="716667"/>
            <a:ext cx="0" cy="771525"/>
          </a:xfrm>
          <a:prstGeom prst="line">
            <a:avLst/>
          </a:prstGeom>
          <a:ln cap="rnd" w="114300">
            <a:solidFill>
              <a:srgbClr val="075985">
                <a:alpha val="46667"/>
              </a:srgbClr>
            </a:solidFill>
            <a:prstDash val="solid"/>
            <a:headEnd type="none" len="sm" w="sm"/>
            <a:tailEnd type="none" len="sm" w="sm"/>
          </a:ln>
        </p:spPr>
      </p:sp>
      <p:grpSp>
        <p:nvGrpSpPr>
          <p:cNvPr name="Group 4" id="4"/>
          <p:cNvGrpSpPr/>
          <p:nvPr/>
        </p:nvGrpSpPr>
        <p:grpSpPr>
          <a:xfrm rot="0">
            <a:off x="1603685" y="2919177"/>
            <a:ext cx="5652579" cy="769956"/>
            <a:chOff x="0" y="0"/>
            <a:chExt cx="7536771" cy="1026609"/>
          </a:xfrm>
        </p:grpSpPr>
        <p:grpSp>
          <p:nvGrpSpPr>
            <p:cNvPr name="Group 5" id="5"/>
            <p:cNvGrpSpPr/>
            <p:nvPr/>
          </p:nvGrpSpPr>
          <p:grpSpPr>
            <a:xfrm rot="0">
              <a:off x="0" y="0"/>
              <a:ext cx="1026609" cy="102660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BADD6">
                  <a:alpha val="69804"/>
                </a:srgbClr>
              </a:soli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499"/>
                  </a:lnSpc>
                </a:pPr>
                <a:r>
                  <a:rPr lang="en-US" b="true" sz="2499">
                    <a:solidFill>
                      <a:srgbClr val="FEFFFE">
                        <a:alpha val="69804"/>
                      </a:srgbClr>
                    </a:solidFill>
                    <a:latin typeface="Inter Bold"/>
                    <a:ea typeface="Inter Bold"/>
                    <a:cs typeface="Inter Bold"/>
                    <a:sym typeface="Inter Bold"/>
                  </a:rPr>
                  <a:t>01</a:t>
                </a:r>
              </a:p>
            </p:txBody>
          </p:sp>
        </p:grpSp>
        <p:sp>
          <p:nvSpPr>
            <p:cNvPr name="TextBox 8" id="8"/>
            <p:cNvSpPr txBox="true"/>
            <p:nvPr/>
          </p:nvSpPr>
          <p:spPr>
            <a:xfrm rot="0">
              <a:off x="1334295" y="113254"/>
              <a:ext cx="6202476" cy="781050"/>
            </a:xfrm>
            <a:prstGeom prst="rect">
              <a:avLst/>
            </a:prstGeom>
          </p:spPr>
          <p:txBody>
            <a:bodyPr anchor="t" rtlCol="false" tIns="0" lIns="0" bIns="0" rIns="0">
              <a:spAutoFit/>
            </a:bodyPr>
            <a:lstStyle/>
            <a:p>
              <a:pPr algn="l" marL="0" indent="0" lvl="0">
                <a:lnSpc>
                  <a:spcPts val="4559"/>
                </a:lnSpc>
                <a:spcBef>
                  <a:spcPct val="0"/>
                </a:spcBef>
              </a:pPr>
              <a:r>
                <a:rPr lang="en-US" b="true" sz="3799" spc="105">
                  <a:solidFill>
                    <a:srgbClr val="00618A">
                      <a:alpha val="81961"/>
                    </a:srgbClr>
                  </a:solidFill>
                  <a:latin typeface="Arimo Bold"/>
                  <a:ea typeface="Arimo Bold"/>
                  <a:cs typeface="Arimo Bold"/>
                  <a:sym typeface="Arimo Bold"/>
                </a:rPr>
                <a:t>TỔNG QUAN</a:t>
              </a:r>
            </a:p>
          </p:txBody>
        </p:sp>
      </p:grpSp>
      <p:grpSp>
        <p:nvGrpSpPr>
          <p:cNvPr name="Group 9" id="9"/>
          <p:cNvGrpSpPr/>
          <p:nvPr/>
        </p:nvGrpSpPr>
        <p:grpSpPr>
          <a:xfrm rot="0">
            <a:off x="1603685" y="4590473"/>
            <a:ext cx="5652579" cy="769956"/>
            <a:chOff x="0" y="0"/>
            <a:chExt cx="7536771" cy="1026609"/>
          </a:xfrm>
        </p:grpSpPr>
        <p:grpSp>
          <p:nvGrpSpPr>
            <p:cNvPr name="Group 10" id="10"/>
            <p:cNvGrpSpPr/>
            <p:nvPr/>
          </p:nvGrpSpPr>
          <p:grpSpPr>
            <a:xfrm rot="0">
              <a:off x="0" y="0"/>
              <a:ext cx="1026609" cy="102660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BADD6">
                  <a:alpha val="69804"/>
                </a:srgbClr>
              </a:solidFill>
            </p:spPr>
          </p:sp>
          <p:sp>
            <p:nvSpPr>
              <p:cNvPr name="TextBox 12" id="12"/>
              <p:cNvSpPr txBox="true"/>
              <p:nvPr/>
            </p:nvSpPr>
            <p:spPr>
              <a:xfrm>
                <a:off x="76200" y="28575"/>
                <a:ext cx="660400" cy="708025"/>
              </a:xfrm>
              <a:prstGeom prst="rect">
                <a:avLst/>
              </a:prstGeom>
            </p:spPr>
            <p:txBody>
              <a:bodyPr anchor="ctr" rtlCol="false" tIns="50800" lIns="50800" bIns="50800" rIns="50800"/>
              <a:lstStyle/>
              <a:p>
                <a:pPr algn="ctr">
                  <a:lnSpc>
                    <a:spcPts val="3499"/>
                  </a:lnSpc>
                </a:pPr>
                <a:r>
                  <a:rPr lang="en-US" b="true" sz="2499">
                    <a:solidFill>
                      <a:srgbClr val="FEFFFE">
                        <a:alpha val="69804"/>
                      </a:srgbClr>
                    </a:solidFill>
                    <a:latin typeface="Inter Bold"/>
                    <a:ea typeface="Inter Bold"/>
                    <a:cs typeface="Inter Bold"/>
                    <a:sym typeface="Inter Bold"/>
                  </a:rPr>
                  <a:t>02</a:t>
                </a:r>
              </a:p>
            </p:txBody>
          </p:sp>
        </p:grpSp>
        <p:sp>
          <p:nvSpPr>
            <p:cNvPr name="TextBox 13" id="13"/>
            <p:cNvSpPr txBox="true"/>
            <p:nvPr/>
          </p:nvSpPr>
          <p:spPr>
            <a:xfrm rot="0">
              <a:off x="1334295" y="113254"/>
              <a:ext cx="6202476" cy="781050"/>
            </a:xfrm>
            <a:prstGeom prst="rect">
              <a:avLst/>
            </a:prstGeom>
          </p:spPr>
          <p:txBody>
            <a:bodyPr anchor="t" rtlCol="false" tIns="0" lIns="0" bIns="0" rIns="0">
              <a:spAutoFit/>
            </a:bodyPr>
            <a:lstStyle/>
            <a:p>
              <a:pPr algn="l" marL="0" indent="0" lvl="0">
                <a:lnSpc>
                  <a:spcPts val="4559"/>
                </a:lnSpc>
                <a:spcBef>
                  <a:spcPct val="0"/>
                </a:spcBef>
              </a:pPr>
              <a:r>
                <a:rPr lang="en-US" b="true" sz="3799" spc="105">
                  <a:solidFill>
                    <a:srgbClr val="00618A">
                      <a:alpha val="81961"/>
                    </a:srgbClr>
                  </a:solidFill>
                  <a:latin typeface="Arimo Bold"/>
                  <a:ea typeface="Arimo Bold"/>
                  <a:cs typeface="Arimo Bold"/>
                  <a:sym typeface="Arimo Bold"/>
                </a:rPr>
                <a:t>CƠ SỞ LÝ THUYẾT</a:t>
              </a:r>
            </a:p>
          </p:txBody>
        </p:sp>
      </p:grpSp>
      <p:sp>
        <p:nvSpPr>
          <p:cNvPr name="Freeform 14" id="14"/>
          <p:cNvSpPr/>
          <p:nvPr/>
        </p:nvSpPr>
        <p:spPr>
          <a:xfrm flipH="false" flipV="false" rot="0">
            <a:off x="16713285" y="707142"/>
            <a:ext cx="865138" cy="854186"/>
          </a:xfrm>
          <a:custGeom>
            <a:avLst/>
            <a:gdLst/>
            <a:ahLst/>
            <a:cxnLst/>
            <a:rect r="r" b="b" t="t" l="l"/>
            <a:pathLst>
              <a:path h="854186" w="865138">
                <a:moveTo>
                  <a:pt x="0" y="0"/>
                </a:moveTo>
                <a:lnTo>
                  <a:pt x="865138" y="0"/>
                </a:lnTo>
                <a:lnTo>
                  <a:pt x="865138" y="854186"/>
                </a:lnTo>
                <a:lnTo>
                  <a:pt x="0" y="854186"/>
                </a:lnTo>
                <a:lnTo>
                  <a:pt x="0" y="0"/>
                </a:lnTo>
                <a:close/>
              </a:path>
            </a:pathLst>
          </a:custGeom>
          <a:blipFill>
            <a:blip r:embed="rId3"/>
            <a:stretch>
              <a:fillRect l="0" t="0" r="0" b="0"/>
            </a:stretch>
          </a:blipFill>
        </p:spPr>
      </p:sp>
      <p:sp>
        <p:nvSpPr>
          <p:cNvPr name="TextBox 15" id="15"/>
          <p:cNvSpPr txBox="true"/>
          <p:nvPr/>
        </p:nvSpPr>
        <p:spPr>
          <a:xfrm rot="0">
            <a:off x="1041745" y="688092"/>
            <a:ext cx="3914009" cy="409575"/>
          </a:xfrm>
          <a:prstGeom prst="rect">
            <a:avLst/>
          </a:prstGeom>
        </p:spPr>
        <p:txBody>
          <a:bodyPr anchor="t" rtlCol="false" tIns="0" lIns="0" bIns="0" rIns="0">
            <a:spAutoFit/>
          </a:bodyPr>
          <a:lstStyle/>
          <a:p>
            <a:pPr algn="l" marL="0" indent="0" lvl="0">
              <a:lnSpc>
                <a:spcPts val="3120"/>
              </a:lnSpc>
              <a:spcBef>
                <a:spcPct val="0"/>
              </a:spcBef>
            </a:pPr>
            <a:r>
              <a:rPr lang="en-US" sz="2600" i="true" spc="72">
                <a:solidFill>
                  <a:srgbClr val="00618A"/>
                </a:solidFill>
                <a:latin typeface="Arimo Italics"/>
                <a:ea typeface="Arimo Italics"/>
                <a:cs typeface="Arimo Italics"/>
                <a:sym typeface="Arimo Italics"/>
              </a:rPr>
              <a:t>Nội dung báo cáo</a:t>
            </a:r>
          </a:p>
        </p:txBody>
      </p:sp>
      <p:sp>
        <p:nvSpPr>
          <p:cNvPr name="TextBox 16" id="16"/>
          <p:cNvSpPr txBox="true"/>
          <p:nvPr/>
        </p:nvSpPr>
        <p:spPr>
          <a:xfrm rot="0">
            <a:off x="1041745" y="1078617"/>
            <a:ext cx="5568180" cy="409575"/>
          </a:xfrm>
          <a:prstGeom prst="rect">
            <a:avLst/>
          </a:prstGeom>
        </p:spPr>
        <p:txBody>
          <a:bodyPr anchor="t" rtlCol="false" tIns="0" lIns="0" bIns="0" rIns="0">
            <a:spAutoFit/>
          </a:bodyPr>
          <a:lstStyle/>
          <a:p>
            <a:pPr algn="l" marL="0" indent="0" lvl="0">
              <a:lnSpc>
                <a:spcPts val="3120"/>
              </a:lnSpc>
              <a:spcBef>
                <a:spcPct val="0"/>
              </a:spcBef>
            </a:pPr>
            <a:r>
              <a:rPr lang="en-US" b="true" sz="2600" spc="72">
                <a:solidFill>
                  <a:srgbClr val="00618A"/>
                </a:solidFill>
                <a:latin typeface="Arimo Bold"/>
                <a:ea typeface="Arimo Bold"/>
                <a:cs typeface="Arimo Bold"/>
                <a:sym typeface="Arimo Bold"/>
              </a:rPr>
              <a:t>Tóm tắt nội dung</a:t>
            </a:r>
          </a:p>
        </p:txBody>
      </p:sp>
      <p:sp>
        <p:nvSpPr>
          <p:cNvPr name="TextBox 17" id="17"/>
          <p:cNvSpPr txBox="true"/>
          <p:nvPr/>
        </p:nvSpPr>
        <p:spPr>
          <a:xfrm rot="0">
            <a:off x="763320" y="9369641"/>
            <a:ext cx="12119638" cy="409575"/>
          </a:xfrm>
          <a:prstGeom prst="rect">
            <a:avLst/>
          </a:prstGeom>
        </p:spPr>
        <p:txBody>
          <a:bodyPr anchor="t" rtlCol="false" tIns="0" lIns="0" bIns="0" rIns="0">
            <a:spAutoFit/>
          </a:bodyPr>
          <a:lstStyle/>
          <a:p>
            <a:pPr algn="l" marL="0" indent="0" lvl="0">
              <a:lnSpc>
                <a:spcPts val="3120"/>
              </a:lnSpc>
              <a:spcBef>
                <a:spcPct val="0"/>
              </a:spcBef>
            </a:pPr>
            <a:r>
              <a:rPr lang="en-US" b="true" sz="2600" spc="72" strike="noStrike" u="none">
                <a:solidFill>
                  <a:srgbClr val="00618A"/>
                </a:solidFill>
                <a:latin typeface="Arimo Bold"/>
                <a:ea typeface="Arimo Bold"/>
                <a:cs typeface="Arimo Bold"/>
                <a:sym typeface="Arimo Bold"/>
              </a:rPr>
              <a:t>XÂY DỰNG HỆ THỐNG TẠO VÀ ĐÁNH GIÁ</a:t>
            </a:r>
            <a:r>
              <a:rPr lang="en-US" b="true" sz="2600" spc="72" strike="noStrike" u="none">
                <a:solidFill>
                  <a:srgbClr val="00618A"/>
                </a:solidFill>
                <a:latin typeface="Arimo Bold"/>
                <a:ea typeface="Arimo Bold"/>
                <a:cs typeface="Arimo Bold"/>
                <a:sym typeface="Arimo Bold"/>
              </a:rPr>
              <a:t> HỒ SƠ XIN VIỆC TÍCH HỢP AI</a:t>
            </a:r>
          </a:p>
        </p:txBody>
      </p:sp>
      <p:sp>
        <p:nvSpPr>
          <p:cNvPr name="TextBox 18" id="18"/>
          <p:cNvSpPr txBox="true"/>
          <p:nvPr/>
        </p:nvSpPr>
        <p:spPr>
          <a:xfrm rot="0">
            <a:off x="17259300" y="9369641"/>
            <a:ext cx="245942" cy="409575"/>
          </a:xfrm>
          <a:prstGeom prst="rect">
            <a:avLst/>
          </a:prstGeom>
        </p:spPr>
        <p:txBody>
          <a:bodyPr anchor="t" rtlCol="false" tIns="0" lIns="0" bIns="0" rIns="0">
            <a:spAutoFit/>
          </a:bodyPr>
          <a:lstStyle/>
          <a:p>
            <a:pPr algn="l" marL="0" indent="0" lvl="0">
              <a:lnSpc>
                <a:spcPts val="3120"/>
              </a:lnSpc>
              <a:spcBef>
                <a:spcPct val="0"/>
              </a:spcBef>
            </a:pPr>
            <a:r>
              <a:rPr lang="en-US" b="true" sz="2600" spc="72">
                <a:solidFill>
                  <a:srgbClr val="00618A"/>
                </a:solidFill>
                <a:latin typeface="Arimo Bold"/>
                <a:ea typeface="Arimo Bold"/>
                <a:cs typeface="Arimo Bold"/>
                <a:sym typeface="Arimo Bold"/>
              </a:rPr>
              <a:t>1</a:t>
            </a:r>
          </a:p>
        </p:txBody>
      </p:sp>
      <p:grpSp>
        <p:nvGrpSpPr>
          <p:cNvPr name="Group 19" id="19"/>
          <p:cNvGrpSpPr/>
          <p:nvPr/>
        </p:nvGrpSpPr>
        <p:grpSpPr>
          <a:xfrm rot="0">
            <a:off x="1603685" y="6070826"/>
            <a:ext cx="6232756" cy="1143000"/>
            <a:chOff x="0" y="0"/>
            <a:chExt cx="8310342" cy="1524000"/>
          </a:xfrm>
        </p:grpSpPr>
        <p:grpSp>
          <p:nvGrpSpPr>
            <p:cNvPr name="Group 20" id="20"/>
            <p:cNvGrpSpPr/>
            <p:nvPr/>
          </p:nvGrpSpPr>
          <p:grpSpPr>
            <a:xfrm rot="0">
              <a:off x="0" y="248696"/>
              <a:ext cx="1026609" cy="1026609"/>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BADD6">
                  <a:alpha val="69804"/>
                </a:srgbClr>
              </a:solidFill>
            </p:spPr>
          </p:sp>
          <p:sp>
            <p:nvSpPr>
              <p:cNvPr name="TextBox 22" id="22"/>
              <p:cNvSpPr txBox="true"/>
              <p:nvPr/>
            </p:nvSpPr>
            <p:spPr>
              <a:xfrm>
                <a:off x="76200" y="28575"/>
                <a:ext cx="660400" cy="708025"/>
              </a:xfrm>
              <a:prstGeom prst="rect">
                <a:avLst/>
              </a:prstGeom>
            </p:spPr>
            <p:txBody>
              <a:bodyPr anchor="ctr" rtlCol="false" tIns="50800" lIns="50800" bIns="50800" rIns="50800"/>
              <a:lstStyle/>
              <a:p>
                <a:pPr algn="ctr">
                  <a:lnSpc>
                    <a:spcPts val="3499"/>
                  </a:lnSpc>
                </a:pPr>
                <a:r>
                  <a:rPr lang="en-US" b="true" sz="2499">
                    <a:solidFill>
                      <a:srgbClr val="FEFFFE">
                        <a:alpha val="69804"/>
                      </a:srgbClr>
                    </a:solidFill>
                    <a:latin typeface="Inter Bold"/>
                    <a:ea typeface="Inter Bold"/>
                    <a:cs typeface="Inter Bold"/>
                    <a:sym typeface="Inter Bold"/>
                  </a:rPr>
                  <a:t>03</a:t>
                </a:r>
              </a:p>
            </p:txBody>
          </p:sp>
        </p:grpSp>
        <p:sp>
          <p:nvSpPr>
            <p:cNvPr name="TextBox 23" id="23"/>
            <p:cNvSpPr txBox="true"/>
            <p:nvPr/>
          </p:nvSpPr>
          <p:spPr>
            <a:xfrm rot="0">
              <a:off x="1455755" y="-19050"/>
              <a:ext cx="6854587" cy="1543050"/>
            </a:xfrm>
            <a:prstGeom prst="rect">
              <a:avLst/>
            </a:prstGeom>
          </p:spPr>
          <p:txBody>
            <a:bodyPr anchor="t" rtlCol="false" tIns="0" lIns="0" bIns="0" rIns="0">
              <a:spAutoFit/>
            </a:bodyPr>
            <a:lstStyle/>
            <a:p>
              <a:pPr algn="l">
                <a:lnSpc>
                  <a:spcPts val="4559"/>
                </a:lnSpc>
              </a:pPr>
              <a:r>
                <a:rPr lang="en-US" b="true" sz="3799" spc="102">
                  <a:solidFill>
                    <a:srgbClr val="00618A">
                      <a:alpha val="81961"/>
                    </a:srgbClr>
                  </a:solidFill>
                  <a:latin typeface="Arimo Bold"/>
                  <a:ea typeface="Arimo Bold"/>
                  <a:cs typeface="Arimo Bold"/>
                  <a:sym typeface="Arimo Bold"/>
                </a:rPr>
                <a:t>HIỆN THỰC HOÁ</a:t>
              </a:r>
            </a:p>
            <a:p>
              <a:pPr algn="l" marL="0" indent="0" lvl="0">
                <a:lnSpc>
                  <a:spcPts val="4559"/>
                </a:lnSpc>
                <a:spcBef>
                  <a:spcPct val="0"/>
                </a:spcBef>
              </a:pPr>
              <a:r>
                <a:rPr lang="en-US" b="true" sz="3799" spc="105">
                  <a:solidFill>
                    <a:srgbClr val="00618A">
                      <a:alpha val="81961"/>
                    </a:srgbClr>
                  </a:solidFill>
                  <a:latin typeface="Arimo Bold"/>
                  <a:ea typeface="Arimo Bold"/>
                  <a:cs typeface="Arimo Bold"/>
                  <a:sym typeface="Arimo Bold"/>
                </a:rPr>
                <a:t>NGHIÊN CỨU</a:t>
              </a:r>
            </a:p>
          </p:txBody>
        </p:sp>
      </p:grpSp>
      <p:grpSp>
        <p:nvGrpSpPr>
          <p:cNvPr name="Group 24" id="24"/>
          <p:cNvGrpSpPr/>
          <p:nvPr/>
        </p:nvGrpSpPr>
        <p:grpSpPr>
          <a:xfrm rot="0">
            <a:off x="8993522" y="2732655"/>
            <a:ext cx="7690793" cy="1143000"/>
            <a:chOff x="0" y="0"/>
            <a:chExt cx="10254390" cy="1524000"/>
          </a:xfrm>
        </p:grpSpPr>
        <p:grpSp>
          <p:nvGrpSpPr>
            <p:cNvPr name="Group 25" id="25"/>
            <p:cNvGrpSpPr/>
            <p:nvPr/>
          </p:nvGrpSpPr>
          <p:grpSpPr>
            <a:xfrm rot="0">
              <a:off x="0" y="248696"/>
              <a:ext cx="1026609" cy="1026609"/>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BADD6">
                  <a:alpha val="69804"/>
                </a:srgbClr>
              </a:solidFill>
            </p:spPr>
          </p:sp>
          <p:sp>
            <p:nvSpPr>
              <p:cNvPr name="TextBox 27" id="27"/>
              <p:cNvSpPr txBox="true"/>
              <p:nvPr/>
            </p:nvSpPr>
            <p:spPr>
              <a:xfrm>
                <a:off x="76200" y="28575"/>
                <a:ext cx="660400" cy="708025"/>
              </a:xfrm>
              <a:prstGeom prst="rect">
                <a:avLst/>
              </a:prstGeom>
            </p:spPr>
            <p:txBody>
              <a:bodyPr anchor="ctr" rtlCol="false" tIns="50800" lIns="50800" bIns="50800" rIns="50800"/>
              <a:lstStyle/>
              <a:p>
                <a:pPr algn="ctr">
                  <a:lnSpc>
                    <a:spcPts val="3499"/>
                  </a:lnSpc>
                </a:pPr>
                <a:r>
                  <a:rPr lang="en-US" b="true" sz="2499">
                    <a:solidFill>
                      <a:srgbClr val="FEFFFE">
                        <a:alpha val="69804"/>
                      </a:srgbClr>
                    </a:solidFill>
                    <a:latin typeface="Inter Bold"/>
                    <a:ea typeface="Inter Bold"/>
                    <a:cs typeface="Inter Bold"/>
                    <a:sym typeface="Inter Bold"/>
                  </a:rPr>
                  <a:t>04</a:t>
                </a:r>
              </a:p>
            </p:txBody>
          </p:sp>
        </p:grpSp>
        <p:sp>
          <p:nvSpPr>
            <p:cNvPr name="TextBox 28" id="28"/>
            <p:cNvSpPr txBox="true"/>
            <p:nvPr/>
          </p:nvSpPr>
          <p:spPr>
            <a:xfrm rot="0">
              <a:off x="1362648" y="-19050"/>
              <a:ext cx="8891742" cy="1543050"/>
            </a:xfrm>
            <a:prstGeom prst="rect">
              <a:avLst/>
            </a:prstGeom>
          </p:spPr>
          <p:txBody>
            <a:bodyPr anchor="t" rtlCol="false" tIns="0" lIns="0" bIns="0" rIns="0">
              <a:spAutoFit/>
            </a:bodyPr>
            <a:lstStyle/>
            <a:p>
              <a:pPr algn="l">
                <a:lnSpc>
                  <a:spcPts val="4559"/>
                </a:lnSpc>
              </a:pPr>
              <a:r>
                <a:rPr lang="en-US" b="true" sz="3799" spc="102">
                  <a:solidFill>
                    <a:srgbClr val="00618A">
                      <a:alpha val="81961"/>
                    </a:srgbClr>
                  </a:solidFill>
                  <a:latin typeface="Arimo Bold"/>
                  <a:ea typeface="Arimo Bold"/>
                  <a:cs typeface="Arimo Bold"/>
                  <a:sym typeface="Arimo Bold"/>
                </a:rPr>
                <a:t>CÀI ĐẶT HỆ THỐNG</a:t>
              </a:r>
            </a:p>
            <a:p>
              <a:pPr algn="l" marL="0" indent="0" lvl="0">
                <a:lnSpc>
                  <a:spcPts val="4559"/>
                </a:lnSpc>
                <a:spcBef>
                  <a:spcPct val="0"/>
                </a:spcBef>
              </a:pPr>
              <a:r>
                <a:rPr lang="en-US" b="true" sz="3799" spc="105">
                  <a:solidFill>
                    <a:srgbClr val="00618A">
                      <a:alpha val="81961"/>
                    </a:srgbClr>
                  </a:solidFill>
                  <a:latin typeface="Arimo Bold"/>
                  <a:ea typeface="Arimo Bold"/>
                  <a:cs typeface="Arimo Bold"/>
                  <a:sym typeface="Arimo Bold"/>
                </a:rPr>
                <a:t>VÀ KẾT QUẢ THỬ NGHIỆM</a:t>
              </a:r>
            </a:p>
          </p:txBody>
        </p:sp>
      </p:grpSp>
      <p:grpSp>
        <p:nvGrpSpPr>
          <p:cNvPr name="Group 29" id="29"/>
          <p:cNvGrpSpPr/>
          <p:nvPr/>
        </p:nvGrpSpPr>
        <p:grpSpPr>
          <a:xfrm rot="0">
            <a:off x="9003047" y="4403951"/>
            <a:ext cx="7087867" cy="1143000"/>
            <a:chOff x="0" y="0"/>
            <a:chExt cx="9450490" cy="1524000"/>
          </a:xfrm>
        </p:grpSpPr>
        <p:grpSp>
          <p:nvGrpSpPr>
            <p:cNvPr name="Group 30" id="30"/>
            <p:cNvGrpSpPr/>
            <p:nvPr/>
          </p:nvGrpSpPr>
          <p:grpSpPr>
            <a:xfrm rot="0">
              <a:off x="0" y="248696"/>
              <a:ext cx="1026609" cy="1026609"/>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BADD6">
                  <a:alpha val="69804"/>
                </a:srgbClr>
              </a:solidFill>
            </p:spPr>
          </p:sp>
          <p:sp>
            <p:nvSpPr>
              <p:cNvPr name="TextBox 32" id="32"/>
              <p:cNvSpPr txBox="true"/>
              <p:nvPr/>
            </p:nvSpPr>
            <p:spPr>
              <a:xfrm>
                <a:off x="76200" y="28575"/>
                <a:ext cx="660400" cy="708025"/>
              </a:xfrm>
              <a:prstGeom prst="rect">
                <a:avLst/>
              </a:prstGeom>
            </p:spPr>
            <p:txBody>
              <a:bodyPr anchor="ctr" rtlCol="false" tIns="50800" lIns="50800" bIns="50800" rIns="50800"/>
              <a:lstStyle/>
              <a:p>
                <a:pPr algn="ctr">
                  <a:lnSpc>
                    <a:spcPts val="3499"/>
                  </a:lnSpc>
                </a:pPr>
                <a:r>
                  <a:rPr lang="en-US" b="true" sz="2499">
                    <a:solidFill>
                      <a:srgbClr val="FEFFFE">
                        <a:alpha val="69804"/>
                      </a:srgbClr>
                    </a:solidFill>
                    <a:latin typeface="Inter Bold"/>
                    <a:ea typeface="Inter Bold"/>
                    <a:cs typeface="Inter Bold"/>
                    <a:sym typeface="Inter Bold"/>
                  </a:rPr>
                  <a:t>05</a:t>
                </a:r>
              </a:p>
            </p:txBody>
          </p:sp>
        </p:grpSp>
        <p:sp>
          <p:nvSpPr>
            <p:cNvPr name="TextBox 33" id="33"/>
            <p:cNvSpPr txBox="true"/>
            <p:nvPr/>
          </p:nvSpPr>
          <p:spPr>
            <a:xfrm rot="0">
              <a:off x="1334295" y="-19050"/>
              <a:ext cx="8116194" cy="1543050"/>
            </a:xfrm>
            <a:prstGeom prst="rect">
              <a:avLst/>
            </a:prstGeom>
          </p:spPr>
          <p:txBody>
            <a:bodyPr anchor="t" rtlCol="false" tIns="0" lIns="0" bIns="0" rIns="0">
              <a:spAutoFit/>
            </a:bodyPr>
            <a:lstStyle/>
            <a:p>
              <a:pPr algn="l">
                <a:lnSpc>
                  <a:spcPts val="4559"/>
                </a:lnSpc>
              </a:pPr>
              <a:r>
                <a:rPr lang="en-US" b="true" sz="3799" spc="102">
                  <a:solidFill>
                    <a:srgbClr val="00618A">
                      <a:alpha val="81961"/>
                    </a:srgbClr>
                  </a:solidFill>
                  <a:latin typeface="Arimo Bold"/>
                  <a:ea typeface="Arimo Bold"/>
                  <a:cs typeface="Arimo Bold"/>
                  <a:sym typeface="Arimo Bold"/>
                </a:rPr>
                <a:t>KẾT LUẬN </a:t>
              </a:r>
            </a:p>
            <a:p>
              <a:pPr algn="l" marL="0" indent="0" lvl="0">
                <a:lnSpc>
                  <a:spcPts val="4559"/>
                </a:lnSpc>
                <a:spcBef>
                  <a:spcPct val="0"/>
                </a:spcBef>
              </a:pPr>
              <a:r>
                <a:rPr lang="en-US" b="true" sz="3799" spc="105">
                  <a:solidFill>
                    <a:srgbClr val="00618A">
                      <a:alpha val="81961"/>
                    </a:srgbClr>
                  </a:solidFill>
                  <a:latin typeface="Arimo Bold"/>
                  <a:ea typeface="Arimo Bold"/>
                  <a:cs typeface="Arimo Bold"/>
                  <a:sym typeface="Arimo Bold"/>
                </a:rPr>
                <a:t>VÀ</a:t>
              </a:r>
              <a:r>
                <a:rPr lang="en-US" b="true" sz="3799" spc="105">
                  <a:solidFill>
                    <a:srgbClr val="00618A">
                      <a:alpha val="81961"/>
                    </a:srgbClr>
                  </a:solidFill>
                  <a:latin typeface="Arimo Bold"/>
                  <a:ea typeface="Arimo Bold"/>
                  <a:cs typeface="Arimo Bold"/>
                  <a:sym typeface="Arimo Bold"/>
                </a:rPr>
                <a:t> HƯỚNG PHÁT TRIỂN</a:t>
              </a:r>
            </a:p>
          </p:txBody>
        </p:sp>
      </p:grpSp>
      <p:grpSp>
        <p:nvGrpSpPr>
          <p:cNvPr name="Group 34" id="34"/>
          <p:cNvGrpSpPr/>
          <p:nvPr/>
        </p:nvGrpSpPr>
        <p:grpSpPr>
          <a:xfrm rot="0">
            <a:off x="8993522" y="6257348"/>
            <a:ext cx="6818948" cy="769956"/>
            <a:chOff x="0" y="0"/>
            <a:chExt cx="9091931" cy="1026609"/>
          </a:xfrm>
        </p:grpSpPr>
        <p:grpSp>
          <p:nvGrpSpPr>
            <p:cNvPr name="Group 35" id="35"/>
            <p:cNvGrpSpPr/>
            <p:nvPr/>
          </p:nvGrpSpPr>
          <p:grpSpPr>
            <a:xfrm rot="0">
              <a:off x="0" y="0"/>
              <a:ext cx="1026609" cy="1026609"/>
              <a:chOff x="0" y="0"/>
              <a:chExt cx="812800" cy="812800"/>
            </a:xfrm>
          </p:grpSpPr>
          <p:sp>
            <p:nvSpPr>
              <p:cNvPr name="Freeform 36" id="3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BADD6">
                  <a:alpha val="69804"/>
                </a:srgbClr>
              </a:solidFill>
            </p:spPr>
          </p:sp>
          <p:sp>
            <p:nvSpPr>
              <p:cNvPr name="TextBox 37" id="37"/>
              <p:cNvSpPr txBox="true"/>
              <p:nvPr/>
            </p:nvSpPr>
            <p:spPr>
              <a:xfrm>
                <a:off x="76200" y="28575"/>
                <a:ext cx="660400" cy="708025"/>
              </a:xfrm>
              <a:prstGeom prst="rect">
                <a:avLst/>
              </a:prstGeom>
            </p:spPr>
            <p:txBody>
              <a:bodyPr anchor="ctr" rtlCol="false" tIns="50800" lIns="50800" bIns="50800" rIns="50800"/>
              <a:lstStyle/>
              <a:p>
                <a:pPr algn="ctr">
                  <a:lnSpc>
                    <a:spcPts val="3499"/>
                  </a:lnSpc>
                </a:pPr>
                <a:r>
                  <a:rPr lang="en-US" b="true" sz="2499">
                    <a:solidFill>
                      <a:srgbClr val="FEFFFE">
                        <a:alpha val="69804"/>
                      </a:srgbClr>
                    </a:solidFill>
                    <a:latin typeface="Inter Bold"/>
                    <a:ea typeface="Inter Bold"/>
                    <a:cs typeface="Inter Bold"/>
                    <a:sym typeface="Inter Bold"/>
                  </a:rPr>
                  <a:t>06</a:t>
                </a:r>
              </a:p>
            </p:txBody>
          </p:sp>
        </p:grpSp>
        <p:sp>
          <p:nvSpPr>
            <p:cNvPr name="TextBox 38" id="38"/>
            <p:cNvSpPr txBox="true"/>
            <p:nvPr/>
          </p:nvSpPr>
          <p:spPr>
            <a:xfrm rot="0">
              <a:off x="1334295" y="113254"/>
              <a:ext cx="7757636" cy="781050"/>
            </a:xfrm>
            <a:prstGeom prst="rect">
              <a:avLst/>
            </a:prstGeom>
          </p:spPr>
          <p:txBody>
            <a:bodyPr anchor="t" rtlCol="false" tIns="0" lIns="0" bIns="0" rIns="0">
              <a:spAutoFit/>
            </a:bodyPr>
            <a:lstStyle/>
            <a:p>
              <a:pPr algn="l" marL="0" indent="0" lvl="0">
                <a:lnSpc>
                  <a:spcPts val="4559"/>
                </a:lnSpc>
                <a:spcBef>
                  <a:spcPct val="0"/>
                </a:spcBef>
              </a:pPr>
              <a:r>
                <a:rPr lang="en-US" b="true" sz="3799" spc="105">
                  <a:solidFill>
                    <a:srgbClr val="00618A">
                      <a:alpha val="81961"/>
                    </a:srgbClr>
                  </a:solidFill>
                  <a:latin typeface="Arimo Bold"/>
                  <a:ea typeface="Arimo Bold"/>
                  <a:cs typeface="Arimo Bold"/>
                  <a:sym typeface="Arimo Bold"/>
                </a:rPr>
                <a:t>DEMO</a:t>
              </a:r>
            </a:p>
          </p:txBody>
        </p:sp>
      </p:gr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531259" y="4752975"/>
            <a:ext cx="5225481" cy="771525"/>
          </a:xfrm>
          <a:prstGeom prst="rect">
            <a:avLst/>
          </a:prstGeom>
        </p:spPr>
        <p:txBody>
          <a:bodyPr anchor="t" rtlCol="false" tIns="0" lIns="0" bIns="0" rIns="0">
            <a:spAutoFit/>
          </a:bodyPr>
          <a:lstStyle/>
          <a:p>
            <a:pPr algn="ctr" marL="0" indent="0" lvl="0">
              <a:lnSpc>
                <a:spcPts val="6000"/>
              </a:lnSpc>
              <a:spcBef>
                <a:spcPct val="0"/>
              </a:spcBef>
            </a:pPr>
            <a:r>
              <a:rPr lang="en-US" b="true" sz="5000" spc="138">
                <a:solidFill>
                  <a:srgbClr val="00618A">
                    <a:alpha val="81961"/>
                  </a:srgbClr>
                </a:solidFill>
                <a:latin typeface="Open Sans Bold"/>
                <a:ea typeface="Open Sans Bold"/>
                <a:cs typeface="Open Sans Bold"/>
                <a:sym typeface="Open Sans Bold"/>
              </a:rPr>
              <a:t>1. TỔNG QUAN</a:t>
            </a:r>
          </a:p>
        </p:txBody>
      </p:sp>
      <p:sp>
        <p:nvSpPr>
          <p:cNvPr name="Freeform 3" id="3"/>
          <p:cNvSpPr/>
          <p:nvPr/>
        </p:nvSpPr>
        <p:spPr>
          <a:xfrm flipH="false" flipV="false" rot="0">
            <a:off x="16713285" y="707142"/>
            <a:ext cx="865138" cy="854186"/>
          </a:xfrm>
          <a:custGeom>
            <a:avLst/>
            <a:gdLst/>
            <a:ahLst/>
            <a:cxnLst/>
            <a:rect r="r" b="b" t="t" l="l"/>
            <a:pathLst>
              <a:path h="854186" w="865138">
                <a:moveTo>
                  <a:pt x="0" y="0"/>
                </a:moveTo>
                <a:lnTo>
                  <a:pt x="865138" y="0"/>
                </a:lnTo>
                <a:lnTo>
                  <a:pt x="865138" y="854186"/>
                </a:lnTo>
                <a:lnTo>
                  <a:pt x="0" y="854186"/>
                </a:lnTo>
                <a:lnTo>
                  <a:pt x="0" y="0"/>
                </a:lnTo>
                <a:close/>
              </a:path>
            </a:pathLst>
          </a:custGeom>
          <a:blipFill>
            <a:blip r:embed="rId2"/>
            <a:stretch>
              <a:fillRect l="0" t="0" r="0" b="0"/>
            </a:stretch>
          </a:blipFill>
        </p:spPr>
      </p:sp>
      <p:sp>
        <p:nvSpPr>
          <p:cNvPr name="AutoShape 4" id="4"/>
          <p:cNvSpPr/>
          <p:nvPr/>
        </p:nvSpPr>
        <p:spPr>
          <a:xfrm>
            <a:off x="1028706" y="1023938"/>
            <a:ext cx="14662846" cy="4762"/>
          </a:xfrm>
          <a:prstGeom prst="line">
            <a:avLst/>
          </a:prstGeom>
          <a:ln cap="rnd" w="19050">
            <a:solidFill>
              <a:srgbClr val="4BADD6"/>
            </a:solidFill>
            <a:prstDash val="solid"/>
            <a:headEnd type="none" len="sm" w="sm"/>
            <a:tailEnd type="none" len="sm" w="sm"/>
          </a:ln>
        </p:spPr>
      </p:sp>
      <p:sp>
        <p:nvSpPr>
          <p:cNvPr name="AutoShape 5" id="5"/>
          <p:cNvSpPr/>
          <p:nvPr/>
        </p:nvSpPr>
        <p:spPr>
          <a:xfrm>
            <a:off x="705967" y="9253538"/>
            <a:ext cx="16872456" cy="4762"/>
          </a:xfrm>
          <a:prstGeom prst="line">
            <a:avLst/>
          </a:prstGeom>
          <a:ln cap="rnd" w="19050">
            <a:solidFill>
              <a:srgbClr val="4BADD6"/>
            </a:solidFill>
            <a:prstDash val="solid"/>
            <a:headEnd type="none" len="sm" w="sm"/>
            <a:tailEnd type="none" len="sm" w="sm"/>
          </a:ln>
        </p:spPr>
      </p:sp>
      <p:sp>
        <p:nvSpPr>
          <p:cNvPr name="TextBox 6" id="6"/>
          <p:cNvSpPr txBox="true"/>
          <p:nvPr/>
        </p:nvSpPr>
        <p:spPr>
          <a:xfrm rot="0">
            <a:off x="763112" y="9369641"/>
            <a:ext cx="12119638" cy="409575"/>
          </a:xfrm>
          <a:prstGeom prst="rect">
            <a:avLst/>
          </a:prstGeom>
        </p:spPr>
        <p:txBody>
          <a:bodyPr anchor="t" rtlCol="false" tIns="0" lIns="0" bIns="0" rIns="0">
            <a:spAutoFit/>
          </a:bodyPr>
          <a:lstStyle/>
          <a:p>
            <a:pPr algn="l" marL="0" indent="0" lvl="0">
              <a:lnSpc>
                <a:spcPts val="3120"/>
              </a:lnSpc>
              <a:spcBef>
                <a:spcPct val="0"/>
              </a:spcBef>
            </a:pPr>
            <a:r>
              <a:rPr lang="en-US" b="true" sz="2600" spc="72" strike="noStrike" u="none">
                <a:solidFill>
                  <a:srgbClr val="00618A"/>
                </a:solidFill>
                <a:latin typeface="Arimo Bold"/>
                <a:ea typeface="Arimo Bold"/>
                <a:cs typeface="Arimo Bold"/>
                <a:sym typeface="Arimo Bold"/>
              </a:rPr>
              <a:t>XÂY DỰNG HỆ THỐNG TẠO VÀ ĐÁNH GIÁ</a:t>
            </a:r>
            <a:r>
              <a:rPr lang="en-US" b="true" sz="2600" spc="72" strike="noStrike" u="none">
                <a:solidFill>
                  <a:srgbClr val="00618A"/>
                </a:solidFill>
                <a:latin typeface="Arimo Bold"/>
                <a:ea typeface="Arimo Bold"/>
                <a:cs typeface="Arimo Bold"/>
                <a:sym typeface="Arimo Bold"/>
              </a:rPr>
              <a:t> HỒ SƠ XIN VIỆC TÍCH HỢP AI</a:t>
            </a:r>
          </a:p>
        </p:txBody>
      </p:sp>
      <p:sp>
        <p:nvSpPr>
          <p:cNvPr name="TextBox 7" id="7"/>
          <p:cNvSpPr txBox="true"/>
          <p:nvPr/>
        </p:nvSpPr>
        <p:spPr>
          <a:xfrm rot="0">
            <a:off x="17259300" y="9369641"/>
            <a:ext cx="245942" cy="409575"/>
          </a:xfrm>
          <a:prstGeom prst="rect">
            <a:avLst/>
          </a:prstGeom>
        </p:spPr>
        <p:txBody>
          <a:bodyPr anchor="t" rtlCol="false" tIns="0" lIns="0" bIns="0" rIns="0">
            <a:spAutoFit/>
          </a:bodyPr>
          <a:lstStyle/>
          <a:p>
            <a:pPr algn="l" marL="0" indent="0" lvl="0">
              <a:lnSpc>
                <a:spcPts val="3120"/>
              </a:lnSpc>
              <a:spcBef>
                <a:spcPct val="0"/>
              </a:spcBef>
            </a:pPr>
            <a:r>
              <a:rPr lang="en-US" b="true" sz="2600" spc="72">
                <a:solidFill>
                  <a:srgbClr val="00618A"/>
                </a:solidFill>
                <a:latin typeface="Arimo Bold"/>
                <a:ea typeface="Arimo Bold"/>
                <a:cs typeface="Arimo Bold"/>
                <a:sym typeface="Arimo Bold"/>
              </a:rPr>
              <a:t>2</a:t>
            </a:r>
          </a:p>
        </p:txBody>
      </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705967" y="9253538"/>
            <a:ext cx="16872456" cy="4762"/>
          </a:xfrm>
          <a:prstGeom prst="line">
            <a:avLst/>
          </a:prstGeom>
          <a:ln cap="rnd" w="19050">
            <a:solidFill>
              <a:srgbClr val="4BADD6"/>
            </a:solidFill>
            <a:prstDash val="solid"/>
            <a:headEnd type="none" len="sm" w="sm"/>
            <a:tailEnd type="none" len="sm" w="sm"/>
          </a:ln>
        </p:spPr>
      </p:sp>
      <p:sp>
        <p:nvSpPr>
          <p:cNvPr name="AutoShape 3" id="3"/>
          <p:cNvSpPr/>
          <p:nvPr/>
        </p:nvSpPr>
        <p:spPr>
          <a:xfrm flipH="true">
            <a:off x="763112" y="716667"/>
            <a:ext cx="0" cy="771525"/>
          </a:xfrm>
          <a:prstGeom prst="line">
            <a:avLst/>
          </a:prstGeom>
          <a:ln cap="rnd" w="114300">
            <a:solidFill>
              <a:srgbClr val="075985">
                <a:alpha val="46667"/>
              </a:srgbClr>
            </a:solidFill>
            <a:prstDash val="solid"/>
            <a:headEnd type="none" len="sm" w="sm"/>
            <a:tailEnd type="none" len="sm" w="sm"/>
          </a:ln>
        </p:spPr>
      </p:sp>
      <p:sp>
        <p:nvSpPr>
          <p:cNvPr name="Freeform 4" id="4"/>
          <p:cNvSpPr/>
          <p:nvPr/>
        </p:nvSpPr>
        <p:spPr>
          <a:xfrm flipH="false" flipV="false" rot="0">
            <a:off x="16713285" y="707142"/>
            <a:ext cx="865138" cy="854186"/>
          </a:xfrm>
          <a:custGeom>
            <a:avLst/>
            <a:gdLst/>
            <a:ahLst/>
            <a:cxnLst/>
            <a:rect r="r" b="b" t="t" l="l"/>
            <a:pathLst>
              <a:path h="854186" w="865138">
                <a:moveTo>
                  <a:pt x="0" y="0"/>
                </a:moveTo>
                <a:lnTo>
                  <a:pt x="865138" y="0"/>
                </a:lnTo>
                <a:lnTo>
                  <a:pt x="865138" y="854186"/>
                </a:lnTo>
                <a:lnTo>
                  <a:pt x="0" y="854186"/>
                </a:lnTo>
                <a:lnTo>
                  <a:pt x="0" y="0"/>
                </a:lnTo>
                <a:close/>
              </a:path>
            </a:pathLst>
          </a:custGeom>
          <a:blipFill>
            <a:blip r:embed="rId3"/>
            <a:stretch>
              <a:fillRect l="0" t="0" r="0" b="0"/>
            </a:stretch>
          </a:blipFill>
        </p:spPr>
      </p:sp>
      <p:sp>
        <p:nvSpPr>
          <p:cNvPr name="TextBox 5" id="5"/>
          <p:cNvSpPr txBox="true"/>
          <p:nvPr/>
        </p:nvSpPr>
        <p:spPr>
          <a:xfrm rot="0">
            <a:off x="1041536" y="688092"/>
            <a:ext cx="3914009" cy="438150"/>
          </a:xfrm>
          <a:prstGeom prst="rect">
            <a:avLst/>
          </a:prstGeom>
        </p:spPr>
        <p:txBody>
          <a:bodyPr anchor="t" rtlCol="false" tIns="0" lIns="0" bIns="0" rIns="0">
            <a:spAutoFit/>
          </a:bodyPr>
          <a:lstStyle/>
          <a:p>
            <a:pPr algn="l" marL="0" indent="0" lvl="0">
              <a:lnSpc>
                <a:spcPts val="3359"/>
              </a:lnSpc>
              <a:spcBef>
                <a:spcPct val="0"/>
              </a:spcBef>
            </a:pPr>
            <a:r>
              <a:rPr lang="en-US" sz="2799" i="true" spc="77">
                <a:solidFill>
                  <a:srgbClr val="00618A"/>
                </a:solidFill>
                <a:latin typeface="Arimo Italics"/>
                <a:ea typeface="Arimo Italics"/>
                <a:cs typeface="Arimo Italics"/>
                <a:sym typeface="Arimo Italics"/>
              </a:rPr>
              <a:t>1. Tổng quan</a:t>
            </a:r>
          </a:p>
        </p:txBody>
      </p:sp>
      <p:sp>
        <p:nvSpPr>
          <p:cNvPr name="TextBox 6" id="6"/>
          <p:cNvSpPr txBox="true"/>
          <p:nvPr/>
        </p:nvSpPr>
        <p:spPr>
          <a:xfrm rot="0">
            <a:off x="1041536" y="1078617"/>
            <a:ext cx="5568180" cy="438150"/>
          </a:xfrm>
          <a:prstGeom prst="rect">
            <a:avLst/>
          </a:prstGeom>
        </p:spPr>
        <p:txBody>
          <a:bodyPr anchor="t" rtlCol="false" tIns="0" lIns="0" bIns="0" rIns="0">
            <a:spAutoFit/>
          </a:bodyPr>
          <a:lstStyle/>
          <a:p>
            <a:pPr algn="l" marL="0" indent="0" lvl="0">
              <a:lnSpc>
                <a:spcPts val="3359"/>
              </a:lnSpc>
              <a:spcBef>
                <a:spcPct val="0"/>
              </a:spcBef>
            </a:pPr>
            <a:r>
              <a:rPr lang="en-US" b="true" sz="2799" spc="77">
                <a:solidFill>
                  <a:srgbClr val="00618A"/>
                </a:solidFill>
                <a:latin typeface="Arimo Bold"/>
                <a:ea typeface="Arimo Bold"/>
                <a:cs typeface="Arimo Bold"/>
                <a:sym typeface="Arimo Bold"/>
              </a:rPr>
              <a:t>Đặt vấn đề và bối cảnh</a:t>
            </a:r>
          </a:p>
        </p:txBody>
      </p:sp>
      <p:sp>
        <p:nvSpPr>
          <p:cNvPr name="TextBox 7" id="7"/>
          <p:cNvSpPr txBox="true"/>
          <p:nvPr/>
        </p:nvSpPr>
        <p:spPr>
          <a:xfrm rot="0">
            <a:off x="763112" y="9369641"/>
            <a:ext cx="12119638" cy="409575"/>
          </a:xfrm>
          <a:prstGeom prst="rect">
            <a:avLst/>
          </a:prstGeom>
        </p:spPr>
        <p:txBody>
          <a:bodyPr anchor="t" rtlCol="false" tIns="0" lIns="0" bIns="0" rIns="0">
            <a:spAutoFit/>
          </a:bodyPr>
          <a:lstStyle/>
          <a:p>
            <a:pPr algn="l" marL="0" indent="0" lvl="0">
              <a:lnSpc>
                <a:spcPts val="3120"/>
              </a:lnSpc>
              <a:spcBef>
                <a:spcPct val="0"/>
              </a:spcBef>
            </a:pPr>
            <a:r>
              <a:rPr lang="en-US" b="true" sz="2600" spc="72" strike="noStrike" u="none">
                <a:solidFill>
                  <a:srgbClr val="00618A"/>
                </a:solidFill>
                <a:latin typeface="Arimo Bold"/>
                <a:ea typeface="Arimo Bold"/>
                <a:cs typeface="Arimo Bold"/>
                <a:sym typeface="Arimo Bold"/>
              </a:rPr>
              <a:t>XÂY DỰNG HỆ THỐNG TẠO VÀ ĐÁNH GIÁ</a:t>
            </a:r>
            <a:r>
              <a:rPr lang="en-US" b="true" sz="2600" spc="72" strike="noStrike" u="none">
                <a:solidFill>
                  <a:srgbClr val="00618A"/>
                </a:solidFill>
                <a:latin typeface="Arimo Bold"/>
                <a:ea typeface="Arimo Bold"/>
                <a:cs typeface="Arimo Bold"/>
                <a:sym typeface="Arimo Bold"/>
              </a:rPr>
              <a:t> HỒ SƠ XIN VIỆC TÍCH HỢP AI</a:t>
            </a:r>
          </a:p>
        </p:txBody>
      </p:sp>
      <p:sp>
        <p:nvSpPr>
          <p:cNvPr name="TextBox 8" id="8"/>
          <p:cNvSpPr txBox="true"/>
          <p:nvPr/>
        </p:nvSpPr>
        <p:spPr>
          <a:xfrm rot="0">
            <a:off x="17259300" y="9369641"/>
            <a:ext cx="245942" cy="409575"/>
          </a:xfrm>
          <a:prstGeom prst="rect">
            <a:avLst/>
          </a:prstGeom>
        </p:spPr>
        <p:txBody>
          <a:bodyPr anchor="t" rtlCol="false" tIns="0" lIns="0" bIns="0" rIns="0">
            <a:spAutoFit/>
          </a:bodyPr>
          <a:lstStyle/>
          <a:p>
            <a:pPr algn="l" marL="0" indent="0" lvl="0">
              <a:lnSpc>
                <a:spcPts val="3120"/>
              </a:lnSpc>
              <a:spcBef>
                <a:spcPct val="0"/>
              </a:spcBef>
            </a:pPr>
            <a:r>
              <a:rPr lang="en-US" b="true" sz="2600" spc="72">
                <a:solidFill>
                  <a:srgbClr val="00618A"/>
                </a:solidFill>
                <a:latin typeface="Arimo Bold"/>
                <a:ea typeface="Arimo Bold"/>
                <a:cs typeface="Arimo Bold"/>
                <a:sym typeface="Arimo Bold"/>
              </a:rPr>
              <a:t>3</a:t>
            </a:r>
          </a:p>
        </p:txBody>
      </p:sp>
      <p:sp>
        <p:nvSpPr>
          <p:cNvPr name="TextBox 9" id="9"/>
          <p:cNvSpPr txBox="true"/>
          <p:nvPr/>
        </p:nvSpPr>
        <p:spPr>
          <a:xfrm rot="0">
            <a:off x="1028700" y="2411206"/>
            <a:ext cx="16230600" cy="1481455"/>
          </a:xfrm>
          <a:prstGeom prst="rect">
            <a:avLst/>
          </a:prstGeom>
        </p:spPr>
        <p:txBody>
          <a:bodyPr anchor="t" rtlCol="false" tIns="0" lIns="0" bIns="0" rIns="0">
            <a:spAutoFit/>
          </a:bodyPr>
          <a:lstStyle/>
          <a:p>
            <a:pPr algn="just">
              <a:lnSpc>
                <a:spcPts val="3919"/>
              </a:lnSpc>
              <a:spcBef>
                <a:spcPct val="0"/>
              </a:spcBef>
            </a:pPr>
            <a:r>
              <a:rPr lang="en-US" sz="2799" i="true">
                <a:solidFill>
                  <a:srgbClr val="000000"/>
                </a:solidFill>
                <a:latin typeface="Inter Italics"/>
                <a:ea typeface="Inter Italics"/>
                <a:cs typeface="Inter Italics"/>
                <a:sym typeface="Inter Italics"/>
              </a:rPr>
              <a:t>  Trong thời đại số hóa, quy trình tuyển dụng </a:t>
            </a:r>
            <a:r>
              <a:rPr lang="en-US" b="true" sz="2799" i="true">
                <a:solidFill>
                  <a:srgbClr val="00618A"/>
                </a:solidFill>
                <a:latin typeface="Inter Bold Italics"/>
                <a:ea typeface="Inter Bold Italics"/>
                <a:cs typeface="Inter Bold Italics"/>
                <a:sym typeface="Inter Bold Italics"/>
              </a:rPr>
              <a:t>đòi hỏi ứng viên không chỉ giỏi chuyên môn mà còn phải nổi bật, chuyên nghiệp từ hồ sơ xin việc.</a:t>
            </a:r>
            <a:r>
              <a:rPr lang="en-US" sz="2799" i="true">
                <a:solidFill>
                  <a:srgbClr val="00618A"/>
                </a:solidFill>
                <a:latin typeface="Inter Italics"/>
                <a:ea typeface="Inter Italics"/>
                <a:cs typeface="Inter Italics"/>
                <a:sym typeface="Inter Italics"/>
              </a:rPr>
              <a:t> </a:t>
            </a:r>
            <a:r>
              <a:rPr lang="en-US" sz="2799" i="true">
                <a:solidFill>
                  <a:srgbClr val="000000"/>
                </a:solidFill>
                <a:latin typeface="Inter Italics"/>
                <a:ea typeface="Inter Italics"/>
                <a:cs typeface="Inter Italics"/>
                <a:sym typeface="Inter Italics"/>
              </a:rPr>
              <a:t>Tuy nhiên, tạo một hồ sơ ấn tượng, logic và phù hợp từng vị trí không hề dễ, nhất là với sinh viên mới ra trường hoặc người ít kinh nghiệm.</a:t>
            </a:r>
          </a:p>
        </p:txBody>
      </p:sp>
      <p:sp>
        <p:nvSpPr>
          <p:cNvPr name="TextBox 10" id="10"/>
          <p:cNvSpPr txBox="true"/>
          <p:nvPr/>
        </p:nvSpPr>
        <p:spPr>
          <a:xfrm rot="0">
            <a:off x="1057275" y="4156075"/>
            <a:ext cx="16230600" cy="986155"/>
          </a:xfrm>
          <a:prstGeom prst="rect">
            <a:avLst/>
          </a:prstGeom>
        </p:spPr>
        <p:txBody>
          <a:bodyPr anchor="t" rtlCol="false" tIns="0" lIns="0" bIns="0" rIns="0">
            <a:spAutoFit/>
          </a:bodyPr>
          <a:lstStyle/>
          <a:p>
            <a:pPr algn="just">
              <a:lnSpc>
                <a:spcPts val="3919"/>
              </a:lnSpc>
              <a:spcBef>
                <a:spcPct val="0"/>
              </a:spcBef>
            </a:pPr>
            <a:r>
              <a:rPr lang="en-US" sz="2799" i="true">
                <a:solidFill>
                  <a:srgbClr val="000000"/>
                </a:solidFill>
                <a:latin typeface="Inter Italics"/>
                <a:ea typeface="Inter Italics"/>
                <a:cs typeface="Inter Italics"/>
                <a:sym typeface="Inter Italics"/>
              </a:rPr>
              <a:t>  </a:t>
            </a:r>
            <a:r>
              <a:rPr lang="en-US" sz="2799" i="true">
                <a:solidFill>
                  <a:srgbClr val="000000"/>
                </a:solidFill>
                <a:latin typeface="Inter Italics"/>
                <a:ea typeface="Inter Italics"/>
                <a:cs typeface="Inter Italics"/>
                <a:sym typeface="Inter Italics"/>
              </a:rPr>
              <a:t>Mặt khác, </a:t>
            </a:r>
            <a:r>
              <a:rPr lang="en-US" b="true" sz="2799" i="true">
                <a:solidFill>
                  <a:srgbClr val="00618A"/>
                </a:solidFill>
                <a:latin typeface="Inter Bold Italics"/>
                <a:ea typeface="Inter Bold Italics"/>
                <a:cs typeface="Inter Bold Italics"/>
                <a:sym typeface="Inter Bold Italics"/>
              </a:rPr>
              <a:t>không phải ai cũng được tiếp cận chuyên gia hay công cụ đánh giá hồ sơ</a:t>
            </a:r>
            <a:r>
              <a:rPr lang="en-US" sz="2799" i="true">
                <a:solidFill>
                  <a:srgbClr val="000000"/>
                </a:solidFill>
                <a:latin typeface="Inter Italics"/>
                <a:ea typeface="Inter Italics"/>
                <a:cs typeface="Inter Italics"/>
                <a:sym typeface="Inter Italics"/>
              </a:rPr>
              <a:t>, khiến nhiều ứng viên bị loại ngay vòng sơ tuyển dù năng lực phù hợp.</a:t>
            </a:r>
          </a:p>
        </p:txBody>
      </p:sp>
      <p:sp>
        <p:nvSpPr>
          <p:cNvPr name="TextBox 11" id="11"/>
          <p:cNvSpPr txBox="true"/>
          <p:nvPr/>
        </p:nvSpPr>
        <p:spPr>
          <a:xfrm rot="0">
            <a:off x="1085850" y="5424693"/>
            <a:ext cx="16173450" cy="986155"/>
          </a:xfrm>
          <a:prstGeom prst="rect">
            <a:avLst/>
          </a:prstGeom>
        </p:spPr>
        <p:txBody>
          <a:bodyPr anchor="t" rtlCol="false" tIns="0" lIns="0" bIns="0" rIns="0">
            <a:spAutoFit/>
          </a:bodyPr>
          <a:lstStyle/>
          <a:p>
            <a:pPr algn="just">
              <a:lnSpc>
                <a:spcPts val="3919"/>
              </a:lnSpc>
              <a:spcBef>
                <a:spcPct val="0"/>
              </a:spcBef>
            </a:pPr>
            <a:r>
              <a:rPr lang="en-US" sz="2799" i="true">
                <a:solidFill>
                  <a:srgbClr val="000000"/>
                </a:solidFill>
                <a:latin typeface="Inter Italics"/>
                <a:ea typeface="Inter Italics"/>
                <a:cs typeface="Inter Italics"/>
                <a:sym typeface="Inter Italics"/>
              </a:rPr>
              <a:t>  </a:t>
            </a:r>
            <a:r>
              <a:rPr lang="en-US" sz="2799" i="true">
                <a:solidFill>
                  <a:srgbClr val="000000"/>
                </a:solidFill>
                <a:latin typeface="Inter Italics"/>
                <a:ea typeface="Inter Italics"/>
                <a:cs typeface="Inter Italics"/>
                <a:sym typeface="Inter Italics"/>
              </a:rPr>
              <a:t>Từ thực trạng đó, ứng dụng AI vào tạo và đánh giá hồ sơ là </a:t>
            </a:r>
            <a:r>
              <a:rPr lang="en-US" b="true" sz="2799" i="true">
                <a:solidFill>
                  <a:srgbClr val="00618A"/>
                </a:solidFill>
                <a:latin typeface="Inter Bold Italics"/>
                <a:ea typeface="Inter Bold Italics"/>
                <a:cs typeface="Inter Bold Italics"/>
                <a:sym typeface="Inter Bold Italics"/>
              </a:rPr>
              <a:t>hướng tiềm năng, đóng vai trò như cố vấn ảo</a:t>
            </a:r>
            <a:r>
              <a:rPr lang="en-US" sz="2799" i="true">
                <a:solidFill>
                  <a:srgbClr val="000000"/>
                </a:solidFill>
                <a:latin typeface="Inter Italics"/>
                <a:ea typeface="Inter Italics"/>
                <a:cs typeface="Inter Italics"/>
                <a:sym typeface="Inter Italics"/>
              </a:rPr>
              <a:t> giúp ứng viên chủ động hoàn thiện hồ sơ.</a:t>
            </a:r>
          </a:p>
        </p:txBody>
      </p:sp>
      <p:sp>
        <p:nvSpPr>
          <p:cNvPr name="TextBox 12" id="12"/>
          <p:cNvSpPr txBox="true"/>
          <p:nvPr/>
        </p:nvSpPr>
        <p:spPr>
          <a:xfrm rot="0">
            <a:off x="1057275" y="6689613"/>
            <a:ext cx="16230600" cy="986155"/>
          </a:xfrm>
          <a:prstGeom prst="rect">
            <a:avLst/>
          </a:prstGeom>
        </p:spPr>
        <p:txBody>
          <a:bodyPr anchor="t" rtlCol="false" tIns="0" lIns="0" bIns="0" rIns="0">
            <a:spAutoFit/>
          </a:bodyPr>
          <a:lstStyle/>
          <a:p>
            <a:pPr algn="just">
              <a:lnSpc>
                <a:spcPts val="3919"/>
              </a:lnSpc>
              <a:spcBef>
                <a:spcPct val="0"/>
              </a:spcBef>
            </a:pPr>
            <a:r>
              <a:rPr lang="en-US" sz="2799" i="true">
                <a:solidFill>
                  <a:srgbClr val="000000"/>
                </a:solidFill>
                <a:latin typeface="Inter Italics"/>
                <a:ea typeface="Inter Italics"/>
                <a:cs typeface="Inter Italics"/>
                <a:sym typeface="Inter Italics"/>
              </a:rPr>
              <a:t>  </a:t>
            </a:r>
            <a:r>
              <a:rPr lang="en-US" sz="2799" i="true">
                <a:solidFill>
                  <a:srgbClr val="000000"/>
                </a:solidFill>
                <a:latin typeface="Inter Italics"/>
                <a:ea typeface="Inter Italics"/>
                <a:cs typeface="Inter Italics"/>
                <a:sym typeface="Inter Italics"/>
              </a:rPr>
              <a:t>Chính vì vậy, đề tài này được thực hiện nhằm mục tiêu xây dựng một hệ thống tiện ích, hỗ trợ hiệu quả cho người dùng trong quá trình </a:t>
            </a:r>
            <a:r>
              <a:rPr lang="en-US" b="true" sz="2799" i="true">
                <a:solidFill>
                  <a:srgbClr val="00618A"/>
                </a:solidFill>
                <a:latin typeface="Inter Bold Italics"/>
                <a:ea typeface="Inter Bold Italics"/>
                <a:cs typeface="Inter Bold Italics"/>
                <a:sym typeface="Inter Bold Italics"/>
              </a:rPr>
              <a:t>tạo nhanh chóng và tối ưu hóa hồ sơ xin việc</a:t>
            </a:r>
            <a:r>
              <a:rPr lang="en-US" sz="2799" i="true">
                <a:solidFill>
                  <a:srgbClr val="000000"/>
                </a:solidFill>
                <a:latin typeface="Inter Italics"/>
                <a:ea typeface="Inter Italics"/>
                <a:cs typeface="Inter Italics"/>
                <a:sym typeface="Inter Italics"/>
              </a:rPr>
              <a:t>.</a:t>
            </a:r>
          </a:p>
        </p:txBody>
      </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85850" y="2736345"/>
            <a:ext cx="16230600" cy="1481455"/>
          </a:xfrm>
          <a:prstGeom prst="rect">
            <a:avLst/>
          </a:prstGeom>
        </p:spPr>
        <p:txBody>
          <a:bodyPr anchor="t" rtlCol="false" tIns="0" lIns="0" bIns="0" rIns="0">
            <a:spAutoFit/>
          </a:bodyPr>
          <a:lstStyle/>
          <a:p>
            <a:pPr algn="just">
              <a:lnSpc>
                <a:spcPts val="3919"/>
              </a:lnSpc>
              <a:spcBef>
                <a:spcPct val="0"/>
              </a:spcBef>
            </a:pPr>
            <a:r>
              <a:rPr lang="en-US" sz="2799">
                <a:solidFill>
                  <a:srgbClr val="000000"/>
                </a:solidFill>
                <a:latin typeface="Inter"/>
                <a:ea typeface="Inter"/>
                <a:cs typeface="Inter"/>
                <a:sym typeface="Inter"/>
              </a:rPr>
              <a:t>Xây dựng hệ thống giúp người dù</a:t>
            </a:r>
            <a:r>
              <a:rPr lang="en-US" sz="2799">
                <a:solidFill>
                  <a:srgbClr val="000000"/>
                </a:solidFill>
                <a:latin typeface="Inter"/>
                <a:ea typeface="Inter"/>
                <a:cs typeface="Inter"/>
                <a:sym typeface="Inter"/>
              </a:rPr>
              <a:t>ng </a:t>
            </a:r>
            <a:r>
              <a:rPr lang="en-US" sz="2799">
                <a:solidFill>
                  <a:srgbClr val="000000"/>
                </a:solidFill>
                <a:latin typeface="Inter"/>
                <a:ea typeface="Inter"/>
                <a:cs typeface="Inter"/>
                <a:sym typeface="Inter"/>
              </a:rPr>
              <a:t>dễ</a:t>
            </a:r>
            <a:r>
              <a:rPr lang="en-US" sz="2799">
                <a:solidFill>
                  <a:srgbClr val="000000"/>
                </a:solidFill>
                <a:latin typeface="Inter"/>
                <a:ea typeface="Inter"/>
                <a:cs typeface="Inter"/>
                <a:sym typeface="Inter"/>
              </a:rPr>
              <a:t> </a:t>
            </a:r>
            <a:r>
              <a:rPr lang="en-US" sz="2799">
                <a:solidFill>
                  <a:srgbClr val="000000"/>
                </a:solidFill>
                <a:latin typeface="Inter"/>
                <a:ea typeface="Inter"/>
                <a:cs typeface="Inter"/>
                <a:sym typeface="Inter"/>
              </a:rPr>
              <a:t>d</a:t>
            </a:r>
            <a:r>
              <a:rPr lang="en-US" sz="2799">
                <a:solidFill>
                  <a:srgbClr val="000000"/>
                </a:solidFill>
                <a:latin typeface="Inter"/>
                <a:ea typeface="Inter"/>
                <a:cs typeface="Inter"/>
                <a:sym typeface="Inter"/>
              </a:rPr>
              <a:t>àn</a:t>
            </a:r>
            <a:r>
              <a:rPr lang="en-US" sz="2799">
                <a:solidFill>
                  <a:srgbClr val="000000"/>
                </a:solidFill>
                <a:latin typeface="Inter"/>
                <a:ea typeface="Inter"/>
                <a:cs typeface="Inter"/>
                <a:sym typeface="Inter"/>
              </a:rPr>
              <a:t>g</a:t>
            </a:r>
            <a:r>
              <a:rPr lang="en-US" sz="2799">
                <a:solidFill>
                  <a:srgbClr val="000000"/>
                </a:solidFill>
                <a:latin typeface="Inter"/>
                <a:ea typeface="Inter"/>
                <a:cs typeface="Inter"/>
                <a:sym typeface="Inter"/>
              </a:rPr>
              <a:t> </a:t>
            </a:r>
            <a:r>
              <a:rPr lang="en-US" sz="2799">
                <a:solidFill>
                  <a:srgbClr val="000000"/>
                </a:solidFill>
                <a:latin typeface="Inter"/>
                <a:ea typeface="Inter"/>
                <a:cs typeface="Inter"/>
                <a:sym typeface="Inter"/>
              </a:rPr>
              <a:t>tạo,</a:t>
            </a:r>
            <a:r>
              <a:rPr lang="en-US" sz="2799">
                <a:solidFill>
                  <a:srgbClr val="000000"/>
                </a:solidFill>
                <a:latin typeface="Inter"/>
                <a:ea typeface="Inter"/>
                <a:cs typeface="Inter"/>
                <a:sym typeface="Inter"/>
              </a:rPr>
              <a:t> </a:t>
            </a:r>
            <a:r>
              <a:rPr lang="en-US" sz="2799">
                <a:solidFill>
                  <a:srgbClr val="000000"/>
                </a:solidFill>
                <a:latin typeface="Inter"/>
                <a:ea typeface="Inter"/>
                <a:cs typeface="Inter"/>
                <a:sym typeface="Inter"/>
              </a:rPr>
              <a:t>q</a:t>
            </a:r>
            <a:r>
              <a:rPr lang="en-US" sz="2799">
                <a:solidFill>
                  <a:srgbClr val="000000"/>
                </a:solidFill>
                <a:latin typeface="Inter"/>
                <a:ea typeface="Inter"/>
                <a:cs typeface="Inter"/>
                <a:sym typeface="Inter"/>
              </a:rPr>
              <a:t>u</a:t>
            </a:r>
            <a:r>
              <a:rPr lang="en-US" sz="2799">
                <a:solidFill>
                  <a:srgbClr val="000000"/>
                </a:solidFill>
                <a:latin typeface="Inter"/>
                <a:ea typeface="Inter"/>
                <a:cs typeface="Inter"/>
                <a:sym typeface="Inter"/>
              </a:rPr>
              <a:t>ả</a:t>
            </a:r>
            <a:r>
              <a:rPr lang="en-US" sz="2799">
                <a:solidFill>
                  <a:srgbClr val="000000"/>
                </a:solidFill>
                <a:latin typeface="Inter"/>
                <a:ea typeface="Inter"/>
                <a:cs typeface="Inter"/>
                <a:sym typeface="Inter"/>
              </a:rPr>
              <a:t>n </a:t>
            </a:r>
            <a:r>
              <a:rPr lang="en-US" sz="2799">
                <a:solidFill>
                  <a:srgbClr val="000000"/>
                </a:solidFill>
                <a:latin typeface="Inter"/>
                <a:ea typeface="Inter"/>
                <a:cs typeface="Inter"/>
                <a:sym typeface="Inter"/>
              </a:rPr>
              <a:t>lý</a:t>
            </a:r>
            <a:r>
              <a:rPr lang="en-US" sz="2799">
                <a:solidFill>
                  <a:srgbClr val="000000"/>
                </a:solidFill>
                <a:latin typeface="Inter"/>
                <a:ea typeface="Inter"/>
                <a:cs typeface="Inter"/>
                <a:sym typeface="Inter"/>
              </a:rPr>
              <a:t> và </a:t>
            </a:r>
            <a:r>
              <a:rPr lang="en-US" sz="2799">
                <a:solidFill>
                  <a:srgbClr val="000000"/>
                </a:solidFill>
                <a:latin typeface="Inter"/>
                <a:ea typeface="Inter"/>
                <a:cs typeface="Inter"/>
                <a:sym typeface="Inter"/>
              </a:rPr>
              <a:t>tố</a:t>
            </a:r>
            <a:r>
              <a:rPr lang="en-US" sz="2799">
                <a:solidFill>
                  <a:srgbClr val="000000"/>
                </a:solidFill>
                <a:latin typeface="Inter"/>
                <a:ea typeface="Inter"/>
                <a:cs typeface="Inter"/>
                <a:sym typeface="Inter"/>
              </a:rPr>
              <a:t>i </a:t>
            </a:r>
            <a:r>
              <a:rPr lang="en-US" sz="2799">
                <a:solidFill>
                  <a:srgbClr val="000000"/>
                </a:solidFill>
                <a:latin typeface="Inter"/>
                <a:ea typeface="Inter"/>
                <a:cs typeface="Inter"/>
                <a:sym typeface="Inter"/>
              </a:rPr>
              <a:t>ưu</a:t>
            </a:r>
            <a:r>
              <a:rPr lang="en-US" sz="2799">
                <a:solidFill>
                  <a:srgbClr val="000000"/>
                </a:solidFill>
                <a:latin typeface="Inter"/>
                <a:ea typeface="Inter"/>
                <a:cs typeface="Inter"/>
                <a:sym typeface="Inter"/>
              </a:rPr>
              <a:t> </a:t>
            </a:r>
            <a:r>
              <a:rPr lang="en-US" sz="2799">
                <a:solidFill>
                  <a:srgbClr val="000000"/>
                </a:solidFill>
                <a:latin typeface="Inter"/>
                <a:ea typeface="Inter"/>
                <a:cs typeface="Inter"/>
                <a:sym typeface="Inter"/>
              </a:rPr>
              <a:t>hóa</a:t>
            </a:r>
            <a:r>
              <a:rPr lang="en-US" sz="2799">
                <a:solidFill>
                  <a:srgbClr val="000000"/>
                </a:solidFill>
                <a:latin typeface="Inter"/>
                <a:ea typeface="Inter"/>
                <a:cs typeface="Inter"/>
                <a:sym typeface="Inter"/>
              </a:rPr>
              <a:t> hồ sơ xin việc</a:t>
            </a:r>
            <a:r>
              <a:rPr lang="en-US" sz="2799">
                <a:solidFill>
                  <a:srgbClr val="000000"/>
                </a:solidFill>
                <a:latin typeface="Inter"/>
                <a:ea typeface="Inter"/>
                <a:cs typeface="Inter"/>
                <a:sym typeface="Inter"/>
              </a:rPr>
              <a:t>, đồng thời ứng dụng trí tuệ nhân tạo để đánh giá và đưa ra gợi ý cải thiện, qua đó nâng cao cơ hội trúng tuyển.</a:t>
            </a:r>
          </a:p>
        </p:txBody>
      </p:sp>
      <p:sp>
        <p:nvSpPr>
          <p:cNvPr name="TextBox 3" id="3"/>
          <p:cNvSpPr txBox="true"/>
          <p:nvPr/>
        </p:nvSpPr>
        <p:spPr>
          <a:xfrm rot="0">
            <a:off x="1085850" y="2188340"/>
            <a:ext cx="4700747" cy="490855"/>
          </a:xfrm>
          <a:prstGeom prst="rect">
            <a:avLst/>
          </a:prstGeom>
        </p:spPr>
        <p:txBody>
          <a:bodyPr anchor="t" rtlCol="false" tIns="0" lIns="0" bIns="0" rIns="0">
            <a:spAutoFit/>
          </a:bodyPr>
          <a:lstStyle/>
          <a:p>
            <a:pPr algn="just">
              <a:lnSpc>
                <a:spcPts val="3919"/>
              </a:lnSpc>
              <a:spcBef>
                <a:spcPct val="0"/>
              </a:spcBef>
            </a:pPr>
            <a:r>
              <a:rPr lang="en-US" b="true" sz="2799">
                <a:solidFill>
                  <a:srgbClr val="00618A"/>
                </a:solidFill>
                <a:latin typeface="Inter Bold"/>
                <a:ea typeface="Inter Bold"/>
                <a:cs typeface="Inter Bold"/>
                <a:sym typeface="Inter Bold"/>
              </a:rPr>
              <a:t>Mục tiêu nghiên cứu</a:t>
            </a:r>
          </a:p>
        </p:txBody>
      </p:sp>
      <p:sp>
        <p:nvSpPr>
          <p:cNvPr name="TextBox 4" id="4"/>
          <p:cNvSpPr txBox="true"/>
          <p:nvPr/>
        </p:nvSpPr>
        <p:spPr>
          <a:xfrm rot="0">
            <a:off x="1085850" y="5064630"/>
            <a:ext cx="16230600" cy="2967355"/>
          </a:xfrm>
          <a:prstGeom prst="rect">
            <a:avLst/>
          </a:prstGeom>
        </p:spPr>
        <p:txBody>
          <a:bodyPr anchor="t" rtlCol="false" tIns="0" lIns="0" bIns="0" rIns="0">
            <a:spAutoFit/>
          </a:bodyPr>
          <a:lstStyle/>
          <a:p>
            <a:pPr algn="just">
              <a:lnSpc>
                <a:spcPts val="3919"/>
              </a:lnSpc>
            </a:pPr>
            <a:r>
              <a:rPr lang="en-US" sz="2799">
                <a:solidFill>
                  <a:srgbClr val="000000"/>
                </a:solidFill>
                <a:latin typeface="Inter"/>
                <a:ea typeface="Inter"/>
                <a:cs typeface="Inter"/>
                <a:sym typeface="Inter"/>
              </a:rPr>
              <a:t>- Tìm hiểu về quy trình thiết kế và đánh giá hồ sơ xin việc.</a:t>
            </a:r>
          </a:p>
          <a:p>
            <a:pPr algn="just">
              <a:lnSpc>
                <a:spcPts val="3919"/>
              </a:lnSpc>
            </a:pPr>
            <a:r>
              <a:rPr lang="en-US" sz="2799">
                <a:solidFill>
                  <a:srgbClr val="000000"/>
                </a:solidFill>
                <a:latin typeface="Inter"/>
                <a:ea typeface="Inter"/>
                <a:cs typeface="Inter"/>
                <a:sym typeface="Inter"/>
              </a:rPr>
              <a:t>- Tìm hiểu về Next.js và các công nghệ liên quan. </a:t>
            </a:r>
          </a:p>
          <a:p>
            <a:pPr algn="just">
              <a:lnSpc>
                <a:spcPts val="3919"/>
              </a:lnSpc>
            </a:pPr>
            <a:r>
              <a:rPr lang="en-US" sz="2799">
                <a:solidFill>
                  <a:srgbClr val="000000"/>
                </a:solidFill>
                <a:latin typeface="Inter"/>
                <a:ea typeface="Inter"/>
                <a:cs typeface="Inter"/>
                <a:sym typeface="Inter"/>
              </a:rPr>
              <a:t>- Tìm hiểu về ASP.NET Core Web API, Clean Architecture, MongoDB, Gemini.</a:t>
            </a:r>
          </a:p>
          <a:p>
            <a:pPr algn="just">
              <a:lnSpc>
                <a:spcPts val="3919"/>
              </a:lnSpc>
            </a:pPr>
            <a:r>
              <a:rPr lang="en-US" sz="2799">
                <a:solidFill>
                  <a:srgbClr val="000000"/>
                </a:solidFill>
                <a:latin typeface="Inter"/>
                <a:ea typeface="Inter"/>
                <a:cs typeface="Inter"/>
                <a:sym typeface="Inter"/>
              </a:rPr>
              <a:t>- Tìm hiểu về RESTful API.</a:t>
            </a:r>
          </a:p>
          <a:p>
            <a:pPr algn="just">
              <a:lnSpc>
                <a:spcPts val="3919"/>
              </a:lnSpc>
              <a:spcBef>
                <a:spcPct val="0"/>
              </a:spcBef>
            </a:pPr>
            <a:r>
              <a:rPr lang="en-US" sz="2799">
                <a:solidFill>
                  <a:srgbClr val="000000"/>
                </a:solidFill>
                <a:latin typeface="Inter"/>
                <a:ea typeface="Inter"/>
                <a:cs typeface="Inter"/>
                <a:sym typeface="Inter"/>
              </a:rPr>
              <a:t>- Vận dụng các kiến thức trên để thiết kế và xây dựng hệ thống tạo và đánh giá hồ sơ xin việc tích hợp AI.</a:t>
            </a:r>
          </a:p>
        </p:txBody>
      </p:sp>
      <p:sp>
        <p:nvSpPr>
          <p:cNvPr name="TextBox 5" id="5"/>
          <p:cNvSpPr txBox="true"/>
          <p:nvPr/>
        </p:nvSpPr>
        <p:spPr>
          <a:xfrm rot="0">
            <a:off x="1085850" y="4516625"/>
            <a:ext cx="4700747" cy="490855"/>
          </a:xfrm>
          <a:prstGeom prst="rect">
            <a:avLst/>
          </a:prstGeom>
        </p:spPr>
        <p:txBody>
          <a:bodyPr anchor="t" rtlCol="false" tIns="0" lIns="0" bIns="0" rIns="0">
            <a:spAutoFit/>
          </a:bodyPr>
          <a:lstStyle/>
          <a:p>
            <a:pPr algn="just">
              <a:lnSpc>
                <a:spcPts val="3919"/>
              </a:lnSpc>
              <a:spcBef>
                <a:spcPct val="0"/>
              </a:spcBef>
            </a:pPr>
            <a:r>
              <a:rPr lang="en-US" b="true" sz="2799">
                <a:solidFill>
                  <a:srgbClr val="00618A"/>
                </a:solidFill>
                <a:latin typeface="Inter Bold"/>
                <a:ea typeface="Inter Bold"/>
                <a:cs typeface="Inter Bold"/>
                <a:sym typeface="Inter Bold"/>
              </a:rPr>
              <a:t>Nội dung nghiên cứu</a:t>
            </a:r>
          </a:p>
        </p:txBody>
      </p:sp>
      <p:sp>
        <p:nvSpPr>
          <p:cNvPr name="AutoShape 6" id="6"/>
          <p:cNvSpPr/>
          <p:nvPr/>
        </p:nvSpPr>
        <p:spPr>
          <a:xfrm>
            <a:off x="705967" y="9253538"/>
            <a:ext cx="16872456" cy="4762"/>
          </a:xfrm>
          <a:prstGeom prst="line">
            <a:avLst/>
          </a:prstGeom>
          <a:ln cap="rnd" w="19050">
            <a:solidFill>
              <a:srgbClr val="4BADD6"/>
            </a:solidFill>
            <a:prstDash val="solid"/>
            <a:headEnd type="none" len="sm" w="sm"/>
            <a:tailEnd type="none" len="sm" w="sm"/>
          </a:ln>
        </p:spPr>
      </p:sp>
      <p:sp>
        <p:nvSpPr>
          <p:cNvPr name="TextBox 7" id="7"/>
          <p:cNvSpPr txBox="true"/>
          <p:nvPr/>
        </p:nvSpPr>
        <p:spPr>
          <a:xfrm rot="0">
            <a:off x="763112" y="9369641"/>
            <a:ext cx="12119638" cy="409575"/>
          </a:xfrm>
          <a:prstGeom prst="rect">
            <a:avLst/>
          </a:prstGeom>
        </p:spPr>
        <p:txBody>
          <a:bodyPr anchor="t" rtlCol="false" tIns="0" lIns="0" bIns="0" rIns="0">
            <a:spAutoFit/>
          </a:bodyPr>
          <a:lstStyle/>
          <a:p>
            <a:pPr algn="l" marL="0" indent="0" lvl="0">
              <a:lnSpc>
                <a:spcPts val="3120"/>
              </a:lnSpc>
              <a:spcBef>
                <a:spcPct val="0"/>
              </a:spcBef>
            </a:pPr>
            <a:r>
              <a:rPr lang="en-US" b="true" sz="2600" spc="72" strike="noStrike" u="none">
                <a:solidFill>
                  <a:srgbClr val="00618A"/>
                </a:solidFill>
                <a:latin typeface="Arimo Bold"/>
                <a:ea typeface="Arimo Bold"/>
                <a:cs typeface="Arimo Bold"/>
                <a:sym typeface="Arimo Bold"/>
              </a:rPr>
              <a:t>XÂY DỰNG HỆ THỐNG TẠO VÀ ĐÁNH GIÁ</a:t>
            </a:r>
            <a:r>
              <a:rPr lang="en-US" b="true" sz="2600" spc="72" strike="noStrike" u="none">
                <a:solidFill>
                  <a:srgbClr val="00618A"/>
                </a:solidFill>
                <a:latin typeface="Arimo Bold"/>
                <a:ea typeface="Arimo Bold"/>
                <a:cs typeface="Arimo Bold"/>
                <a:sym typeface="Arimo Bold"/>
              </a:rPr>
              <a:t> HỒ SƠ XIN VIỆC TÍCH HỢP AI</a:t>
            </a:r>
          </a:p>
        </p:txBody>
      </p:sp>
      <p:sp>
        <p:nvSpPr>
          <p:cNvPr name="TextBox 8" id="8"/>
          <p:cNvSpPr txBox="true"/>
          <p:nvPr/>
        </p:nvSpPr>
        <p:spPr>
          <a:xfrm rot="0">
            <a:off x="17259300" y="9369641"/>
            <a:ext cx="245942" cy="409575"/>
          </a:xfrm>
          <a:prstGeom prst="rect">
            <a:avLst/>
          </a:prstGeom>
        </p:spPr>
        <p:txBody>
          <a:bodyPr anchor="t" rtlCol="false" tIns="0" lIns="0" bIns="0" rIns="0">
            <a:spAutoFit/>
          </a:bodyPr>
          <a:lstStyle/>
          <a:p>
            <a:pPr algn="l" marL="0" indent="0" lvl="0">
              <a:lnSpc>
                <a:spcPts val="3120"/>
              </a:lnSpc>
              <a:spcBef>
                <a:spcPct val="0"/>
              </a:spcBef>
            </a:pPr>
            <a:r>
              <a:rPr lang="en-US" b="true" sz="2600" spc="72">
                <a:solidFill>
                  <a:srgbClr val="00618A"/>
                </a:solidFill>
                <a:latin typeface="Arimo Bold"/>
                <a:ea typeface="Arimo Bold"/>
                <a:cs typeface="Arimo Bold"/>
                <a:sym typeface="Arimo Bold"/>
              </a:rPr>
              <a:t>4</a:t>
            </a:r>
          </a:p>
        </p:txBody>
      </p:sp>
      <p:sp>
        <p:nvSpPr>
          <p:cNvPr name="AutoShape 9" id="9"/>
          <p:cNvSpPr/>
          <p:nvPr/>
        </p:nvSpPr>
        <p:spPr>
          <a:xfrm flipH="true">
            <a:off x="763112" y="716667"/>
            <a:ext cx="0" cy="771525"/>
          </a:xfrm>
          <a:prstGeom prst="line">
            <a:avLst/>
          </a:prstGeom>
          <a:ln cap="rnd" w="114300">
            <a:solidFill>
              <a:srgbClr val="075985">
                <a:alpha val="46667"/>
              </a:srgbClr>
            </a:solidFill>
            <a:prstDash val="solid"/>
            <a:headEnd type="none" len="sm" w="sm"/>
            <a:tailEnd type="none" len="sm" w="sm"/>
          </a:ln>
        </p:spPr>
      </p:sp>
      <p:sp>
        <p:nvSpPr>
          <p:cNvPr name="Freeform 10" id="10"/>
          <p:cNvSpPr/>
          <p:nvPr/>
        </p:nvSpPr>
        <p:spPr>
          <a:xfrm flipH="false" flipV="false" rot="0">
            <a:off x="16713285" y="707142"/>
            <a:ext cx="865138" cy="854186"/>
          </a:xfrm>
          <a:custGeom>
            <a:avLst/>
            <a:gdLst/>
            <a:ahLst/>
            <a:cxnLst/>
            <a:rect r="r" b="b" t="t" l="l"/>
            <a:pathLst>
              <a:path h="854186" w="865138">
                <a:moveTo>
                  <a:pt x="0" y="0"/>
                </a:moveTo>
                <a:lnTo>
                  <a:pt x="865138" y="0"/>
                </a:lnTo>
                <a:lnTo>
                  <a:pt x="865138" y="854186"/>
                </a:lnTo>
                <a:lnTo>
                  <a:pt x="0" y="854186"/>
                </a:lnTo>
                <a:lnTo>
                  <a:pt x="0" y="0"/>
                </a:lnTo>
                <a:close/>
              </a:path>
            </a:pathLst>
          </a:custGeom>
          <a:blipFill>
            <a:blip r:embed="rId3"/>
            <a:stretch>
              <a:fillRect l="0" t="0" r="0" b="0"/>
            </a:stretch>
          </a:blipFill>
        </p:spPr>
      </p:sp>
      <p:sp>
        <p:nvSpPr>
          <p:cNvPr name="TextBox 11" id="11"/>
          <p:cNvSpPr txBox="true"/>
          <p:nvPr/>
        </p:nvSpPr>
        <p:spPr>
          <a:xfrm rot="0">
            <a:off x="1041536" y="688092"/>
            <a:ext cx="3914009" cy="438150"/>
          </a:xfrm>
          <a:prstGeom prst="rect">
            <a:avLst/>
          </a:prstGeom>
        </p:spPr>
        <p:txBody>
          <a:bodyPr anchor="t" rtlCol="false" tIns="0" lIns="0" bIns="0" rIns="0">
            <a:spAutoFit/>
          </a:bodyPr>
          <a:lstStyle/>
          <a:p>
            <a:pPr algn="l" marL="0" indent="0" lvl="0">
              <a:lnSpc>
                <a:spcPts val="3359"/>
              </a:lnSpc>
              <a:spcBef>
                <a:spcPct val="0"/>
              </a:spcBef>
            </a:pPr>
            <a:r>
              <a:rPr lang="en-US" sz="2799" i="true" spc="77">
                <a:solidFill>
                  <a:srgbClr val="00618A"/>
                </a:solidFill>
                <a:latin typeface="Arimo Italics"/>
                <a:ea typeface="Arimo Italics"/>
                <a:cs typeface="Arimo Italics"/>
                <a:sym typeface="Arimo Italics"/>
              </a:rPr>
              <a:t>1. Tổng quan</a:t>
            </a:r>
          </a:p>
        </p:txBody>
      </p:sp>
      <p:sp>
        <p:nvSpPr>
          <p:cNvPr name="TextBox 12" id="12"/>
          <p:cNvSpPr txBox="true"/>
          <p:nvPr/>
        </p:nvSpPr>
        <p:spPr>
          <a:xfrm rot="0">
            <a:off x="1041536" y="1078617"/>
            <a:ext cx="6067738" cy="438150"/>
          </a:xfrm>
          <a:prstGeom prst="rect">
            <a:avLst/>
          </a:prstGeom>
        </p:spPr>
        <p:txBody>
          <a:bodyPr anchor="t" rtlCol="false" tIns="0" lIns="0" bIns="0" rIns="0">
            <a:spAutoFit/>
          </a:bodyPr>
          <a:lstStyle/>
          <a:p>
            <a:pPr algn="l" marL="0" indent="0" lvl="0">
              <a:lnSpc>
                <a:spcPts val="3359"/>
              </a:lnSpc>
              <a:spcBef>
                <a:spcPct val="0"/>
              </a:spcBef>
            </a:pPr>
            <a:r>
              <a:rPr lang="en-US" b="true" sz="2799" spc="77">
                <a:solidFill>
                  <a:srgbClr val="00618A"/>
                </a:solidFill>
                <a:latin typeface="Arimo Bold"/>
                <a:ea typeface="Arimo Bold"/>
                <a:cs typeface="Arimo Bold"/>
                <a:sym typeface="Arimo Bold"/>
              </a:rPr>
              <a:t>Mục tiêu và nội dung nghiên cứu</a:t>
            </a:r>
          </a:p>
        </p:txBody>
      </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412691" y="4752975"/>
            <a:ext cx="7462617" cy="771525"/>
          </a:xfrm>
          <a:prstGeom prst="rect">
            <a:avLst/>
          </a:prstGeom>
        </p:spPr>
        <p:txBody>
          <a:bodyPr anchor="t" rtlCol="false" tIns="0" lIns="0" bIns="0" rIns="0">
            <a:spAutoFit/>
          </a:bodyPr>
          <a:lstStyle/>
          <a:p>
            <a:pPr algn="ctr" marL="0" indent="0" lvl="0">
              <a:lnSpc>
                <a:spcPts val="6000"/>
              </a:lnSpc>
              <a:spcBef>
                <a:spcPct val="0"/>
              </a:spcBef>
            </a:pPr>
            <a:r>
              <a:rPr lang="en-US" b="true" sz="5000" spc="138">
                <a:solidFill>
                  <a:srgbClr val="00618A">
                    <a:alpha val="81961"/>
                  </a:srgbClr>
                </a:solidFill>
                <a:latin typeface="Open Sans Bold"/>
                <a:ea typeface="Open Sans Bold"/>
                <a:cs typeface="Open Sans Bold"/>
                <a:sym typeface="Open Sans Bold"/>
              </a:rPr>
              <a:t>2. CƠ SỞ LÝ THUYẾT</a:t>
            </a:r>
          </a:p>
        </p:txBody>
      </p:sp>
      <p:sp>
        <p:nvSpPr>
          <p:cNvPr name="AutoShape 3" id="3"/>
          <p:cNvSpPr/>
          <p:nvPr/>
        </p:nvSpPr>
        <p:spPr>
          <a:xfrm>
            <a:off x="705970" y="1038225"/>
            <a:ext cx="14662846" cy="4762"/>
          </a:xfrm>
          <a:prstGeom prst="line">
            <a:avLst/>
          </a:prstGeom>
          <a:ln cap="rnd" w="19050">
            <a:solidFill>
              <a:srgbClr val="4BADD6"/>
            </a:solidFill>
            <a:prstDash val="solid"/>
            <a:headEnd type="none" len="sm" w="sm"/>
            <a:tailEnd type="none" len="sm" w="sm"/>
          </a:ln>
        </p:spPr>
      </p:sp>
      <p:sp>
        <p:nvSpPr>
          <p:cNvPr name="AutoShape 4" id="4"/>
          <p:cNvSpPr/>
          <p:nvPr/>
        </p:nvSpPr>
        <p:spPr>
          <a:xfrm>
            <a:off x="705967" y="9253538"/>
            <a:ext cx="16872456" cy="4762"/>
          </a:xfrm>
          <a:prstGeom prst="line">
            <a:avLst/>
          </a:prstGeom>
          <a:ln cap="rnd" w="19050">
            <a:solidFill>
              <a:srgbClr val="4BADD6"/>
            </a:solidFill>
            <a:prstDash val="solid"/>
            <a:headEnd type="none" len="sm" w="sm"/>
            <a:tailEnd type="none" len="sm" w="sm"/>
          </a:ln>
        </p:spPr>
      </p:sp>
      <p:sp>
        <p:nvSpPr>
          <p:cNvPr name="TextBox 5" id="5"/>
          <p:cNvSpPr txBox="true"/>
          <p:nvPr/>
        </p:nvSpPr>
        <p:spPr>
          <a:xfrm rot="0">
            <a:off x="763112" y="9369641"/>
            <a:ext cx="12119638" cy="409575"/>
          </a:xfrm>
          <a:prstGeom prst="rect">
            <a:avLst/>
          </a:prstGeom>
        </p:spPr>
        <p:txBody>
          <a:bodyPr anchor="t" rtlCol="false" tIns="0" lIns="0" bIns="0" rIns="0">
            <a:spAutoFit/>
          </a:bodyPr>
          <a:lstStyle/>
          <a:p>
            <a:pPr algn="l" marL="0" indent="0" lvl="0">
              <a:lnSpc>
                <a:spcPts val="3120"/>
              </a:lnSpc>
              <a:spcBef>
                <a:spcPct val="0"/>
              </a:spcBef>
            </a:pPr>
            <a:r>
              <a:rPr lang="en-US" b="true" sz="2600" spc="72" strike="noStrike" u="none">
                <a:solidFill>
                  <a:srgbClr val="00618A"/>
                </a:solidFill>
                <a:latin typeface="Arimo Bold"/>
                <a:ea typeface="Arimo Bold"/>
                <a:cs typeface="Arimo Bold"/>
                <a:sym typeface="Arimo Bold"/>
              </a:rPr>
              <a:t>XÂY DỰNG HỆ THỐNG TẠO VÀ ĐÁNH GIÁ</a:t>
            </a:r>
            <a:r>
              <a:rPr lang="en-US" b="true" sz="2600" spc="72" strike="noStrike" u="none">
                <a:solidFill>
                  <a:srgbClr val="00618A"/>
                </a:solidFill>
                <a:latin typeface="Arimo Bold"/>
                <a:ea typeface="Arimo Bold"/>
                <a:cs typeface="Arimo Bold"/>
                <a:sym typeface="Arimo Bold"/>
              </a:rPr>
              <a:t> HỒ SƠ XIN VIỆC TÍCH HỢP AI</a:t>
            </a:r>
          </a:p>
        </p:txBody>
      </p:sp>
      <p:sp>
        <p:nvSpPr>
          <p:cNvPr name="TextBox 6" id="6"/>
          <p:cNvSpPr txBox="true"/>
          <p:nvPr/>
        </p:nvSpPr>
        <p:spPr>
          <a:xfrm rot="0">
            <a:off x="17259300" y="9369641"/>
            <a:ext cx="245942" cy="409575"/>
          </a:xfrm>
          <a:prstGeom prst="rect">
            <a:avLst/>
          </a:prstGeom>
        </p:spPr>
        <p:txBody>
          <a:bodyPr anchor="t" rtlCol="false" tIns="0" lIns="0" bIns="0" rIns="0">
            <a:spAutoFit/>
          </a:bodyPr>
          <a:lstStyle/>
          <a:p>
            <a:pPr algn="l" marL="0" indent="0" lvl="0">
              <a:lnSpc>
                <a:spcPts val="3120"/>
              </a:lnSpc>
              <a:spcBef>
                <a:spcPct val="0"/>
              </a:spcBef>
            </a:pPr>
            <a:r>
              <a:rPr lang="en-US" b="true" sz="2600" spc="72">
                <a:solidFill>
                  <a:srgbClr val="00618A"/>
                </a:solidFill>
                <a:latin typeface="Arimo Bold"/>
                <a:ea typeface="Arimo Bold"/>
                <a:cs typeface="Arimo Bold"/>
                <a:sym typeface="Arimo Bold"/>
              </a:rPr>
              <a:t>5</a:t>
            </a:r>
          </a:p>
        </p:txBody>
      </p:sp>
      <p:sp>
        <p:nvSpPr>
          <p:cNvPr name="Freeform 7" id="7"/>
          <p:cNvSpPr/>
          <p:nvPr/>
        </p:nvSpPr>
        <p:spPr>
          <a:xfrm flipH="false" flipV="false" rot="0">
            <a:off x="16713285" y="707142"/>
            <a:ext cx="865138" cy="854186"/>
          </a:xfrm>
          <a:custGeom>
            <a:avLst/>
            <a:gdLst/>
            <a:ahLst/>
            <a:cxnLst/>
            <a:rect r="r" b="b" t="t" l="l"/>
            <a:pathLst>
              <a:path h="854186" w="865138">
                <a:moveTo>
                  <a:pt x="0" y="0"/>
                </a:moveTo>
                <a:lnTo>
                  <a:pt x="865138" y="0"/>
                </a:lnTo>
                <a:lnTo>
                  <a:pt x="865138" y="854186"/>
                </a:lnTo>
                <a:lnTo>
                  <a:pt x="0" y="854186"/>
                </a:lnTo>
                <a:lnTo>
                  <a:pt x="0" y="0"/>
                </a:lnTo>
                <a:close/>
              </a:path>
            </a:pathLst>
          </a:custGeom>
          <a:blipFill>
            <a:blip r:embed="rId2"/>
            <a:stretch>
              <a:fillRect l="0" t="0" r="0" b="0"/>
            </a:stretch>
          </a:blipFill>
        </p:spPr>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763112" y="3731758"/>
            <a:ext cx="7262188" cy="1481455"/>
          </a:xfrm>
          <a:prstGeom prst="rect">
            <a:avLst/>
          </a:prstGeom>
        </p:spPr>
        <p:txBody>
          <a:bodyPr anchor="t" rtlCol="false" tIns="0" lIns="0" bIns="0" rIns="0">
            <a:spAutoFit/>
          </a:bodyPr>
          <a:lstStyle/>
          <a:p>
            <a:pPr algn="just" marL="0" indent="0" lvl="0">
              <a:lnSpc>
                <a:spcPts val="3919"/>
              </a:lnSpc>
              <a:spcBef>
                <a:spcPct val="0"/>
              </a:spcBef>
            </a:pPr>
            <a:r>
              <a:rPr lang="en-US" b="true" sz="2799" strike="noStrike" u="none">
                <a:solidFill>
                  <a:srgbClr val="000000"/>
                </a:solidFill>
                <a:latin typeface="Inter Bold"/>
                <a:ea typeface="Inter Bold"/>
                <a:cs typeface="Inter Bold"/>
                <a:sym typeface="Inter Bold"/>
              </a:rPr>
              <a:t>Next.js</a:t>
            </a:r>
            <a:r>
              <a:rPr lang="en-US" sz="2799" strike="noStrike" u="none">
                <a:solidFill>
                  <a:srgbClr val="000000"/>
                </a:solidFill>
                <a:latin typeface="Inter"/>
                <a:ea typeface="Inter"/>
                <a:cs typeface="Inter"/>
                <a:sym typeface="Inter"/>
              </a:rPr>
              <a:t> là một framework JavaScript mạnh mẽ được phát triển bởi Vercel, dựa trên thư viện React. </a:t>
            </a:r>
          </a:p>
        </p:txBody>
      </p:sp>
      <p:grpSp>
        <p:nvGrpSpPr>
          <p:cNvPr name="Group 3" id="3"/>
          <p:cNvGrpSpPr/>
          <p:nvPr/>
        </p:nvGrpSpPr>
        <p:grpSpPr>
          <a:xfrm rot="0">
            <a:off x="9307802" y="1134235"/>
            <a:ext cx="7705556" cy="7243800"/>
            <a:chOff x="0" y="0"/>
            <a:chExt cx="10274074" cy="9658400"/>
          </a:xfrm>
        </p:grpSpPr>
        <p:sp>
          <p:nvSpPr>
            <p:cNvPr name="Freeform 4" id="4"/>
            <p:cNvSpPr/>
            <p:nvPr/>
          </p:nvSpPr>
          <p:spPr>
            <a:xfrm flipH="false" flipV="false" rot="0">
              <a:off x="0" y="0"/>
              <a:ext cx="10274074" cy="9658400"/>
            </a:xfrm>
            <a:custGeom>
              <a:avLst/>
              <a:gdLst/>
              <a:ahLst/>
              <a:cxnLst/>
              <a:rect r="r" b="b" t="t" l="l"/>
              <a:pathLst>
                <a:path h="9658400" w="10274074">
                  <a:moveTo>
                    <a:pt x="0" y="0"/>
                  </a:moveTo>
                  <a:lnTo>
                    <a:pt x="10274074" y="0"/>
                  </a:lnTo>
                  <a:lnTo>
                    <a:pt x="10274074" y="9658400"/>
                  </a:lnTo>
                  <a:lnTo>
                    <a:pt x="0" y="9658400"/>
                  </a:lnTo>
                  <a:lnTo>
                    <a:pt x="0" y="0"/>
                  </a:lnTo>
                  <a:close/>
                </a:path>
              </a:pathLst>
            </a:custGeom>
            <a:blipFill>
              <a:blip r:embed="rId2"/>
              <a:stretch>
                <a:fillRect l="-37471" t="-8133" r="-36716" b="-7673"/>
              </a:stretch>
            </a:blipFill>
          </p:spPr>
        </p:sp>
        <p:grpSp>
          <p:nvGrpSpPr>
            <p:cNvPr name="Group 5" id="5"/>
            <p:cNvGrpSpPr/>
            <p:nvPr/>
          </p:nvGrpSpPr>
          <p:grpSpPr>
            <a:xfrm rot="545193">
              <a:off x="1415951" y="1939667"/>
              <a:ext cx="2192740" cy="1884386"/>
              <a:chOff x="0" y="0"/>
              <a:chExt cx="812800" cy="698500"/>
            </a:xfrm>
          </p:grpSpPr>
          <p:sp>
            <p:nvSpPr>
              <p:cNvPr name="Freeform 6" id="6"/>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name="TextBox 7" id="7"/>
              <p:cNvSpPr txBox="true"/>
              <p:nvPr/>
            </p:nvSpPr>
            <p:spPr>
              <a:xfrm>
                <a:off x="114300" y="-47625"/>
                <a:ext cx="584200" cy="746125"/>
              </a:xfrm>
              <a:prstGeom prst="rect">
                <a:avLst/>
              </a:prstGeom>
            </p:spPr>
            <p:txBody>
              <a:bodyPr anchor="ctr" rtlCol="false" tIns="50800" lIns="50800" bIns="50800" rIns="50800"/>
              <a:lstStyle/>
              <a:p>
                <a:pPr algn="ctr">
                  <a:lnSpc>
                    <a:spcPts val="3499"/>
                  </a:lnSpc>
                </a:pPr>
              </a:p>
            </p:txBody>
          </p:sp>
        </p:grpSp>
        <p:grpSp>
          <p:nvGrpSpPr>
            <p:cNvPr name="Group 8" id="8"/>
            <p:cNvGrpSpPr/>
            <p:nvPr/>
          </p:nvGrpSpPr>
          <p:grpSpPr>
            <a:xfrm rot="-2527178">
              <a:off x="814591" y="4729675"/>
              <a:ext cx="2171325" cy="1865982"/>
              <a:chOff x="0" y="0"/>
              <a:chExt cx="812800" cy="698500"/>
            </a:xfrm>
          </p:grpSpPr>
          <p:sp>
            <p:nvSpPr>
              <p:cNvPr name="Freeform 9" id="9"/>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name="TextBox 10" id="10"/>
              <p:cNvSpPr txBox="true"/>
              <p:nvPr/>
            </p:nvSpPr>
            <p:spPr>
              <a:xfrm>
                <a:off x="114300" y="-47625"/>
                <a:ext cx="584200" cy="746125"/>
              </a:xfrm>
              <a:prstGeom prst="rect">
                <a:avLst/>
              </a:prstGeom>
            </p:spPr>
            <p:txBody>
              <a:bodyPr anchor="ctr" rtlCol="false" tIns="50800" lIns="50800" bIns="50800" rIns="50800"/>
              <a:lstStyle/>
              <a:p>
                <a:pPr algn="ctr">
                  <a:lnSpc>
                    <a:spcPts val="3499"/>
                  </a:lnSpc>
                </a:pPr>
              </a:p>
            </p:txBody>
          </p:sp>
        </p:grpSp>
        <p:grpSp>
          <p:nvGrpSpPr>
            <p:cNvPr name="Group 11" id="11"/>
            <p:cNvGrpSpPr/>
            <p:nvPr/>
          </p:nvGrpSpPr>
          <p:grpSpPr>
            <a:xfrm rot="-2079538">
              <a:off x="2451530" y="6863785"/>
              <a:ext cx="2316982" cy="1991157"/>
              <a:chOff x="0" y="0"/>
              <a:chExt cx="812800" cy="698500"/>
            </a:xfrm>
          </p:grpSpPr>
          <p:sp>
            <p:nvSpPr>
              <p:cNvPr name="Freeform 12" id="12"/>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name="TextBox 13" id="13"/>
              <p:cNvSpPr txBox="true"/>
              <p:nvPr/>
            </p:nvSpPr>
            <p:spPr>
              <a:xfrm>
                <a:off x="114300" y="-47625"/>
                <a:ext cx="584200" cy="746125"/>
              </a:xfrm>
              <a:prstGeom prst="rect">
                <a:avLst/>
              </a:prstGeom>
            </p:spPr>
            <p:txBody>
              <a:bodyPr anchor="ctr" rtlCol="false" tIns="50800" lIns="50800" bIns="50800" rIns="50800"/>
              <a:lstStyle/>
              <a:p>
                <a:pPr algn="ctr">
                  <a:lnSpc>
                    <a:spcPts val="3499"/>
                  </a:lnSpc>
                </a:pPr>
              </a:p>
            </p:txBody>
          </p:sp>
        </p:grpSp>
        <p:grpSp>
          <p:nvGrpSpPr>
            <p:cNvPr name="Group 14" id="14"/>
            <p:cNvGrpSpPr/>
            <p:nvPr/>
          </p:nvGrpSpPr>
          <p:grpSpPr>
            <a:xfrm rot="-5029364">
              <a:off x="5384287" y="6934764"/>
              <a:ext cx="2328481" cy="2001038"/>
              <a:chOff x="0" y="0"/>
              <a:chExt cx="812800" cy="698500"/>
            </a:xfrm>
          </p:grpSpPr>
          <p:sp>
            <p:nvSpPr>
              <p:cNvPr name="Freeform 15" id="15"/>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name="TextBox 16" id="16"/>
              <p:cNvSpPr txBox="true"/>
              <p:nvPr/>
            </p:nvSpPr>
            <p:spPr>
              <a:xfrm>
                <a:off x="114300" y="-47625"/>
                <a:ext cx="584200" cy="746125"/>
              </a:xfrm>
              <a:prstGeom prst="rect">
                <a:avLst/>
              </a:prstGeom>
            </p:spPr>
            <p:txBody>
              <a:bodyPr anchor="ctr" rtlCol="false" tIns="50800" lIns="50800" bIns="50800" rIns="50800"/>
              <a:lstStyle/>
              <a:p>
                <a:pPr algn="ctr">
                  <a:lnSpc>
                    <a:spcPts val="3499"/>
                  </a:lnSpc>
                </a:pPr>
              </a:p>
            </p:txBody>
          </p:sp>
        </p:grpSp>
        <p:grpSp>
          <p:nvGrpSpPr>
            <p:cNvPr name="Group 17" id="17"/>
            <p:cNvGrpSpPr/>
            <p:nvPr/>
          </p:nvGrpSpPr>
          <p:grpSpPr>
            <a:xfrm rot="-4547956">
              <a:off x="7230975" y="4708563"/>
              <a:ext cx="2237333" cy="1922708"/>
              <a:chOff x="0" y="0"/>
              <a:chExt cx="812800" cy="698500"/>
            </a:xfrm>
          </p:grpSpPr>
          <p:sp>
            <p:nvSpPr>
              <p:cNvPr name="Freeform 18" id="18"/>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name="TextBox 19" id="19"/>
              <p:cNvSpPr txBox="true"/>
              <p:nvPr/>
            </p:nvSpPr>
            <p:spPr>
              <a:xfrm>
                <a:off x="114300" y="-47625"/>
                <a:ext cx="584200" cy="746125"/>
              </a:xfrm>
              <a:prstGeom prst="rect">
                <a:avLst/>
              </a:prstGeom>
            </p:spPr>
            <p:txBody>
              <a:bodyPr anchor="ctr" rtlCol="false" tIns="50800" lIns="50800" bIns="50800" rIns="50800"/>
              <a:lstStyle/>
              <a:p>
                <a:pPr algn="ctr">
                  <a:lnSpc>
                    <a:spcPts val="3499"/>
                  </a:lnSpc>
                </a:pPr>
              </a:p>
            </p:txBody>
          </p:sp>
        </p:grpSp>
        <p:grpSp>
          <p:nvGrpSpPr>
            <p:cNvPr name="Group 20" id="20"/>
            <p:cNvGrpSpPr/>
            <p:nvPr/>
          </p:nvGrpSpPr>
          <p:grpSpPr>
            <a:xfrm rot="-4170171">
              <a:off x="6592292" y="1870412"/>
              <a:ext cx="2210193" cy="1899384"/>
              <a:chOff x="0" y="0"/>
              <a:chExt cx="812800" cy="698500"/>
            </a:xfrm>
          </p:grpSpPr>
          <p:sp>
            <p:nvSpPr>
              <p:cNvPr name="Freeform 21" id="21"/>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name="TextBox 22" id="22"/>
              <p:cNvSpPr txBox="true"/>
              <p:nvPr/>
            </p:nvSpPr>
            <p:spPr>
              <a:xfrm>
                <a:off x="114300" y="-47625"/>
                <a:ext cx="584200" cy="746125"/>
              </a:xfrm>
              <a:prstGeom prst="rect">
                <a:avLst/>
              </a:prstGeom>
            </p:spPr>
            <p:txBody>
              <a:bodyPr anchor="ctr" rtlCol="false" tIns="50800" lIns="50800" bIns="50800" rIns="50800"/>
              <a:lstStyle/>
              <a:p>
                <a:pPr algn="ctr">
                  <a:lnSpc>
                    <a:spcPts val="3499"/>
                  </a:lnSpc>
                </a:pPr>
              </a:p>
            </p:txBody>
          </p:sp>
        </p:grpSp>
        <p:grpSp>
          <p:nvGrpSpPr>
            <p:cNvPr name="Group 23" id="23"/>
            <p:cNvGrpSpPr/>
            <p:nvPr/>
          </p:nvGrpSpPr>
          <p:grpSpPr>
            <a:xfrm rot="-7172835">
              <a:off x="3960095" y="643158"/>
              <a:ext cx="2209365" cy="1898673"/>
              <a:chOff x="0" y="0"/>
              <a:chExt cx="812800" cy="698500"/>
            </a:xfrm>
          </p:grpSpPr>
          <p:sp>
            <p:nvSpPr>
              <p:cNvPr name="Freeform 24" id="24"/>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name="TextBox 25" id="25"/>
              <p:cNvSpPr txBox="true"/>
              <p:nvPr/>
            </p:nvSpPr>
            <p:spPr>
              <a:xfrm>
                <a:off x="114300" y="-47625"/>
                <a:ext cx="584200" cy="746125"/>
              </a:xfrm>
              <a:prstGeom prst="rect">
                <a:avLst/>
              </a:prstGeom>
            </p:spPr>
            <p:txBody>
              <a:bodyPr anchor="ctr" rtlCol="false" tIns="50800" lIns="50800" bIns="50800" rIns="50800"/>
              <a:lstStyle/>
              <a:p>
                <a:pPr algn="ctr">
                  <a:lnSpc>
                    <a:spcPts val="3499"/>
                  </a:lnSpc>
                </a:pPr>
              </a:p>
            </p:txBody>
          </p:sp>
        </p:grpSp>
        <p:sp>
          <p:nvSpPr>
            <p:cNvPr name="TextBox 26" id="26"/>
            <p:cNvSpPr txBox="true"/>
            <p:nvPr/>
          </p:nvSpPr>
          <p:spPr>
            <a:xfrm rot="0">
              <a:off x="987060" y="5071530"/>
              <a:ext cx="1755758" cy="1408748"/>
            </a:xfrm>
            <a:prstGeom prst="rect">
              <a:avLst/>
            </a:prstGeom>
          </p:spPr>
          <p:txBody>
            <a:bodyPr anchor="t" rtlCol="false" tIns="0" lIns="0" bIns="0" rIns="0">
              <a:spAutoFit/>
            </a:bodyPr>
            <a:lstStyle/>
            <a:p>
              <a:pPr algn="ctr">
                <a:lnSpc>
                  <a:spcPts val="2879"/>
                </a:lnSpc>
                <a:spcBef>
                  <a:spcPct val="0"/>
                </a:spcBef>
              </a:pPr>
              <a:r>
                <a:rPr lang="en-US" sz="2056">
                  <a:solidFill>
                    <a:srgbClr val="000000"/>
                  </a:solidFill>
                  <a:latin typeface="Inter"/>
                  <a:ea typeface="Inter"/>
                  <a:cs typeface="Inter"/>
                  <a:sym typeface="Inter"/>
                </a:rPr>
                <a:t>Hỗ trợ </a:t>
              </a:r>
            </a:p>
            <a:p>
              <a:pPr algn="ctr">
                <a:lnSpc>
                  <a:spcPts val="2879"/>
                </a:lnSpc>
                <a:spcBef>
                  <a:spcPct val="0"/>
                </a:spcBef>
              </a:pPr>
              <a:r>
                <a:rPr lang="en-US" sz="2056">
                  <a:solidFill>
                    <a:srgbClr val="000000"/>
                  </a:solidFill>
                  <a:latin typeface="Inter"/>
                  <a:ea typeface="Inter"/>
                  <a:cs typeface="Inter"/>
                  <a:sym typeface="Inter"/>
                </a:rPr>
                <a:t>cộng đồng</a:t>
              </a:r>
            </a:p>
            <a:p>
              <a:pPr algn="ctr">
                <a:lnSpc>
                  <a:spcPts val="2879"/>
                </a:lnSpc>
                <a:spcBef>
                  <a:spcPct val="0"/>
                </a:spcBef>
              </a:pPr>
              <a:r>
                <a:rPr lang="en-US" sz="2056">
                  <a:solidFill>
                    <a:srgbClr val="000000"/>
                  </a:solidFill>
                  <a:latin typeface="Inter"/>
                  <a:ea typeface="Inter"/>
                  <a:cs typeface="Inter"/>
                  <a:sym typeface="Inter"/>
                </a:rPr>
                <a:t> tốt</a:t>
              </a:r>
            </a:p>
          </p:txBody>
        </p:sp>
        <p:sp>
          <p:nvSpPr>
            <p:cNvPr name="TextBox 27" id="27"/>
            <p:cNvSpPr txBox="true"/>
            <p:nvPr/>
          </p:nvSpPr>
          <p:spPr>
            <a:xfrm rot="0">
              <a:off x="7519265" y="5283547"/>
              <a:ext cx="1740757" cy="931379"/>
            </a:xfrm>
            <a:prstGeom prst="rect">
              <a:avLst/>
            </a:prstGeom>
          </p:spPr>
          <p:txBody>
            <a:bodyPr anchor="t" rtlCol="false" tIns="0" lIns="0" bIns="0" rIns="0">
              <a:spAutoFit/>
            </a:bodyPr>
            <a:lstStyle/>
            <a:p>
              <a:pPr algn="ctr">
                <a:lnSpc>
                  <a:spcPts val="2865"/>
                </a:lnSpc>
                <a:spcBef>
                  <a:spcPct val="0"/>
                </a:spcBef>
              </a:pPr>
              <a:r>
                <a:rPr lang="en-US" sz="2046">
                  <a:solidFill>
                    <a:srgbClr val="000000"/>
                  </a:solidFill>
                  <a:latin typeface="Inter"/>
                  <a:ea typeface="Inter"/>
                  <a:cs typeface="Inter"/>
                  <a:sym typeface="Inter"/>
                </a:rPr>
                <a:t>T</a:t>
              </a:r>
              <a:r>
                <a:rPr lang="en-US" sz="2046">
                  <a:solidFill>
                    <a:srgbClr val="000000"/>
                  </a:solidFill>
                  <a:latin typeface="Inter"/>
                  <a:ea typeface="Inter"/>
                  <a:cs typeface="Inter"/>
                  <a:sym typeface="Inter"/>
                </a:rPr>
                <a:t>hân thiện</a:t>
              </a:r>
            </a:p>
            <a:p>
              <a:pPr algn="ctr">
                <a:lnSpc>
                  <a:spcPts val="2865"/>
                </a:lnSpc>
                <a:spcBef>
                  <a:spcPct val="0"/>
                </a:spcBef>
              </a:pPr>
              <a:r>
                <a:rPr lang="en-US" sz="2046">
                  <a:solidFill>
                    <a:srgbClr val="000000"/>
                  </a:solidFill>
                  <a:latin typeface="Inter"/>
                  <a:ea typeface="Inter"/>
                  <a:cs typeface="Inter"/>
                  <a:sym typeface="Inter"/>
                </a:rPr>
                <a:t> với SEO</a:t>
              </a:r>
            </a:p>
          </p:txBody>
        </p:sp>
        <p:sp>
          <p:nvSpPr>
            <p:cNvPr name="TextBox 28" id="28"/>
            <p:cNvSpPr txBox="true"/>
            <p:nvPr/>
          </p:nvSpPr>
          <p:spPr>
            <a:xfrm rot="0">
              <a:off x="7039828" y="2568251"/>
              <a:ext cx="1237729" cy="494267"/>
            </a:xfrm>
            <a:prstGeom prst="rect">
              <a:avLst/>
            </a:prstGeom>
          </p:spPr>
          <p:txBody>
            <a:bodyPr anchor="t" rtlCol="false" tIns="0" lIns="0" bIns="0" rIns="0">
              <a:spAutoFit/>
            </a:bodyPr>
            <a:lstStyle/>
            <a:p>
              <a:pPr algn="ctr">
                <a:lnSpc>
                  <a:spcPts val="3129"/>
                </a:lnSpc>
                <a:spcBef>
                  <a:spcPct val="0"/>
                </a:spcBef>
              </a:pPr>
              <a:r>
                <a:rPr lang="en-US" sz="2235">
                  <a:solidFill>
                    <a:srgbClr val="000000"/>
                  </a:solidFill>
                  <a:latin typeface="Inter"/>
                  <a:ea typeface="Inter"/>
                  <a:cs typeface="Inter"/>
                  <a:sym typeface="Inter"/>
                </a:rPr>
                <a:t> UX tốt</a:t>
              </a:r>
            </a:p>
          </p:txBody>
        </p:sp>
        <p:sp>
          <p:nvSpPr>
            <p:cNvPr name="TextBox 29" id="29"/>
            <p:cNvSpPr txBox="true"/>
            <p:nvPr/>
          </p:nvSpPr>
          <p:spPr>
            <a:xfrm rot="0">
              <a:off x="4448184" y="882801"/>
              <a:ext cx="1233187" cy="1473852"/>
            </a:xfrm>
            <a:prstGeom prst="rect">
              <a:avLst/>
            </a:prstGeom>
          </p:spPr>
          <p:txBody>
            <a:bodyPr anchor="t" rtlCol="false" tIns="0" lIns="0" bIns="0" rIns="0">
              <a:spAutoFit/>
            </a:bodyPr>
            <a:lstStyle/>
            <a:p>
              <a:pPr algn="ctr">
                <a:lnSpc>
                  <a:spcPts val="3004"/>
                </a:lnSpc>
              </a:pPr>
              <a:r>
                <a:rPr lang="en-US" sz="2145">
                  <a:solidFill>
                    <a:srgbClr val="000000"/>
                  </a:solidFill>
                  <a:latin typeface="Inter"/>
                  <a:ea typeface="Inter"/>
                  <a:cs typeface="Inter"/>
                  <a:sym typeface="Inter"/>
                </a:rPr>
                <a:t>Render</a:t>
              </a:r>
            </a:p>
            <a:p>
              <a:pPr algn="ctr">
                <a:lnSpc>
                  <a:spcPts val="3004"/>
                </a:lnSpc>
              </a:pPr>
              <a:r>
                <a:rPr lang="en-US" sz="2145">
                  <a:solidFill>
                    <a:srgbClr val="000000"/>
                  </a:solidFill>
                  <a:latin typeface="Inter"/>
                  <a:ea typeface="Inter"/>
                  <a:cs typeface="Inter"/>
                  <a:sym typeface="Inter"/>
                </a:rPr>
                <a:t>nhanh</a:t>
              </a:r>
            </a:p>
            <a:p>
              <a:pPr algn="ctr">
                <a:lnSpc>
                  <a:spcPts val="3004"/>
                </a:lnSpc>
                <a:spcBef>
                  <a:spcPct val="0"/>
                </a:spcBef>
              </a:pPr>
              <a:r>
                <a:rPr lang="en-US" sz="2145">
                  <a:solidFill>
                    <a:srgbClr val="000000"/>
                  </a:solidFill>
                  <a:latin typeface="Inter"/>
                  <a:ea typeface="Inter"/>
                  <a:cs typeface="Inter"/>
                  <a:sym typeface="Inter"/>
                </a:rPr>
                <a:t>hơn</a:t>
              </a:r>
            </a:p>
          </p:txBody>
        </p:sp>
        <p:sp>
          <p:nvSpPr>
            <p:cNvPr name="TextBox 30" id="30"/>
            <p:cNvSpPr txBox="true"/>
            <p:nvPr/>
          </p:nvSpPr>
          <p:spPr>
            <a:xfrm rot="0">
              <a:off x="1864939" y="2386111"/>
              <a:ext cx="1207297" cy="974219"/>
            </a:xfrm>
            <a:prstGeom prst="rect">
              <a:avLst/>
            </a:prstGeom>
          </p:spPr>
          <p:txBody>
            <a:bodyPr anchor="t" rtlCol="false" tIns="0" lIns="0" bIns="0" rIns="0">
              <a:spAutoFit/>
            </a:bodyPr>
            <a:lstStyle/>
            <a:p>
              <a:pPr algn="ctr">
                <a:lnSpc>
                  <a:spcPts val="3004"/>
                </a:lnSpc>
              </a:pPr>
              <a:r>
                <a:rPr lang="en-US" sz="2145">
                  <a:solidFill>
                    <a:srgbClr val="000000"/>
                  </a:solidFill>
                  <a:latin typeface="Inter"/>
                  <a:ea typeface="Inter"/>
                  <a:cs typeface="Inter"/>
                  <a:sym typeface="Inter"/>
                </a:rPr>
                <a:t>Dễ viết</a:t>
              </a:r>
            </a:p>
            <a:p>
              <a:pPr algn="ctr">
                <a:lnSpc>
                  <a:spcPts val="3004"/>
                </a:lnSpc>
                <a:spcBef>
                  <a:spcPct val="0"/>
                </a:spcBef>
              </a:pPr>
              <a:r>
                <a:rPr lang="en-US" sz="2145">
                  <a:solidFill>
                    <a:srgbClr val="000000"/>
                  </a:solidFill>
                  <a:latin typeface="Inter"/>
                  <a:ea typeface="Inter"/>
                  <a:cs typeface="Inter"/>
                  <a:sym typeface="Inter"/>
                </a:rPr>
                <a:t>mã</a:t>
              </a:r>
            </a:p>
          </p:txBody>
        </p:sp>
        <p:sp>
          <p:nvSpPr>
            <p:cNvPr name="TextBox 31" id="31"/>
            <p:cNvSpPr txBox="true"/>
            <p:nvPr/>
          </p:nvSpPr>
          <p:spPr>
            <a:xfrm rot="0">
              <a:off x="2948234" y="7192876"/>
              <a:ext cx="1405674" cy="1408748"/>
            </a:xfrm>
            <a:prstGeom prst="rect">
              <a:avLst/>
            </a:prstGeom>
          </p:spPr>
          <p:txBody>
            <a:bodyPr anchor="t" rtlCol="false" tIns="0" lIns="0" bIns="0" rIns="0">
              <a:spAutoFit/>
            </a:bodyPr>
            <a:lstStyle/>
            <a:p>
              <a:pPr algn="ctr">
                <a:lnSpc>
                  <a:spcPts val="2879"/>
                </a:lnSpc>
              </a:pPr>
              <a:r>
                <a:rPr lang="en-US" sz="2056">
                  <a:solidFill>
                    <a:srgbClr val="000000"/>
                  </a:solidFill>
                  <a:latin typeface="Inter"/>
                  <a:ea typeface="Inter"/>
                  <a:cs typeface="Inter"/>
                  <a:sym typeface="Inter"/>
                </a:rPr>
                <a:t>Tối ưu</a:t>
              </a:r>
            </a:p>
            <a:p>
              <a:pPr algn="ctr">
                <a:lnSpc>
                  <a:spcPts val="2879"/>
                </a:lnSpc>
              </a:pPr>
              <a:r>
                <a:rPr lang="en-US" sz="2056">
                  <a:solidFill>
                    <a:srgbClr val="000000"/>
                  </a:solidFill>
                  <a:latin typeface="Inter"/>
                  <a:ea typeface="Inter"/>
                  <a:cs typeface="Inter"/>
                  <a:sym typeface="Inter"/>
                </a:rPr>
                <a:t>hoá hình</a:t>
              </a:r>
            </a:p>
            <a:p>
              <a:pPr algn="ctr">
                <a:lnSpc>
                  <a:spcPts val="2879"/>
                </a:lnSpc>
                <a:spcBef>
                  <a:spcPct val="0"/>
                </a:spcBef>
              </a:pPr>
              <a:r>
                <a:rPr lang="en-US" sz="2056">
                  <a:solidFill>
                    <a:srgbClr val="000000"/>
                  </a:solidFill>
                  <a:latin typeface="Inter"/>
                  <a:ea typeface="Inter"/>
                  <a:cs typeface="Inter"/>
                  <a:sym typeface="Inter"/>
                </a:rPr>
                <a:t>ảnh</a:t>
              </a:r>
            </a:p>
          </p:txBody>
        </p:sp>
        <p:sp>
          <p:nvSpPr>
            <p:cNvPr name="TextBox 32" id="32"/>
            <p:cNvSpPr txBox="true"/>
            <p:nvPr/>
          </p:nvSpPr>
          <p:spPr>
            <a:xfrm rot="0">
              <a:off x="5614554" y="7149426"/>
              <a:ext cx="1947663" cy="1408748"/>
            </a:xfrm>
            <a:prstGeom prst="rect">
              <a:avLst/>
            </a:prstGeom>
          </p:spPr>
          <p:txBody>
            <a:bodyPr anchor="t" rtlCol="false" tIns="0" lIns="0" bIns="0" rIns="0">
              <a:spAutoFit/>
            </a:bodyPr>
            <a:lstStyle/>
            <a:p>
              <a:pPr algn="ctr">
                <a:lnSpc>
                  <a:spcPts val="2879"/>
                </a:lnSpc>
              </a:pPr>
              <a:r>
                <a:rPr lang="en-US" sz="2056">
                  <a:solidFill>
                    <a:srgbClr val="000000"/>
                  </a:solidFill>
                  <a:latin typeface="Inter"/>
                  <a:ea typeface="Inter"/>
                  <a:cs typeface="Inter"/>
                  <a:sym typeface="Inter"/>
                </a:rPr>
                <a:t>Xây </a:t>
              </a:r>
            </a:p>
            <a:p>
              <a:pPr algn="ctr">
                <a:lnSpc>
                  <a:spcPts val="2879"/>
                </a:lnSpc>
              </a:pPr>
              <a:r>
                <a:rPr lang="en-US" sz="2056">
                  <a:solidFill>
                    <a:srgbClr val="000000"/>
                  </a:solidFill>
                  <a:latin typeface="Inter"/>
                  <a:ea typeface="Inter"/>
                  <a:cs typeface="Inter"/>
                  <a:sym typeface="Inter"/>
                </a:rPr>
                <a:t>dựng ứng </a:t>
              </a:r>
            </a:p>
            <a:p>
              <a:pPr algn="ctr">
                <a:lnSpc>
                  <a:spcPts val="2879"/>
                </a:lnSpc>
                <a:spcBef>
                  <a:spcPct val="0"/>
                </a:spcBef>
              </a:pPr>
              <a:r>
                <a:rPr lang="en-US" sz="2056">
                  <a:solidFill>
                    <a:srgbClr val="000000"/>
                  </a:solidFill>
                  <a:latin typeface="Inter"/>
                  <a:ea typeface="Inter"/>
                  <a:cs typeface="Inter"/>
                  <a:sym typeface="Inter"/>
                </a:rPr>
                <a:t>dụng nhanh</a:t>
              </a:r>
            </a:p>
          </p:txBody>
        </p:sp>
      </p:grpSp>
      <p:sp>
        <p:nvSpPr>
          <p:cNvPr name="TextBox 33" id="33"/>
          <p:cNvSpPr txBox="true"/>
          <p:nvPr/>
        </p:nvSpPr>
        <p:spPr>
          <a:xfrm rot="0">
            <a:off x="763112" y="5390759"/>
            <a:ext cx="7774662" cy="986155"/>
          </a:xfrm>
          <a:prstGeom prst="rect">
            <a:avLst/>
          </a:prstGeom>
        </p:spPr>
        <p:txBody>
          <a:bodyPr anchor="t" rtlCol="false" tIns="0" lIns="0" bIns="0" rIns="0">
            <a:spAutoFit/>
          </a:bodyPr>
          <a:lstStyle/>
          <a:p>
            <a:pPr algn="just" marL="0" indent="0" lvl="0">
              <a:lnSpc>
                <a:spcPts val="3919"/>
              </a:lnSpc>
              <a:spcBef>
                <a:spcPct val="0"/>
              </a:spcBef>
            </a:pPr>
            <a:r>
              <a:rPr lang="en-US" sz="2799" strike="noStrike" u="none">
                <a:solidFill>
                  <a:srgbClr val="000000"/>
                </a:solidFill>
                <a:latin typeface="Inter"/>
                <a:ea typeface="Inter"/>
                <a:cs typeface="Inter"/>
                <a:sym typeface="Inter"/>
              </a:rPr>
              <a:t>Đây là lựa chọn phổ biến cho các dự án cần hiệu năng cao và trải nghiệm người dùng tốt.</a:t>
            </a:r>
          </a:p>
        </p:txBody>
      </p:sp>
      <p:sp>
        <p:nvSpPr>
          <p:cNvPr name="AutoShape 34" id="34"/>
          <p:cNvSpPr/>
          <p:nvPr/>
        </p:nvSpPr>
        <p:spPr>
          <a:xfrm>
            <a:off x="705967" y="9253538"/>
            <a:ext cx="16872456" cy="4762"/>
          </a:xfrm>
          <a:prstGeom prst="line">
            <a:avLst/>
          </a:prstGeom>
          <a:ln cap="rnd" w="19050">
            <a:solidFill>
              <a:srgbClr val="4BADD6"/>
            </a:solidFill>
            <a:prstDash val="solid"/>
            <a:headEnd type="none" len="sm" w="sm"/>
            <a:tailEnd type="none" len="sm" w="sm"/>
          </a:ln>
        </p:spPr>
      </p:sp>
      <p:sp>
        <p:nvSpPr>
          <p:cNvPr name="TextBox 35" id="35"/>
          <p:cNvSpPr txBox="true"/>
          <p:nvPr/>
        </p:nvSpPr>
        <p:spPr>
          <a:xfrm rot="0">
            <a:off x="763112" y="9369641"/>
            <a:ext cx="12119638" cy="409575"/>
          </a:xfrm>
          <a:prstGeom prst="rect">
            <a:avLst/>
          </a:prstGeom>
        </p:spPr>
        <p:txBody>
          <a:bodyPr anchor="t" rtlCol="false" tIns="0" lIns="0" bIns="0" rIns="0">
            <a:spAutoFit/>
          </a:bodyPr>
          <a:lstStyle/>
          <a:p>
            <a:pPr algn="l" marL="0" indent="0" lvl="0">
              <a:lnSpc>
                <a:spcPts val="3120"/>
              </a:lnSpc>
              <a:spcBef>
                <a:spcPct val="0"/>
              </a:spcBef>
            </a:pPr>
            <a:r>
              <a:rPr lang="en-US" b="true" sz="2600" spc="72" strike="noStrike" u="none">
                <a:solidFill>
                  <a:srgbClr val="00618A"/>
                </a:solidFill>
                <a:latin typeface="Arimo Bold"/>
                <a:ea typeface="Arimo Bold"/>
                <a:cs typeface="Arimo Bold"/>
                <a:sym typeface="Arimo Bold"/>
              </a:rPr>
              <a:t>XÂY DỰNG HỆ THỐNG TẠO VÀ ĐÁNH GIÁ</a:t>
            </a:r>
            <a:r>
              <a:rPr lang="en-US" b="true" sz="2600" spc="72" strike="noStrike" u="none">
                <a:solidFill>
                  <a:srgbClr val="00618A"/>
                </a:solidFill>
                <a:latin typeface="Arimo Bold"/>
                <a:ea typeface="Arimo Bold"/>
                <a:cs typeface="Arimo Bold"/>
                <a:sym typeface="Arimo Bold"/>
              </a:rPr>
              <a:t> HỒ SƠ XIN VIỆC TÍCH HỢP AI</a:t>
            </a:r>
          </a:p>
        </p:txBody>
      </p:sp>
      <p:sp>
        <p:nvSpPr>
          <p:cNvPr name="TextBox 36" id="36"/>
          <p:cNvSpPr txBox="true"/>
          <p:nvPr/>
        </p:nvSpPr>
        <p:spPr>
          <a:xfrm rot="0">
            <a:off x="17259300" y="9369641"/>
            <a:ext cx="245942" cy="409575"/>
          </a:xfrm>
          <a:prstGeom prst="rect">
            <a:avLst/>
          </a:prstGeom>
        </p:spPr>
        <p:txBody>
          <a:bodyPr anchor="t" rtlCol="false" tIns="0" lIns="0" bIns="0" rIns="0">
            <a:spAutoFit/>
          </a:bodyPr>
          <a:lstStyle/>
          <a:p>
            <a:pPr algn="l" marL="0" indent="0" lvl="0">
              <a:lnSpc>
                <a:spcPts val="3120"/>
              </a:lnSpc>
              <a:spcBef>
                <a:spcPct val="0"/>
              </a:spcBef>
            </a:pPr>
            <a:r>
              <a:rPr lang="en-US" b="true" sz="2600" spc="72">
                <a:solidFill>
                  <a:srgbClr val="00618A"/>
                </a:solidFill>
                <a:latin typeface="Arimo Bold"/>
                <a:ea typeface="Arimo Bold"/>
                <a:cs typeface="Arimo Bold"/>
                <a:sym typeface="Arimo Bold"/>
              </a:rPr>
              <a:t>6</a:t>
            </a:r>
          </a:p>
        </p:txBody>
      </p:sp>
      <p:sp>
        <p:nvSpPr>
          <p:cNvPr name="AutoShape 37" id="37"/>
          <p:cNvSpPr/>
          <p:nvPr/>
        </p:nvSpPr>
        <p:spPr>
          <a:xfrm flipH="true">
            <a:off x="763112" y="716667"/>
            <a:ext cx="0" cy="771525"/>
          </a:xfrm>
          <a:prstGeom prst="line">
            <a:avLst/>
          </a:prstGeom>
          <a:ln cap="rnd" w="114300">
            <a:solidFill>
              <a:srgbClr val="075985">
                <a:alpha val="46667"/>
              </a:srgbClr>
            </a:solidFill>
            <a:prstDash val="solid"/>
            <a:headEnd type="none" len="sm" w="sm"/>
            <a:tailEnd type="none" len="sm" w="sm"/>
          </a:ln>
        </p:spPr>
      </p:sp>
      <p:sp>
        <p:nvSpPr>
          <p:cNvPr name="Freeform 38" id="38"/>
          <p:cNvSpPr/>
          <p:nvPr/>
        </p:nvSpPr>
        <p:spPr>
          <a:xfrm flipH="false" flipV="false" rot="0">
            <a:off x="16713285" y="707142"/>
            <a:ext cx="865138" cy="854186"/>
          </a:xfrm>
          <a:custGeom>
            <a:avLst/>
            <a:gdLst/>
            <a:ahLst/>
            <a:cxnLst/>
            <a:rect r="r" b="b" t="t" l="l"/>
            <a:pathLst>
              <a:path h="854186" w="865138">
                <a:moveTo>
                  <a:pt x="0" y="0"/>
                </a:moveTo>
                <a:lnTo>
                  <a:pt x="865138" y="0"/>
                </a:lnTo>
                <a:lnTo>
                  <a:pt x="865138" y="854186"/>
                </a:lnTo>
                <a:lnTo>
                  <a:pt x="0" y="854186"/>
                </a:lnTo>
                <a:lnTo>
                  <a:pt x="0" y="0"/>
                </a:lnTo>
                <a:close/>
              </a:path>
            </a:pathLst>
          </a:custGeom>
          <a:blipFill>
            <a:blip r:embed="rId3"/>
            <a:stretch>
              <a:fillRect l="0" t="0" r="0" b="0"/>
            </a:stretch>
          </a:blipFill>
        </p:spPr>
      </p:sp>
      <p:sp>
        <p:nvSpPr>
          <p:cNvPr name="TextBox 39" id="39"/>
          <p:cNvSpPr txBox="true"/>
          <p:nvPr/>
        </p:nvSpPr>
        <p:spPr>
          <a:xfrm rot="0">
            <a:off x="1041536" y="688092"/>
            <a:ext cx="3914009" cy="438150"/>
          </a:xfrm>
          <a:prstGeom prst="rect">
            <a:avLst/>
          </a:prstGeom>
        </p:spPr>
        <p:txBody>
          <a:bodyPr anchor="t" rtlCol="false" tIns="0" lIns="0" bIns="0" rIns="0">
            <a:spAutoFit/>
          </a:bodyPr>
          <a:lstStyle/>
          <a:p>
            <a:pPr algn="l" marL="0" indent="0" lvl="0">
              <a:lnSpc>
                <a:spcPts val="3359"/>
              </a:lnSpc>
              <a:spcBef>
                <a:spcPct val="0"/>
              </a:spcBef>
            </a:pPr>
            <a:r>
              <a:rPr lang="en-US" sz="2799" i="true" spc="77">
                <a:solidFill>
                  <a:srgbClr val="00618A"/>
                </a:solidFill>
                <a:latin typeface="Arimo Italics"/>
                <a:ea typeface="Arimo Italics"/>
                <a:cs typeface="Arimo Italics"/>
                <a:sym typeface="Arimo Italics"/>
              </a:rPr>
              <a:t>2. Cơ sở lý thuyết</a:t>
            </a:r>
          </a:p>
        </p:txBody>
      </p:sp>
      <p:sp>
        <p:nvSpPr>
          <p:cNvPr name="TextBox 40" id="40"/>
          <p:cNvSpPr txBox="true"/>
          <p:nvPr/>
        </p:nvSpPr>
        <p:spPr>
          <a:xfrm rot="0">
            <a:off x="1041536" y="1078617"/>
            <a:ext cx="6067738" cy="438150"/>
          </a:xfrm>
          <a:prstGeom prst="rect">
            <a:avLst/>
          </a:prstGeom>
        </p:spPr>
        <p:txBody>
          <a:bodyPr anchor="t" rtlCol="false" tIns="0" lIns="0" bIns="0" rIns="0">
            <a:spAutoFit/>
          </a:bodyPr>
          <a:lstStyle/>
          <a:p>
            <a:pPr algn="l" marL="0" indent="0" lvl="0">
              <a:lnSpc>
                <a:spcPts val="3359"/>
              </a:lnSpc>
              <a:spcBef>
                <a:spcPct val="0"/>
              </a:spcBef>
            </a:pPr>
            <a:r>
              <a:rPr lang="en-US" b="true" sz="2799" spc="77">
                <a:solidFill>
                  <a:srgbClr val="00618A"/>
                </a:solidFill>
                <a:latin typeface="Arimo Bold"/>
                <a:ea typeface="Arimo Bold"/>
                <a:cs typeface="Arimo Bold"/>
                <a:sym typeface="Arimo Bold"/>
              </a:rPr>
              <a:t>NEXT.js</a:t>
            </a:r>
          </a:p>
        </p:txBody>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168512" y="1844719"/>
            <a:ext cx="11969069" cy="6136239"/>
            <a:chOff x="0" y="0"/>
            <a:chExt cx="15958758" cy="8181652"/>
          </a:xfrm>
        </p:grpSpPr>
        <p:sp>
          <p:nvSpPr>
            <p:cNvPr name="Freeform 3" id="3"/>
            <p:cNvSpPr/>
            <p:nvPr/>
          </p:nvSpPr>
          <p:spPr>
            <a:xfrm flipH="false" flipV="false" rot="0">
              <a:off x="0" y="0"/>
              <a:ext cx="15958758" cy="8181652"/>
            </a:xfrm>
            <a:custGeom>
              <a:avLst/>
              <a:gdLst/>
              <a:ahLst/>
              <a:cxnLst/>
              <a:rect r="r" b="b" t="t" l="l"/>
              <a:pathLst>
                <a:path h="8181652" w="15958758">
                  <a:moveTo>
                    <a:pt x="0" y="0"/>
                  </a:moveTo>
                  <a:lnTo>
                    <a:pt x="15958758" y="0"/>
                  </a:lnTo>
                  <a:lnTo>
                    <a:pt x="15958758" y="8181652"/>
                  </a:lnTo>
                  <a:lnTo>
                    <a:pt x="0" y="8181652"/>
                  </a:lnTo>
                  <a:lnTo>
                    <a:pt x="0" y="0"/>
                  </a:lnTo>
                  <a:close/>
                </a:path>
              </a:pathLst>
            </a:custGeom>
            <a:blipFill>
              <a:blip r:embed="rId2"/>
              <a:stretch>
                <a:fillRect l="-793" t="-13528" r="0" b="-19178"/>
              </a:stretch>
            </a:blipFill>
          </p:spPr>
        </p:sp>
        <p:grpSp>
          <p:nvGrpSpPr>
            <p:cNvPr name="Group 4" id="4"/>
            <p:cNvGrpSpPr/>
            <p:nvPr/>
          </p:nvGrpSpPr>
          <p:grpSpPr>
            <a:xfrm rot="0">
              <a:off x="2192245" y="1319908"/>
              <a:ext cx="5270471" cy="822456"/>
              <a:chOff x="0" y="0"/>
              <a:chExt cx="1208036" cy="188514"/>
            </a:xfrm>
          </p:grpSpPr>
          <p:sp>
            <p:nvSpPr>
              <p:cNvPr name="Freeform 5" id="5"/>
              <p:cNvSpPr/>
              <p:nvPr/>
            </p:nvSpPr>
            <p:spPr>
              <a:xfrm flipH="false" flipV="false" rot="0">
                <a:off x="0" y="0"/>
                <a:ext cx="1208036" cy="188514"/>
              </a:xfrm>
              <a:custGeom>
                <a:avLst/>
                <a:gdLst/>
                <a:ahLst/>
                <a:cxnLst/>
                <a:rect r="r" b="b" t="t" l="l"/>
                <a:pathLst>
                  <a:path h="188514" w="1208036">
                    <a:moveTo>
                      <a:pt x="0" y="0"/>
                    </a:moveTo>
                    <a:lnTo>
                      <a:pt x="1208036" y="0"/>
                    </a:lnTo>
                    <a:lnTo>
                      <a:pt x="1208036" y="188514"/>
                    </a:lnTo>
                    <a:lnTo>
                      <a:pt x="0" y="188514"/>
                    </a:lnTo>
                    <a:close/>
                  </a:path>
                </a:pathLst>
              </a:custGeom>
              <a:solidFill>
                <a:srgbClr val="D6E1FF"/>
              </a:solidFill>
            </p:spPr>
          </p:sp>
          <p:sp>
            <p:nvSpPr>
              <p:cNvPr name="TextBox 6" id="6"/>
              <p:cNvSpPr txBox="true"/>
              <p:nvPr/>
            </p:nvSpPr>
            <p:spPr>
              <a:xfrm>
                <a:off x="0" y="-47625"/>
                <a:ext cx="1208036" cy="236139"/>
              </a:xfrm>
              <a:prstGeom prst="rect">
                <a:avLst/>
              </a:prstGeom>
            </p:spPr>
            <p:txBody>
              <a:bodyPr anchor="ctr" rtlCol="false" tIns="50800" lIns="50800" bIns="50800" rIns="50800"/>
              <a:lstStyle/>
              <a:p>
                <a:pPr algn="ctr">
                  <a:lnSpc>
                    <a:spcPts val="3499"/>
                  </a:lnSpc>
                </a:pPr>
              </a:p>
            </p:txBody>
          </p:sp>
        </p:grpSp>
        <p:sp>
          <p:nvSpPr>
            <p:cNvPr name="TextBox 7" id="7"/>
            <p:cNvSpPr txBox="true"/>
            <p:nvPr/>
          </p:nvSpPr>
          <p:spPr>
            <a:xfrm rot="0">
              <a:off x="2604423" y="1468263"/>
              <a:ext cx="4187757" cy="478121"/>
            </a:xfrm>
            <a:prstGeom prst="rect">
              <a:avLst/>
            </a:prstGeom>
          </p:spPr>
          <p:txBody>
            <a:bodyPr anchor="t" rtlCol="false" tIns="0" lIns="0" bIns="0" rIns="0">
              <a:spAutoFit/>
            </a:bodyPr>
            <a:lstStyle/>
            <a:p>
              <a:pPr algn="ctr">
                <a:lnSpc>
                  <a:spcPts val="3016"/>
                </a:lnSpc>
                <a:spcBef>
                  <a:spcPct val="0"/>
                </a:spcBef>
              </a:pPr>
              <a:r>
                <a:rPr lang="en-US" sz="2154">
                  <a:solidFill>
                    <a:srgbClr val="000000"/>
                  </a:solidFill>
                  <a:latin typeface="Inter"/>
                  <a:ea typeface="Inter"/>
                  <a:cs typeface="Inter"/>
                  <a:sym typeface="Inter"/>
                </a:rPr>
                <a:t>Hiệu suất tốt vượt trội</a:t>
              </a:r>
            </a:p>
          </p:txBody>
        </p:sp>
        <p:grpSp>
          <p:nvGrpSpPr>
            <p:cNvPr name="Group 8" id="8"/>
            <p:cNvGrpSpPr/>
            <p:nvPr/>
          </p:nvGrpSpPr>
          <p:grpSpPr>
            <a:xfrm rot="0">
              <a:off x="2203190" y="3948257"/>
              <a:ext cx="5270471" cy="822456"/>
              <a:chOff x="0" y="0"/>
              <a:chExt cx="1208036" cy="188514"/>
            </a:xfrm>
          </p:grpSpPr>
          <p:sp>
            <p:nvSpPr>
              <p:cNvPr name="Freeform 9" id="9"/>
              <p:cNvSpPr/>
              <p:nvPr/>
            </p:nvSpPr>
            <p:spPr>
              <a:xfrm flipH="false" flipV="false" rot="0">
                <a:off x="0" y="0"/>
                <a:ext cx="1208036" cy="188514"/>
              </a:xfrm>
              <a:custGeom>
                <a:avLst/>
                <a:gdLst/>
                <a:ahLst/>
                <a:cxnLst/>
                <a:rect r="r" b="b" t="t" l="l"/>
                <a:pathLst>
                  <a:path h="188514" w="1208036">
                    <a:moveTo>
                      <a:pt x="0" y="0"/>
                    </a:moveTo>
                    <a:lnTo>
                      <a:pt x="1208036" y="0"/>
                    </a:lnTo>
                    <a:lnTo>
                      <a:pt x="1208036" y="188514"/>
                    </a:lnTo>
                    <a:lnTo>
                      <a:pt x="0" y="188514"/>
                    </a:lnTo>
                    <a:close/>
                  </a:path>
                </a:pathLst>
              </a:custGeom>
              <a:solidFill>
                <a:srgbClr val="FEE7D7"/>
              </a:solidFill>
            </p:spPr>
          </p:sp>
          <p:sp>
            <p:nvSpPr>
              <p:cNvPr name="TextBox 10" id="10"/>
              <p:cNvSpPr txBox="true"/>
              <p:nvPr/>
            </p:nvSpPr>
            <p:spPr>
              <a:xfrm>
                <a:off x="0" y="-47625"/>
                <a:ext cx="1208036" cy="236139"/>
              </a:xfrm>
              <a:prstGeom prst="rect">
                <a:avLst/>
              </a:prstGeom>
            </p:spPr>
            <p:txBody>
              <a:bodyPr anchor="ctr" rtlCol="false" tIns="50800" lIns="50800" bIns="50800" rIns="50800"/>
              <a:lstStyle/>
              <a:p>
                <a:pPr algn="ctr">
                  <a:lnSpc>
                    <a:spcPts val="3499"/>
                  </a:lnSpc>
                </a:pPr>
              </a:p>
            </p:txBody>
          </p:sp>
        </p:grpSp>
        <p:grpSp>
          <p:nvGrpSpPr>
            <p:cNvPr name="Group 11" id="11"/>
            <p:cNvGrpSpPr/>
            <p:nvPr/>
          </p:nvGrpSpPr>
          <p:grpSpPr>
            <a:xfrm rot="0">
              <a:off x="2192245" y="6390544"/>
              <a:ext cx="5270471" cy="822456"/>
              <a:chOff x="0" y="0"/>
              <a:chExt cx="1208036" cy="188514"/>
            </a:xfrm>
          </p:grpSpPr>
          <p:sp>
            <p:nvSpPr>
              <p:cNvPr name="Freeform 12" id="12"/>
              <p:cNvSpPr/>
              <p:nvPr/>
            </p:nvSpPr>
            <p:spPr>
              <a:xfrm flipH="false" flipV="false" rot="0">
                <a:off x="0" y="0"/>
                <a:ext cx="1208036" cy="188514"/>
              </a:xfrm>
              <a:custGeom>
                <a:avLst/>
                <a:gdLst/>
                <a:ahLst/>
                <a:cxnLst/>
                <a:rect r="r" b="b" t="t" l="l"/>
                <a:pathLst>
                  <a:path h="188514" w="1208036">
                    <a:moveTo>
                      <a:pt x="0" y="0"/>
                    </a:moveTo>
                    <a:lnTo>
                      <a:pt x="1208036" y="0"/>
                    </a:lnTo>
                    <a:lnTo>
                      <a:pt x="1208036" y="188514"/>
                    </a:lnTo>
                    <a:lnTo>
                      <a:pt x="0" y="188514"/>
                    </a:lnTo>
                    <a:close/>
                  </a:path>
                </a:pathLst>
              </a:custGeom>
              <a:solidFill>
                <a:srgbClr val="F3D8FC"/>
              </a:solidFill>
            </p:spPr>
          </p:sp>
          <p:sp>
            <p:nvSpPr>
              <p:cNvPr name="TextBox 13" id="13"/>
              <p:cNvSpPr txBox="true"/>
              <p:nvPr/>
            </p:nvSpPr>
            <p:spPr>
              <a:xfrm>
                <a:off x="0" y="-47625"/>
                <a:ext cx="1208036" cy="236139"/>
              </a:xfrm>
              <a:prstGeom prst="rect">
                <a:avLst/>
              </a:prstGeom>
            </p:spPr>
            <p:txBody>
              <a:bodyPr anchor="ctr" rtlCol="false" tIns="50800" lIns="50800" bIns="50800" rIns="50800"/>
              <a:lstStyle/>
              <a:p>
                <a:pPr algn="ctr">
                  <a:lnSpc>
                    <a:spcPts val="3499"/>
                  </a:lnSpc>
                </a:pPr>
              </a:p>
            </p:txBody>
          </p:sp>
        </p:grpSp>
        <p:grpSp>
          <p:nvGrpSpPr>
            <p:cNvPr name="Group 14" id="14"/>
            <p:cNvGrpSpPr/>
            <p:nvPr/>
          </p:nvGrpSpPr>
          <p:grpSpPr>
            <a:xfrm rot="0">
              <a:off x="9743259" y="1319908"/>
              <a:ext cx="5270471" cy="822456"/>
              <a:chOff x="0" y="0"/>
              <a:chExt cx="1208036" cy="188514"/>
            </a:xfrm>
          </p:grpSpPr>
          <p:sp>
            <p:nvSpPr>
              <p:cNvPr name="Freeform 15" id="15"/>
              <p:cNvSpPr/>
              <p:nvPr/>
            </p:nvSpPr>
            <p:spPr>
              <a:xfrm flipH="false" flipV="false" rot="0">
                <a:off x="0" y="0"/>
                <a:ext cx="1208036" cy="188514"/>
              </a:xfrm>
              <a:custGeom>
                <a:avLst/>
                <a:gdLst/>
                <a:ahLst/>
                <a:cxnLst/>
                <a:rect r="r" b="b" t="t" l="l"/>
                <a:pathLst>
                  <a:path h="188514" w="1208036">
                    <a:moveTo>
                      <a:pt x="0" y="0"/>
                    </a:moveTo>
                    <a:lnTo>
                      <a:pt x="1208036" y="0"/>
                    </a:lnTo>
                    <a:lnTo>
                      <a:pt x="1208036" y="188514"/>
                    </a:lnTo>
                    <a:lnTo>
                      <a:pt x="0" y="188514"/>
                    </a:lnTo>
                    <a:close/>
                  </a:path>
                </a:pathLst>
              </a:custGeom>
              <a:solidFill>
                <a:srgbClr val="FCD7DE"/>
              </a:solidFill>
            </p:spPr>
          </p:sp>
          <p:sp>
            <p:nvSpPr>
              <p:cNvPr name="TextBox 16" id="16"/>
              <p:cNvSpPr txBox="true"/>
              <p:nvPr/>
            </p:nvSpPr>
            <p:spPr>
              <a:xfrm>
                <a:off x="0" y="-47625"/>
                <a:ext cx="1208036" cy="236139"/>
              </a:xfrm>
              <a:prstGeom prst="rect">
                <a:avLst/>
              </a:prstGeom>
            </p:spPr>
            <p:txBody>
              <a:bodyPr anchor="ctr" rtlCol="false" tIns="50800" lIns="50800" bIns="50800" rIns="50800"/>
              <a:lstStyle/>
              <a:p>
                <a:pPr algn="ctr">
                  <a:lnSpc>
                    <a:spcPts val="3499"/>
                  </a:lnSpc>
                </a:pPr>
              </a:p>
            </p:txBody>
          </p:sp>
        </p:grpSp>
        <p:grpSp>
          <p:nvGrpSpPr>
            <p:cNvPr name="Group 17" id="17"/>
            <p:cNvGrpSpPr/>
            <p:nvPr/>
          </p:nvGrpSpPr>
          <p:grpSpPr>
            <a:xfrm rot="0">
              <a:off x="9743259" y="3948257"/>
              <a:ext cx="5270471" cy="822456"/>
              <a:chOff x="0" y="0"/>
              <a:chExt cx="1208036" cy="188514"/>
            </a:xfrm>
          </p:grpSpPr>
          <p:sp>
            <p:nvSpPr>
              <p:cNvPr name="Freeform 18" id="18"/>
              <p:cNvSpPr/>
              <p:nvPr/>
            </p:nvSpPr>
            <p:spPr>
              <a:xfrm flipH="false" flipV="false" rot="0">
                <a:off x="0" y="0"/>
                <a:ext cx="1208036" cy="188514"/>
              </a:xfrm>
              <a:custGeom>
                <a:avLst/>
                <a:gdLst/>
                <a:ahLst/>
                <a:cxnLst/>
                <a:rect r="r" b="b" t="t" l="l"/>
                <a:pathLst>
                  <a:path h="188514" w="1208036">
                    <a:moveTo>
                      <a:pt x="0" y="0"/>
                    </a:moveTo>
                    <a:lnTo>
                      <a:pt x="1208036" y="0"/>
                    </a:lnTo>
                    <a:lnTo>
                      <a:pt x="1208036" y="188514"/>
                    </a:lnTo>
                    <a:lnTo>
                      <a:pt x="0" y="188514"/>
                    </a:lnTo>
                    <a:close/>
                  </a:path>
                </a:pathLst>
              </a:custGeom>
              <a:solidFill>
                <a:srgbClr val="E0FBB8"/>
              </a:solidFill>
            </p:spPr>
          </p:sp>
          <p:sp>
            <p:nvSpPr>
              <p:cNvPr name="TextBox 19" id="19"/>
              <p:cNvSpPr txBox="true"/>
              <p:nvPr/>
            </p:nvSpPr>
            <p:spPr>
              <a:xfrm>
                <a:off x="0" y="-47625"/>
                <a:ext cx="1208036" cy="236139"/>
              </a:xfrm>
              <a:prstGeom prst="rect">
                <a:avLst/>
              </a:prstGeom>
            </p:spPr>
            <p:txBody>
              <a:bodyPr anchor="ctr" rtlCol="false" tIns="50800" lIns="50800" bIns="50800" rIns="50800"/>
              <a:lstStyle/>
              <a:p>
                <a:pPr algn="ctr">
                  <a:lnSpc>
                    <a:spcPts val="3499"/>
                  </a:lnSpc>
                </a:pPr>
              </a:p>
            </p:txBody>
          </p:sp>
        </p:grpSp>
        <p:grpSp>
          <p:nvGrpSpPr>
            <p:cNvPr name="Group 20" id="20"/>
            <p:cNvGrpSpPr/>
            <p:nvPr/>
          </p:nvGrpSpPr>
          <p:grpSpPr>
            <a:xfrm rot="0">
              <a:off x="9743259" y="6390544"/>
              <a:ext cx="5270471" cy="822456"/>
              <a:chOff x="0" y="0"/>
              <a:chExt cx="1208036" cy="188514"/>
            </a:xfrm>
          </p:grpSpPr>
          <p:sp>
            <p:nvSpPr>
              <p:cNvPr name="Freeform 21" id="21"/>
              <p:cNvSpPr/>
              <p:nvPr/>
            </p:nvSpPr>
            <p:spPr>
              <a:xfrm flipH="false" flipV="false" rot="0">
                <a:off x="0" y="0"/>
                <a:ext cx="1208036" cy="188514"/>
              </a:xfrm>
              <a:custGeom>
                <a:avLst/>
                <a:gdLst/>
                <a:ahLst/>
                <a:cxnLst/>
                <a:rect r="r" b="b" t="t" l="l"/>
                <a:pathLst>
                  <a:path h="188514" w="1208036">
                    <a:moveTo>
                      <a:pt x="0" y="0"/>
                    </a:moveTo>
                    <a:lnTo>
                      <a:pt x="1208036" y="0"/>
                    </a:lnTo>
                    <a:lnTo>
                      <a:pt x="1208036" y="188514"/>
                    </a:lnTo>
                    <a:lnTo>
                      <a:pt x="0" y="188514"/>
                    </a:lnTo>
                    <a:close/>
                  </a:path>
                </a:pathLst>
              </a:custGeom>
              <a:solidFill>
                <a:srgbClr val="B7F0F6"/>
              </a:solidFill>
            </p:spPr>
          </p:sp>
          <p:sp>
            <p:nvSpPr>
              <p:cNvPr name="TextBox 22" id="22"/>
              <p:cNvSpPr txBox="true"/>
              <p:nvPr/>
            </p:nvSpPr>
            <p:spPr>
              <a:xfrm>
                <a:off x="0" y="-47625"/>
                <a:ext cx="1208036" cy="236139"/>
              </a:xfrm>
              <a:prstGeom prst="rect">
                <a:avLst/>
              </a:prstGeom>
            </p:spPr>
            <p:txBody>
              <a:bodyPr anchor="ctr" rtlCol="false" tIns="50800" lIns="50800" bIns="50800" rIns="50800"/>
              <a:lstStyle/>
              <a:p>
                <a:pPr algn="ctr">
                  <a:lnSpc>
                    <a:spcPts val="3499"/>
                  </a:lnSpc>
                </a:pPr>
              </a:p>
            </p:txBody>
          </p:sp>
        </p:grpSp>
        <p:sp>
          <p:nvSpPr>
            <p:cNvPr name="TextBox 23" id="23"/>
            <p:cNvSpPr txBox="true"/>
            <p:nvPr/>
          </p:nvSpPr>
          <p:spPr>
            <a:xfrm rot="0">
              <a:off x="2990911" y="3844881"/>
              <a:ext cx="3414780" cy="981582"/>
            </a:xfrm>
            <a:prstGeom prst="rect">
              <a:avLst/>
            </a:prstGeom>
          </p:spPr>
          <p:txBody>
            <a:bodyPr anchor="t" rtlCol="false" tIns="0" lIns="0" bIns="0" rIns="0">
              <a:spAutoFit/>
            </a:bodyPr>
            <a:lstStyle/>
            <a:p>
              <a:pPr algn="ctr">
                <a:lnSpc>
                  <a:spcPts val="3016"/>
                </a:lnSpc>
              </a:pPr>
              <a:r>
                <a:rPr lang="en-US" sz="2154">
                  <a:solidFill>
                    <a:srgbClr val="000000"/>
                  </a:solidFill>
                  <a:latin typeface="Inter"/>
                  <a:ea typeface="Inter"/>
                  <a:cs typeface="Inter"/>
                  <a:sym typeface="Inter"/>
                </a:rPr>
                <a:t>Phát triển ứng dụng</a:t>
              </a:r>
            </a:p>
            <a:p>
              <a:pPr algn="ctr">
                <a:lnSpc>
                  <a:spcPts val="3016"/>
                </a:lnSpc>
                <a:spcBef>
                  <a:spcPct val="0"/>
                </a:spcBef>
              </a:pPr>
              <a:r>
                <a:rPr lang="en-US" sz="2154">
                  <a:solidFill>
                    <a:srgbClr val="000000"/>
                  </a:solidFill>
                  <a:latin typeface="Inter"/>
                  <a:ea typeface="Inter"/>
                  <a:cs typeface="Inter"/>
                  <a:sym typeface="Inter"/>
                </a:rPr>
                <a:t>nhanh chóng</a:t>
              </a:r>
            </a:p>
          </p:txBody>
        </p:sp>
        <p:sp>
          <p:nvSpPr>
            <p:cNvPr name="TextBox 24" id="24"/>
            <p:cNvSpPr txBox="true"/>
            <p:nvPr/>
          </p:nvSpPr>
          <p:spPr>
            <a:xfrm rot="0">
              <a:off x="10549444" y="4096612"/>
              <a:ext cx="3696609" cy="478121"/>
            </a:xfrm>
            <a:prstGeom prst="rect">
              <a:avLst/>
            </a:prstGeom>
          </p:spPr>
          <p:txBody>
            <a:bodyPr anchor="t" rtlCol="false" tIns="0" lIns="0" bIns="0" rIns="0">
              <a:spAutoFit/>
            </a:bodyPr>
            <a:lstStyle/>
            <a:p>
              <a:pPr algn="ctr">
                <a:lnSpc>
                  <a:spcPts val="3016"/>
                </a:lnSpc>
                <a:spcBef>
                  <a:spcPct val="0"/>
                </a:spcBef>
              </a:pPr>
              <a:r>
                <a:rPr lang="en-US" sz="2154">
                  <a:solidFill>
                    <a:srgbClr val="000000"/>
                  </a:solidFill>
                  <a:latin typeface="Inter"/>
                  <a:ea typeface="Inter"/>
                  <a:cs typeface="Inter"/>
                  <a:sym typeface="Inter"/>
                </a:rPr>
                <a:t>Dễ sử dụng và bảo trì</a:t>
              </a:r>
            </a:p>
          </p:txBody>
        </p:sp>
        <p:sp>
          <p:nvSpPr>
            <p:cNvPr name="TextBox 25" id="25"/>
            <p:cNvSpPr txBox="true"/>
            <p:nvPr/>
          </p:nvSpPr>
          <p:spPr>
            <a:xfrm rot="0">
              <a:off x="10549444" y="6595676"/>
              <a:ext cx="3298187" cy="478121"/>
            </a:xfrm>
            <a:prstGeom prst="rect">
              <a:avLst/>
            </a:prstGeom>
          </p:spPr>
          <p:txBody>
            <a:bodyPr anchor="t" rtlCol="false" tIns="0" lIns="0" bIns="0" rIns="0">
              <a:spAutoFit/>
            </a:bodyPr>
            <a:lstStyle/>
            <a:p>
              <a:pPr algn="ctr">
                <a:lnSpc>
                  <a:spcPts val="3016"/>
                </a:lnSpc>
                <a:spcBef>
                  <a:spcPct val="0"/>
                </a:spcBef>
              </a:pPr>
              <a:r>
                <a:rPr lang="en-US" sz="2154">
                  <a:solidFill>
                    <a:srgbClr val="000000"/>
                  </a:solidFill>
                  <a:latin typeface="Inter"/>
                  <a:ea typeface="Inter"/>
                  <a:cs typeface="Inter"/>
                  <a:sym typeface="Inter"/>
                </a:rPr>
                <a:t>Hỗ trợ từ Microsoft</a:t>
              </a:r>
            </a:p>
          </p:txBody>
        </p:sp>
        <p:sp>
          <p:nvSpPr>
            <p:cNvPr name="TextBox 26" id="26"/>
            <p:cNvSpPr txBox="true"/>
            <p:nvPr/>
          </p:nvSpPr>
          <p:spPr>
            <a:xfrm rot="0">
              <a:off x="2604423" y="6639456"/>
              <a:ext cx="4436903" cy="478121"/>
            </a:xfrm>
            <a:prstGeom prst="rect">
              <a:avLst/>
            </a:prstGeom>
          </p:spPr>
          <p:txBody>
            <a:bodyPr anchor="t" rtlCol="false" tIns="0" lIns="0" bIns="0" rIns="0">
              <a:spAutoFit/>
            </a:bodyPr>
            <a:lstStyle/>
            <a:p>
              <a:pPr algn="ctr">
                <a:lnSpc>
                  <a:spcPts val="3016"/>
                </a:lnSpc>
                <a:spcBef>
                  <a:spcPct val="0"/>
                </a:spcBef>
              </a:pPr>
              <a:r>
                <a:rPr lang="en-US" sz="2154">
                  <a:solidFill>
                    <a:srgbClr val="000000"/>
                  </a:solidFill>
                  <a:latin typeface="Inter"/>
                  <a:ea typeface="Inter"/>
                  <a:cs typeface="Inter"/>
                  <a:sym typeface="Inter"/>
                </a:rPr>
                <a:t>Bảo mật mạnh mẽ</a:t>
              </a:r>
            </a:p>
          </p:txBody>
        </p:sp>
        <p:sp>
          <p:nvSpPr>
            <p:cNvPr name="TextBox 27" id="27"/>
            <p:cNvSpPr txBox="true"/>
            <p:nvPr/>
          </p:nvSpPr>
          <p:spPr>
            <a:xfrm rot="0">
              <a:off x="10354109" y="1216532"/>
              <a:ext cx="3688856" cy="981582"/>
            </a:xfrm>
            <a:prstGeom prst="rect">
              <a:avLst/>
            </a:prstGeom>
          </p:spPr>
          <p:txBody>
            <a:bodyPr anchor="t" rtlCol="false" tIns="0" lIns="0" bIns="0" rIns="0">
              <a:spAutoFit/>
            </a:bodyPr>
            <a:lstStyle/>
            <a:p>
              <a:pPr algn="ctr">
                <a:lnSpc>
                  <a:spcPts val="3016"/>
                </a:lnSpc>
              </a:pPr>
              <a:r>
                <a:rPr lang="en-US" sz="2154">
                  <a:solidFill>
                    <a:srgbClr val="000000"/>
                  </a:solidFill>
                  <a:latin typeface="Inter"/>
                  <a:ea typeface="Inter"/>
                  <a:cs typeface="Inter"/>
                  <a:sym typeface="Inter"/>
                </a:rPr>
                <a:t>Khả năng tương thích</a:t>
              </a:r>
            </a:p>
            <a:p>
              <a:pPr algn="ctr">
                <a:lnSpc>
                  <a:spcPts val="3016"/>
                </a:lnSpc>
                <a:spcBef>
                  <a:spcPct val="0"/>
                </a:spcBef>
              </a:pPr>
              <a:r>
                <a:rPr lang="en-US" sz="2154">
                  <a:solidFill>
                    <a:srgbClr val="000000"/>
                  </a:solidFill>
                  <a:latin typeface="Inter"/>
                  <a:ea typeface="Inter"/>
                  <a:cs typeface="Inter"/>
                  <a:sym typeface="Inter"/>
                </a:rPr>
                <a:t>đa nền tảng</a:t>
              </a:r>
            </a:p>
          </p:txBody>
        </p:sp>
      </p:grpSp>
      <p:sp>
        <p:nvSpPr>
          <p:cNvPr name="TextBox 28" id="28"/>
          <p:cNvSpPr txBox="true"/>
          <p:nvPr/>
        </p:nvSpPr>
        <p:spPr>
          <a:xfrm rot="0">
            <a:off x="705967" y="4046335"/>
            <a:ext cx="4577452" cy="1976755"/>
          </a:xfrm>
          <a:prstGeom prst="rect">
            <a:avLst/>
          </a:prstGeom>
        </p:spPr>
        <p:txBody>
          <a:bodyPr anchor="t" rtlCol="false" tIns="0" lIns="0" bIns="0" rIns="0">
            <a:spAutoFit/>
          </a:bodyPr>
          <a:lstStyle/>
          <a:p>
            <a:pPr algn="just" marL="0" indent="0" lvl="0">
              <a:lnSpc>
                <a:spcPts val="3919"/>
              </a:lnSpc>
              <a:spcBef>
                <a:spcPct val="0"/>
              </a:spcBef>
            </a:pPr>
            <a:r>
              <a:rPr lang="en-US" b="true" sz="2799">
                <a:solidFill>
                  <a:srgbClr val="000000"/>
                </a:solidFill>
                <a:latin typeface="Inter Bold"/>
                <a:ea typeface="Inter Bold"/>
                <a:cs typeface="Inter Bold"/>
                <a:sym typeface="Inter Bold"/>
              </a:rPr>
              <a:t>ASP.NET Core Web API</a:t>
            </a:r>
            <a:r>
              <a:rPr lang="en-US" sz="2799">
                <a:solidFill>
                  <a:srgbClr val="000000"/>
                </a:solidFill>
                <a:latin typeface="Inter"/>
                <a:ea typeface="Inter"/>
                <a:cs typeface="Inter"/>
                <a:sym typeface="Inter"/>
              </a:rPr>
              <a:t> l</a:t>
            </a:r>
            <a:r>
              <a:rPr lang="en-US" sz="2799" strike="noStrike" u="none">
                <a:solidFill>
                  <a:srgbClr val="000000"/>
                </a:solidFill>
                <a:latin typeface="Inter"/>
                <a:ea typeface="Inter"/>
                <a:cs typeface="Inter"/>
                <a:sym typeface="Inter"/>
              </a:rPr>
              <a:t>à một phần của nền tảng phát triển phần mềm .NET do Microsoft phát triển.</a:t>
            </a:r>
          </a:p>
        </p:txBody>
      </p:sp>
      <p:sp>
        <p:nvSpPr>
          <p:cNvPr name="Freeform 29" id="29"/>
          <p:cNvSpPr/>
          <p:nvPr/>
        </p:nvSpPr>
        <p:spPr>
          <a:xfrm flipH="false" flipV="false" rot="0">
            <a:off x="2128145" y="2140419"/>
            <a:ext cx="1740793" cy="1353466"/>
          </a:xfrm>
          <a:custGeom>
            <a:avLst/>
            <a:gdLst/>
            <a:ahLst/>
            <a:cxnLst/>
            <a:rect r="r" b="b" t="t" l="l"/>
            <a:pathLst>
              <a:path h="1353466" w="1740793">
                <a:moveTo>
                  <a:pt x="0" y="0"/>
                </a:moveTo>
                <a:lnTo>
                  <a:pt x="1740792" y="0"/>
                </a:lnTo>
                <a:lnTo>
                  <a:pt x="1740792" y="1353466"/>
                </a:lnTo>
                <a:lnTo>
                  <a:pt x="0" y="1353466"/>
                </a:lnTo>
                <a:lnTo>
                  <a:pt x="0" y="0"/>
                </a:lnTo>
                <a:close/>
              </a:path>
            </a:pathLst>
          </a:custGeom>
          <a:blipFill>
            <a:blip r:embed="rId3"/>
            <a:stretch>
              <a:fillRect l="0" t="0" r="0" b="0"/>
            </a:stretch>
          </a:blipFill>
        </p:spPr>
      </p:sp>
      <p:sp>
        <p:nvSpPr>
          <p:cNvPr name="TextBox 30" id="30"/>
          <p:cNvSpPr txBox="true"/>
          <p:nvPr/>
        </p:nvSpPr>
        <p:spPr>
          <a:xfrm rot="0">
            <a:off x="705967" y="6410824"/>
            <a:ext cx="5283562" cy="1976755"/>
          </a:xfrm>
          <a:prstGeom prst="rect">
            <a:avLst/>
          </a:prstGeom>
        </p:spPr>
        <p:txBody>
          <a:bodyPr anchor="t" rtlCol="false" tIns="0" lIns="0" bIns="0" rIns="0">
            <a:spAutoFit/>
          </a:bodyPr>
          <a:lstStyle/>
          <a:p>
            <a:pPr algn="just" marL="0" indent="0" lvl="0">
              <a:lnSpc>
                <a:spcPts val="3919"/>
              </a:lnSpc>
              <a:spcBef>
                <a:spcPct val="0"/>
              </a:spcBef>
            </a:pPr>
            <a:r>
              <a:rPr lang="en-US" sz="2799">
                <a:solidFill>
                  <a:srgbClr val="000000"/>
                </a:solidFill>
                <a:latin typeface="Inter"/>
                <a:ea typeface="Inter"/>
                <a:cs typeface="Inter"/>
                <a:sym typeface="Inter"/>
              </a:rPr>
              <a:t>L</a:t>
            </a:r>
            <a:r>
              <a:rPr lang="en-US" sz="2799" strike="noStrike" u="none">
                <a:solidFill>
                  <a:srgbClr val="000000"/>
                </a:solidFill>
                <a:latin typeface="Inter"/>
                <a:ea typeface="Inter"/>
                <a:cs typeface="Inter"/>
                <a:sym typeface="Inter"/>
              </a:rPr>
              <a:t>à một framework mã nguồn mở, đa nền tảng, dùng để xây dựng các ứng dụng web và API RESTful.</a:t>
            </a:r>
          </a:p>
        </p:txBody>
      </p:sp>
      <p:sp>
        <p:nvSpPr>
          <p:cNvPr name="AutoShape 31" id="31"/>
          <p:cNvSpPr/>
          <p:nvPr/>
        </p:nvSpPr>
        <p:spPr>
          <a:xfrm>
            <a:off x="705967" y="9253538"/>
            <a:ext cx="16872456" cy="4762"/>
          </a:xfrm>
          <a:prstGeom prst="line">
            <a:avLst/>
          </a:prstGeom>
          <a:ln cap="rnd" w="19050">
            <a:solidFill>
              <a:srgbClr val="4BADD6"/>
            </a:solidFill>
            <a:prstDash val="solid"/>
            <a:headEnd type="none" len="sm" w="sm"/>
            <a:tailEnd type="none" len="sm" w="sm"/>
          </a:ln>
        </p:spPr>
      </p:sp>
      <p:sp>
        <p:nvSpPr>
          <p:cNvPr name="TextBox 32" id="32"/>
          <p:cNvSpPr txBox="true"/>
          <p:nvPr/>
        </p:nvSpPr>
        <p:spPr>
          <a:xfrm rot="0">
            <a:off x="763112" y="9369641"/>
            <a:ext cx="12119638" cy="409575"/>
          </a:xfrm>
          <a:prstGeom prst="rect">
            <a:avLst/>
          </a:prstGeom>
        </p:spPr>
        <p:txBody>
          <a:bodyPr anchor="t" rtlCol="false" tIns="0" lIns="0" bIns="0" rIns="0">
            <a:spAutoFit/>
          </a:bodyPr>
          <a:lstStyle/>
          <a:p>
            <a:pPr algn="l" marL="0" indent="0" lvl="0">
              <a:lnSpc>
                <a:spcPts val="3120"/>
              </a:lnSpc>
              <a:spcBef>
                <a:spcPct val="0"/>
              </a:spcBef>
            </a:pPr>
            <a:r>
              <a:rPr lang="en-US" b="true" sz="2600" spc="72" strike="noStrike" u="none">
                <a:solidFill>
                  <a:srgbClr val="00618A"/>
                </a:solidFill>
                <a:latin typeface="Arimo Bold"/>
                <a:ea typeface="Arimo Bold"/>
                <a:cs typeface="Arimo Bold"/>
                <a:sym typeface="Arimo Bold"/>
              </a:rPr>
              <a:t>XÂY DỰNG HỆ THỐNG TẠO VÀ ĐÁNH GIÁ</a:t>
            </a:r>
            <a:r>
              <a:rPr lang="en-US" b="true" sz="2600" spc="72" strike="noStrike" u="none">
                <a:solidFill>
                  <a:srgbClr val="00618A"/>
                </a:solidFill>
                <a:latin typeface="Arimo Bold"/>
                <a:ea typeface="Arimo Bold"/>
                <a:cs typeface="Arimo Bold"/>
                <a:sym typeface="Arimo Bold"/>
              </a:rPr>
              <a:t> HỒ SƠ XIN VIỆC TÍCH HỢP AI</a:t>
            </a:r>
          </a:p>
        </p:txBody>
      </p:sp>
      <p:sp>
        <p:nvSpPr>
          <p:cNvPr name="TextBox 33" id="33"/>
          <p:cNvSpPr txBox="true"/>
          <p:nvPr/>
        </p:nvSpPr>
        <p:spPr>
          <a:xfrm rot="0">
            <a:off x="17259300" y="9369641"/>
            <a:ext cx="245942" cy="409575"/>
          </a:xfrm>
          <a:prstGeom prst="rect">
            <a:avLst/>
          </a:prstGeom>
        </p:spPr>
        <p:txBody>
          <a:bodyPr anchor="t" rtlCol="false" tIns="0" lIns="0" bIns="0" rIns="0">
            <a:spAutoFit/>
          </a:bodyPr>
          <a:lstStyle/>
          <a:p>
            <a:pPr algn="l" marL="0" indent="0" lvl="0">
              <a:lnSpc>
                <a:spcPts val="3120"/>
              </a:lnSpc>
              <a:spcBef>
                <a:spcPct val="0"/>
              </a:spcBef>
            </a:pPr>
            <a:r>
              <a:rPr lang="en-US" b="true" sz="2600" spc="72">
                <a:solidFill>
                  <a:srgbClr val="00618A"/>
                </a:solidFill>
                <a:latin typeface="Arimo Bold"/>
                <a:ea typeface="Arimo Bold"/>
                <a:cs typeface="Arimo Bold"/>
                <a:sym typeface="Arimo Bold"/>
              </a:rPr>
              <a:t>7</a:t>
            </a:r>
          </a:p>
        </p:txBody>
      </p:sp>
      <p:sp>
        <p:nvSpPr>
          <p:cNvPr name="AutoShape 34" id="34"/>
          <p:cNvSpPr/>
          <p:nvPr/>
        </p:nvSpPr>
        <p:spPr>
          <a:xfrm flipH="true">
            <a:off x="763112" y="716667"/>
            <a:ext cx="0" cy="771525"/>
          </a:xfrm>
          <a:prstGeom prst="line">
            <a:avLst/>
          </a:prstGeom>
          <a:ln cap="rnd" w="114300">
            <a:solidFill>
              <a:srgbClr val="075985">
                <a:alpha val="46667"/>
              </a:srgbClr>
            </a:solidFill>
            <a:prstDash val="solid"/>
            <a:headEnd type="none" len="sm" w="sm"/>
            <a:tailEnd type="none" len="sm" w="sm"/>
          </a:ln>
        </p:spPr>
      </p:sp>
      <p:sp>
        <p:nvSpPr>
          <p:cNvPr name="TextBox 35" id="35"/>
          <p:cNvSpPr txBox="true"/>
          <p:nvPr/>
        </p:nvSpPr>
        <p:spPr>
          <a:xfrm rot="0">
            <a:off x="1041536" y="688092"/>
            <a:ext cx="3914009" cy="438150"/>
          </a:xfrm>
          <a:prstGeom prst="rect">
            <a:avLst/>
          </a:prstGeom>
        </p:spPr>
        <p:txBody>
          <a:bodyPr anchor="t" rtlCol="false" tIns="0" lIns="0" bIns="0" rIns="0">
            <a:spAutoFit/>
          </a:bodyPr>
          <a:lstStyle/>
          <a:p>
            <a:pPr algn="l" marL="0" indent="0" lvl="0">
              <a:lnSpc>
                <a:spcPts val="3359"/>
              </a:lnSpc>
              <a:spcBef>
                <a:spcPct val="0"/>
              </a:spcBef>
            </a:pPr>
            <a:r>
              <a:rPr lang="en-US" sz="2799" i="true" spc="77">
                <a:solidFill>
                  <a:srgbClr val="00618A"/>
                </a:solidFill>
                <a:latin typeface="Arimo Italics"/>
                <a:ea typeface="Arimo Italics"/>
                <a:cs typeface="Arimo Italics"/>
                <a:sym typeface="Arimo Italics"/>
              </a:rPr>
              <a:t>2. Cơ sở lý thuyết</a:t>
            </a:r>
          </a:p>
        </p:txBody>
      </p:sp>
      <p:sp>
        <p:nvSpPr>
          <p:cNvPr name="TextBox 36" id="36"/>
          <p:cNvSpPr txBox="true"/>
          <p:nvPr/>
        </p:nvSpPr>
        <p:spPr>
          <a:xfrm rot="0">
            <a:off x="1041536" y="1078617"/>
            <a:ext cx="6067738" cy="438150"/>
          </a:xfrm>
          <a:prstGeom prst="rect">
            <a:avLst/>
          </a:prstGeom>
        </p:spPr>
        <p:txBody>
          <a:bodyPr anchor="t" rtlCol="false" tIns="0" lIns="0" bIns="0" rIns="0">
            <a:spAutoFit/>
          </a:bodyPr>
          <a:lstStyle/>
          <a:p>
            <a:pPr algn="l" marL="0" indent="0" lvl="0">
              <a:lnSpc>
                <a:spcPts val="3359"/>
              </a:lnSpc>
              <a:spcBef>
                <a:spcPct val="0"/>
              </a:spcBef>
            </a:pPr>
            <a:r>
              <a:rPr lang="en-US" b="true" sz="2799" spc="77">
                <a:solidFill>
                  <a:srgbClr val="00618A"/>
                </a:solidFill>
                <a:latin typeface="Arimo Bold"/>
                <a:ea typeface="Arimo Bold"/>
                <a:cs typeface="Arimo Bold"/>
                <a:sym typeface="Arimo Bold"/>
              </a:rPr>
              <a:t>ASP.NET Core Web API</a:t>
            </a:r>
          </a:p>
        </p:txBody>
      </p:sp>
      <p:sp>
        <p:nvSpPr>
          <p:cNvPr name="Freeform 37" id="37"/>
          <p:cNvSpPr/>
          <p:nvPr/>
        </p:nvSpPr>
        <p:spPr>
          <a:xfrm flipH="false" flipV="false" rot="0">
            <a:off x="16713285" y="707142"/>
            <a:ext cx="865138" cy="854186"/>
          </a:xfrm>
          <a:custGeom>
            <a:avLst/>
            <a:gdLst/>
            <a:ahLst/>
            <a:cxnLst/>
            <a:rect r="r" b="b" t="t" l="l"/>
            <a:pathLst>
              <a:path h="854186" w="865138">
                <a:moveTo>
                  <a:pt x="0" y="0"/>
                </a:moveTo>
                <a:lnTo>
                  <a:pt x="865138" y="0"/>
                </a:lnTo>
                <a:lnTo>
                  <a:pt x="865138" y="854186"/>
                </a:lnTo>
                <a:lnTo>
                  <a:pt x="0" y="854186"/>
                </a:lnTo>
                <a:lnTo>
                  <a:pt x="0" y="0"/>
                </a:lnTo>
                <a:close/>
              </a:path>
            </a:pathLst>
          </a:custGeom>
          <a:blipFill>
            <a:blip r:embed="rId4"/>
            <a:stretch>
              <a:fillRect l="0" t="0" r="0" b="0"/>
            </a:stretch>
          </a:blipFill>
        </p:spPr>
      </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856896" y="9344453"/>
            <a:ext cx="16872456" cy="4762"/>
          </a:xfrm>
          <a:prstGeom prst="line">
            <a:avLst/>
          </a:prstGeom>
          <a:ln cap="rnd" w="19050">
            <a:solidFill>
              <a:srgbClr val="4BADD6"/>
            </a:solidFill>
            <a:prstDash val="solid"/>
            <a:headEnd type="none" len="sm" w="sm"/>
            <a:tailEnd type="none" len="sm" w="sm"/>
          </a:ln>
        </p:spPr>
      </p:sp>
      <p:sp>
        <p:nvSpPr>
          <p:cNvPr name="AutoShape 3" id="3"/>
          <p:cNvSpPr/>
          <p:nvPr/>
        </p:nvSpPr>
        <p:spPr>
          <a:xfrm flipH="true">
            <a:off x="763112" y="716667"/>
            <a:ext cx="0" cy="771525"/>
          </a:xfrm>
          <a:prstGeom prst="line">
            <a:avLst/>
          </a:prstGeom>
          <a:ln cap="rnd" w="114300">
            <a:solidFill>
              <a:srgbClr val="075985">
                <a:alpha val="46667"/>
              </a:srgbClr>
            </a:solidFill>
            <a:prstDash val="solid"/>
            <a:headEnd type="none" len="sm" w="sm"/>
            <a:tailEnd type="none" len="sm" w="sm"/>
          </a:ln>
        </p:spPr>
      </p:sp>
      <p:sp>
        <p:nvSpPr>
          <p:cNvPr name="Freeform 4" id="4"/>
          <p:cNvSpPr/>
          <p:nvPr/>
        </p:nvSpPr>
        <p:spPr>
          <a:xfrm flipH="false" flipV="false" rot="0">
            <a:off x="16713285" y="707142"/>
            <a:ext cx="865138" cy="854186"/>
          </a:xfrm>
          <a:custGeom>
            <a:avLst/>
            <a:gdLst/>
            <a:ahLst/>
            <a:cxnLst/>
            <a:rect r="r" b="b" t="t" l="l"/>
            <a:pathLst>
              <a:path h="854186" w="865138">
                <a:moveTo>
                  <a:pt x="0" y="0"/>
                </a:moveTo>
                <a:lnTo>
                  <a:pt x="865138" y="0"/>
                </a:lnTo>
                <a:lnTo>
                  <a:pt x="865138" y="854186"/>
                </a:lnTo>
                <a:lnTo>
                  <a:pt x="0" y="854186"/>
                </a:lnTo>
                <a:lnTo>
                  <a:pt x="0" y="0"/>
                </a:lnTo>
                <a:close/>
              </a:path>
            </a:pathLst>
          </a:custGeom>
          <a:blipFill>
            <a:blip r:embed="rId2"/>
            <a:stretch>
              <a:fillRect l="0" t="0" r="0" b="0"/>
            </a:stretch>
          </a:blipFill>
        </p:spPr>
      </p:sp>
      <p:grpSp>
        <p:nvGrpSpPr>
          <p:cNvPr name="Group 5" id="5"/>
          <p:cNvGrpSpPr/>
          <p:nvPr/>
        </p:nvGrpSpPr>
        <p:grpSpPr>
          <a:xfrm rot="0">
            <a:off x="7592985" y="1777686"/>
            <a:ext cx="9372562" cy="5879572"/>
            <a:chOff x="0" y="0"/>
            <a:chExt cx="12496749" cy="7839430"/>
          </a:xfrm>
        </p:grpSpPr>
        <p:sp>
          <p:nvSpPr>
            <p:cNvPr name="Freeform 6" id="6"/>
            <p:cNvSpPr/>
            <p:nvPr/>
          </p:nvSpPr>
          <p:spPr>
            <a:xfrm flipH="false" flipV="false" rot="0">
              <a:off x="2805852" y="1596253"/>
              <a:ext cx="5486400" cy="5486400"/>
            </a:xfrm>
            <a:custGeom>
              <a:avLst/>
              <a:gdLst/>
              <a:ahLst/>
              <a:cxnLst/>
              <a:rect r="r" b="b" t="t" l="l"/>
              <a:pathLst>
                <a:path h="5486400" w="5486400">
                  <a:moveTo>
                    <a:pt x="0" y="0"/>
                  </a:moveTo>
                  <a:lnTo>
                    <a:pt x="5486400" y="0"/>
                  </a:lnTo>
                  <a:lnTo>
                    <a:pt x="5486400" y="5486400"/>
                  </a:lnTo>
                  <a:lnTo>
                    <a:pt x="0" y="5486400"/>
                  </a:lnTo>
                  <a:lnTo>
                    <a:pt x="0" y="0"/>
                  </a:lnTo>
                  <a:close/>
                </a:path>
              </a:pathLst>
            </a:custGeom>
            <a:blipFill>
              <a:blip r:embed="rId3">
                <a:alphaModFix amt="53000"/>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6812887" y="5422390"/>
              <a:ext cx="1528692" cy="1528692"/>
            </a:xfrm>
            <a:custGeom>
              <a:avLst/>
              <a:gdLst/>
              <a:ahLst/>
              <a:cxnLst/>
              <a:rect r="r" b="b" t="t" l="l"/>
              <a:pathLst>
                <a:path h="1528692" w="1528692">
                  <a:moveTo>
                    <a:pt x="0" y="0"/>
                  </a:moveTo>
                  <a:lnTo>
                    <a:pt x="1528692" y="0"/>
                  </a:lnTo>
                  <a:lnTo>
                    <a:pt x="1528692" y="1528692"/>
                  </a:lnTo>
                  <a:lnTo>
                    <a:pt x="0" y="152869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7206035" y="5743515"/>
              <a:ext cx="742396" cy="886443"/>
            </a:xfrm>
            <a:custGeom>
              <a:avLst/>
              <a:gdLst/>
              <a:ahLst/>
              <a:cxnLst/>
              <a:rect r="r" b="b" t="t" l="l"/>
              <a:pathLst>
                <a:path h="886443" w="742396">
                  <a:moveTo>
                    <a:pt x="0" y="0"/>
                  </a:moveTo>
                  <a:lnTo>
                    <a:pt x="742396" y="0"/>
                  </a:lnTo>
                  <a:lnTo>
                    <a:pt x="742396" y="886443"/>
                  </a:lnTo>
                  <a:lnTo>
                    <a:pt x="0" y="88644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2068019" y="2780135"/>
              <a:ext cx="1528692" cy="1528692"/>
            </a:xfrm>
            <a:custGeom>
              <a:avLst/>
              <a:gdLst/>
              <a:ahLst/>
              <a:cxnLst/>
              <a:rect r="r" b="b" t="t" l="l"/>
              <a:pathLst>
                <a:path h="1528692" w="1528692">
                  <a:moveTo>
                    <a:pt x="0" y="0"/>
                  </a:moveTo>
                  <a:lnTo>
                    <a:pt x="1528692" y="0"/>
                  </a:lnTo>
                  <a:lnTo>
                    <a:pt x="1528692" y="1528692"/>
                  </a:lnTo>
                  <a:lnTo>
                    <a:pt x="0" y="152869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2391847" y="3102305"/>
              <a:ext cx="881036" cy="884353"/>
            </a:xfrm>
            <a:custGeom>
              <a:avLst/>
              <a:gdLst/>
              <a:ahLst/>
              <a:cxnLst/>
              <a:rect r="r" b="b" t="t" l="l"/>
              <a:pathLst>
                <a:path h="884353" w="881036">
                  <a:moveTo>
                    <a:pt x="0" y="0"/>
                  </a:moveTo>
                  <a:lnTo>
                    <a:pt x="881037" y="0"/>
                  </a:lnTo>
                  <a:lnTo>
                    <a:pt x="881037" y="884353"/>
                  </a:lnTo>
                  <a:lnTo>
                    <a:pt x="0" y="88435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false" flipV="false" rot="0">
              <a:off x="7527906" y="2780135"/>
              <a:ext cx="1528692" cy="1528692"/>
            </a:xfrm>
            <a:custGeom>
              <a:avLst/>
              <a:gdLst/>
              <a:ahLst/>
              <a:cxnLst/>
              <a:rect r="r" b="b" t="t" l="l"/>
              <a:pathLst>
                <a:path h="1528692" w="1528692">
                  <a:moveTo>
                    <a:pt x="0" y="0"/>
                  </a:moveTo>
                  <a:lnTo>
                    <a:pt x="1528692" y="0"/>
                  </a:lnTo>
                  <a:lnTo>
                    <a:pt x="1528692" y="1528692"/>
                  </a:lnTo>
                  <a:lnTo>
                    <a:pt x="0" y="152869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7872144" y="3104677"/>
              <a:ext cx="840216" cy="760778"/>
            </a:xfrm>
            <a:custGeom>
              <a:avLst/>
              <a:gdLst/>
              <a:ahLst/>
              <a:cxnLst/>
              <a:rect r="r" b="b" t="t" l="l"/>
              <a:pathLst>
                <a:path h="760778" w="840216">
                  <a:moveTo>
                    <a:pt x="0" y="0"/>
                  </a:moveTo>
                  <a:lnTo>
                    <a:pt x="840216" y="0"/>
                  </a:lnTo>
                  <a:lnTo>
                    <a:pt x="840216" y="760778"/>
                  </a:lnTo>
                  <a:lnTo>
                    <a:pt x="0" y="76077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3" id="13"/>
            <p:cNvSpPr/>
            <p:nvPr/>
          </p:nvSpPr>
          <p:spPr>
            <a:xfrm flipH="false" flipV="false" rot="0">
              <a:off x="4784706" y="762847"/>
              <a:ext cx="1528692" cy="1528692"/>
            </a:xfrm>
            <a:custGeom>
              <a:avLst/>
              <a:gdLst/>
              <a:ahLst/>
              <a:cxnLst/>
              <a:rect r="r" b="b" t="t" l="l"/>
              <a:pathLst>
                <a:path h="1528692" w="1528692">
                  <a:moveTo>
                    <a:pt x="0" y="0"/>
                  </a:moveTo>
                  <a:lnTo>
                    <a:pt x="1528692" y="0"/>
                  </a:lnTo>
                  <a:lnTo>
                    <a:pt x="1528692" y="1528692"/>
                  </a:lnTo>
                  <a:lnTo>
                    <a:pt x="0" y="152869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false" flipV="false" rot="2700000">
              <a:off x="5246526" y="1208576"/>
              <a:ext cx="636437" cy="637233"/>
            </a:xfrm>
            <a:custGeom>
              <a:avLst/>
              <a:gdLst/>
              <a:ahLst/>
              <a:cxnLst/>
              <a:rect r="r" b="b" t="t" l="l"/>
              <a:pathLst>
                <a:path h="637233" w="636437">
                  <a:moveTo>
                    <a:pt x="0" y="0"/>
                  </a:moveTo>
                  <a:lnTo>
                    <a:pt x="636437" y="0"/>
                  </a:lnTo>
                  <a:lnTo>
                    <a:pt x="636437" y="637233"/>
                  </a:lnTo>
                  <a:lnTo>
                    <a:pt x="0" y="63723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5" id="15"/>
            <p:cNvSpPr/>
            <p:nvPr/>
          </p:nvSpPr>
          <p:spPr>
            <a:xfrm flipH="false" flipV="false" rot="0">
              <a:off x="3054086" y="5553961"/>
              <a:ext cx="1528692" cy="1528692"/>
            </a:xfrm>
            <a:custGeom>
              <a:avLst/>
              <a:gdLst/>
              <a:ahLst/>
              <a:cxnLst/>
              <a:rect r="r" b="b" t="t" l="l"/>
              <a:pathLst>
                <a:path h="1528692" w="1528692">
                  <a:moveTo>
                    <a:pt x="0" y="0"/>
                  </a:moveTo>
                  <a:lnTo>
                    <a:pt x="1528692" y="0"/>
                  </a:lnTo>
                  <a:lnTo>
                    <a:pt x="1528692" y="1528692"/>
                  </a:lnTo>
                  <a:lnTo>
                    <a:pt x="0" y="152869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6" id="16"/>
            <p:cNvSpPr/>
            <p:nvPr/>
          </p:nvSpPr>
          <p:spPr>
            <a:xfrm flipH="false" flipV="false" rot="0">
              <a:off x="3472870" y="6076414"/>
              <a:ext cx="691123" cy="483786"/>
            </a:xfrm>
            <a:custGeom>
              <a:avLst/>
              <a:gdLst/>
              <a:ahLst/>
              <a:cxnLst/>
              <a:rect r="r" b="b" t="t" l="l"/>
              <a:pathLst>
                <a:path h="483786" w="691123">
                  <a:moveTo>
                    <a:pt x="0" y="0"/>
                  </a:moveTo>
                  <a:lnTo>
                    <a:pt x="691123" y="0"/>
                  </a:lnTo>
                  <a:lnTo>
                    <a:pt x="691123" y="483786"/>
                  </a:lnTo>
                  <a:lnTo>
                    <a:pt x="0" y="483786"/>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7" id="17"/>
            <p:cNvSpPr/>
            <p:nvPr/>
          </p:nvSpPr>
          <p:spPr>
            <a:xfrm flipH="false" flipV="false" rot="0">
              <a:off x="5168118" y="3293057"/>
              <a:ext cx="1060570" cy="2260904"/>
            </a:xfrm>
            <a:custGeom>
              <a:avLst/>
              <a:gdLst/>
              <a:ahLst/>
              <a:cxnLst/>
              <a:rect r="r" b="b" t="t" l="l"/>
              <a:pathLst>
                <a:path h="2260904" w="1060570">
                  <a:moveTo>
                    <a:pt x="0" y="0"/>
                  </a:moveTo>
                  <a:lnTo>
                    <a:pt x="1060569" y="0"/>
                  </a:lnTo>
                  <a:lnTo>
                    <a:pt x="1060569" y="2260904"/>
                  </a:lnTo>
                  <a:lnTo>
                    <a:pt x="0" y="2260904"/>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18" id="18"/>
            <p:cNvSpPr txBox="true"/>
            <p:nvPr/>
          </p:nvSpPr>
          <p:spPr>
            <a:xfrm rot="0">
              <a:off x="0" y="2979351"/>
              <a:ext cx="2068019" cy="1178772"/>
            </a:xfrm>
            <a:prstGeom prst="rect">
              <a:avLst/>
            </a:prstGeom>
          </p:spPr>
          <p:txBody>
            <a:bodyPr anchor="t" rtlCol="false" tIns="0" lIns="0" bIns="0" rIns="0">
              <a:spAutoFit/>
            </a:bodyPr>
            <a:lstStyle/>
            <a:p>
              <a:pPr algn="just">
                <a:lnSpc>
                  <a:spcPts val="3640"/>
                </a:lnSpc>
              </a:pPr>
              <a:r>
                <a:rPr lang="en-US" sz="2600" i="true">
                  <a:solidFill>
                    <a:srgbClr val="000000"/>
                  </a:solidFill>
                  <a:latin typeface="Inter Italics"/>
                  <a:ea typeface="Inter Italics"/>
                  <a:cs typeface="Inter Italics"/>
                  <a:sym typeface="Inter Italics"/>
                </a:rPr>
                <a:t>Cấu trúc</a:t>
              </a:r>
            </a:p>
            <a:p>
              <a:pPr algn="just" marL="0" indent="0" lvl="0">
                <a:lnSpc>
                  <a:spcPts val="3640"/>
                </a:lnSpc>
                <a:spcBef>
                  <a:spcPct val="0"/>
                </a:spcBef>
              </a:pPr>
              <a:r>
                <a:rPr lang="en-US" sz="2600" i="true">
                  <a:solidFill>
                    <a:srgbClr val="000000"/>
                  </a:solidFill>
                  <a:latin typeface="Inter Italics"/>
                  <a:ea typeface="Inter Italics"/>
                  <a:cs typeface="Inter Italics"/>
                  <a:sym typeface="Inter Italics"/>
                </a:rPr>
                <a:t>linh hoạt</a:t>
              </a:r>
            </a:p>
          </p:txBody>
        </p:sp>
        <p:sp>
          <p:nvSpPr>
            <p:cNvPr name="TextBox 19" id="19"/>
            <p:cNvSpPr txBox="true"/>
            <p:nvPr/>
          </p:nvSpPr>
          <p:spPr>
            <a:xfrm rot="0">
              <a:off x="8502783" y="6469455"/>
              <a:ext cx="2464391" cy="1178772"/>
            </a:xfrm>
            <a:prstGeom prst="rect">
              <a:avLst/>
            </a:prstGeom>
          </p:spPr>
          <p:txBody>
            <a:bodyPr anchor="t" rtlCol="false" tIns="0" lIns="0" bIns="0" rIns="0">
              <a:spAutoFit/>
            </a:bodyPr>
            <a:lstStyle/>
            <a:p>
              <a:pPr algn="just">
                <a:lnSpc>
                  <a:spcPts val="3640"/>
                </a:lnSpc>
              </a:pPr>
              <a:r>
                <a:rPr lang="en-US" sz="2600" i="true">
                  <a:solidFill>
                    <a:srgbClr val="000000"/>
                  </a:solidFill>
                  <a:latin typeface="Inter Italics"/>
                  <a:ea typeface="Inter Italics"/>
                  <a:cs typeface="Inter Italics"/>
                  <a:sym typeface="Inter Italics"/>
                </a:rPr>
                <a:t>Cộng đồng</a:t>
              </a:r>
            </a:p>
            <a:p>
              <a:pPr algn="just" marL="0" indent="0" lvl="0">
                <a:lnSpc>
                  <a:spcPts val="3640"/>
                </a:lnSpc>
                <a:spcBef>
                  <a:spcPct val="0"/>
                </a:spcBef>
              </a:pPr>
              <a:r>
                <a:rPr lang="en-US" sz="2600" i="true">
                  <a:solidFill>
                    <a:srgbClr val="000000"/>
                  </a:solidFill>
                  <a:latin typeface="Inter Italics"/>
                  <a:ea typeface="Inter Italics"/>
                  <a:cs typeface="Inter Italics"/>
                  <a:sym typeface="Inter Italics"/>
                </a:rPr>
                <a:t>rộng lớn</a:t>
              </a:r>
            </a:p>
          </p:txBody>
        </p:sp>
        <p:sp>
          <p:nvSpPr>
            <p:cNvPr name="TextBox 20" id="20"/>
            <p:cNvSpPr txBox="true"/>
            <p:nvPr/>
          </p:nvSpPr>
          <p:spPr>
            <a:xfrm rot="0">
              <a:off x="915715" y="7270258"/>
              <a:ext cx="3253111" cy="569172"/>
            </a:xfrm>
            <a:prstGeom prst="rect">
              <a:avLst/>
            </a:prstGeom>
          </p:spPr>
          <p:txBody>
            <a:bodyPr anchor="t" rtlCol="false" tIns="0" lIns="0" bIns="0" rIns="0">
              <a:spAutoFit/>
            </a:bodyPr>
            <a:lstStyle/>
            <a:p>
              <a:pPr algn="just" marL="0" indent="0" lvl="0">
                <a:lnSpc>
                  <a:spcPts val="3640"/>
                </a:lnSpc>
                <a:spcBef>
                  <a:spcPct val="0"/>
                </a:spcBef>
              </a:pPr>
              <a:r>
                <a:rPr lang="en-US" sz="2600" i="true">
                  <a:solidFill>
                    <a:srgbClr val="000000"/>
                  </a:solidFill>
                  <a:latin typeface="Inter Italics"/>
                  <a:ea typeface="Inter Italics"/>
                  <a:cs typeface="Inter Italics"/>
                  <a:sym typeface="Inter Italics"/>
                </a:rPr>
                <a:t>Mã nguồn mở</a:t>
              </a:r>
            </a:p>
          </p:txBody>
        </p:sp>
        <p:sp>
          <p:nvSpPr>
            <p:cNvPr name="TextBox 21" id="21"/>
            <p:cNvSpPr txBox="true"/>
            <p:nvPr/>
          </p:nvSpPr>
          <p:spPr>
            <a:xfrm rot="0">
              <a:off x="9437598" y="3219077"/>
              <a:ext cx="3059152" cy="569172"/>
            </a:xfrm>
            <a:prstGeom prst="rect">
              <a:avLst/>
            </a:prstGeom>
          </p:spPr>
          <p:txBody>
            <a:bodyPr anchor="t" rtlCol="false" tIns="0" lIns="0" bIns="0" rIns="0">
              <a:spAutoFit/>
            </a:bodyPr>
            <a:lstStyle/>
            <a:p>
              <a:pPr algn="l" marL="0" indent="0" lvl="0">
                <a:lnSpc>
                  <a:spcPts val="3640"/>
                </a:lnSpc>
                <a:spcBef>
                  <a:spcPct val="0"/>
                </a:spcBef>
              </a:pPr>
              <a:r>
                <a:rPr lang="en-US" sz="2600" i="true">
                  <a:solidFill>
                    <a:srgbClr val="000000"/>
                  </a:solidFill>
                  <a:latin typeface="Inter Italics"/>
                  <a:ea typeface="Inter Italics"/>
                  <a:cs typeface="Inter Italics"/>
                  <a:sym typeface="Inter Italics"/>
                </a:rPr>
                <a:t>Hiệu năng cao</a:t>
              </a:r>
            </a:p>
          </p:txBody>
        </p:sp>
        <p:sp>
          <p:nvSpPr>
            <p:cNvPr name="TextBox 22" id="22"/>
            <p:cNvSpPr txBox="true"/>
            <p:nvPr/>
          </p:nvSpPr>
          <p:spPr>
            <a:xfrm rot="0">
              <a:off x="4146884" y="-47625"/>
              <a:ext cx="3059152" cy="569172"/>
            </a:xfrm>
            <a:prstGeom prst="rect">
              <a:avLst/>
            </a:prstGeom>
          </p:spPr>
          <p:txBody>
            <a:bodyPr anchor="t" rtlCol="false" tIns="0" lIns="0" bIns="0" rIns="0">
              <a:spAutoFit/>
            </a:bodyPr>
            <a:lstStyle/>
            <a:p>
              <a:pPr algn="ctr" marL="0" indent="0" lvl="0">
                <a:lnSpc>
                  <a:spcPts val="3640"/>
                </a:lnSpc>
                <a:spcBef>
                  <a:spcPct val="0"/>
                </a:spcBef>
              </a:pPr>
              <a:r>
                <a:rPr lang="en-US" sz="2600" i="true">
                  <a:solidFill>
                    <a:srgbClr val="000000"/>
                  </a:solidFill>
                  <a:latin typeface="Inter Italics"/>
                  <a:ea typeface="Inter Italics"/>
                  <a:cs typeface="Inter Italics"/>
                  <a:sym typeface="Inter Italics"/>
                </a:rPr>
                <a:t>Mở rộng tốt</a:t>
              </a:r>
            </a:p>
          </p:txBody>
        </p:sp>
      </p:grpSp>
      <p:sp>
        <p:nvSpPr>
          <p:cNvPr name="TextBox 23" id="23"/>
          <p:cNvSpPr txBox="true"/>
          <p:nvPr/>
        </p:nvSpPr>
        <p:spPr>
          <a:xfrm rot="0">
            <a:off x="763112" y="3713570"/>
            <a:ext cx="5658164" cy="2967355"/>
          </a:xfrm>
          <a:prstGeom prst="rect">
            <a:avLst/>
          </a:prstGeom>
        </p:spPr>
        <p:txBody>
          <a:bodyPr anchor="t" rtlCol="false" tIns="0" lIns="0" bIns="0" rIns="0">
            <a:spAutoFit/>
          </a:bodyPr>
          <a:lstStyle/>
          <a:p>
            <a:pPr algn="just" marL="0" indent="0" lvl="0">
              <a:lnSpc>
                <a:spcPts val="3919"/>
              </a:lnSpc>
              <a:spcBef>
                <a:spcPct val="0"/>
              </a:spcBef>
            </a:pPr>
            <a:r>
              <a:rPr lang="en-US" b="true" sz="2799">
                <a:solidFill>
                  <a:srgbClr val="000000"/>
                </a:solidFill>
                <a:latin typeface="Inter Bold"/>
                <a:ea typeface="Inter Bold"/>
                <a:cs typeface="Inter Bold"/>
                <a:sym typeface="Inter Bold"/>
              </a:rPr>
              <a:t>MongoDB</a:t>
            </a:r>
            <a:r>
              <a:rPr lang="en-US" sz="2799">
                <a:solidFill>
                  <a:srgbClr val="000000"/>
                </a:solidFill>
                <a:latin typeface="Inter"/>
                <a:ea typeface="Inter"/>
                <a:cs typeface="Inter"/>
                <a:sym typeface="Inter"/>
              </a:rPr>
              <a:t> l</a:t>
            </a:r>
            <a:r>
              <a:rPr lang="en-US" sz="2799" strike="noStrike" u="none">
                <a:solidFill>
                  <a:srgbClr val="000000"/>
                </a:solidFill>
                <a:latin typeface="Inter"/>
                <a:ea typeface="Inter"/>
                <a:cs typeface="Inter"/>
                <a:sym typeface="Inter"/>
              </a:rPr>
              <a:t>à một h</a:t>
            </a:r>
            <a:r>
              <a:rPr lang="en-US" sz="2799" strike="noStrike" u="none">
                <a:solidFill>
                  <a:srgbClr val="000000"/>
                </a:solidFill>
                <a:latin typeface="Inter"/>
                <a:ea typeface="Inter"/>
                <a:cs typeface="Inter"/>
                <a:sym typeface="Inter"/>
              </a:rPr>
              <a:t>ệ quả</a:t>
            </a:r>
            <a:r>
              <a:rPr lang="en-US" sz="2799" strike="noStrike" u="none">
                <a:solidFill>
                  <a:srgbClr val="000000"/>
                </a:solidFill>
                <a:latin typeface="Inter"/>
                <a:ea typeface="Inter"/>
                <a:cs typeface="Inter"/>
                <a:sym typeface="Inter"/>
              </a:rPr>
              <a:t>n </a:t>
            </a:r>
            <a:r>
              <a:rPr lang="en-US" sz="2799" strike="noStrike" u="none">
                <a:solidFill>
                  <a:srgbClr val="000000"/>
                </a:solidFill>
                <a:latin typeface="Inter"/>
                <a:ea typeface="Inter"/>
                <a:cs typeface="Inter"/>
                <a:sym typeface="Inter"/>
              </a:rPr>
              <a:t>trị </a:t>
            </a:r>
            <a:r>
              <a:rPr lang="en-US" sz="2799" strike="noStrike" u="none">
                <a:solidFill>
                  <a:srgbClr val="000000"/>
                </a:solidFill>
                <a:latin typeface="Inter"/>
                <a:ea typeface="Inter"/>
                <a:cs typeface="Inter"/>
                <a:sym typeface="Inter"/>
              </a:rPr>
              <a:t>c</a:t>
            </a:r>
            <a:r>
              <a:rPr lang="en-US" sz="2799" strike="noStrike" u="none">
                <a:solidFill>
                  <a:srgbClr val="000000"/>
                </a:solidFill>
                <a:latin typeface="Inter"/>
                <a:ea typeface="Inter"/>
                <a:cs typeface="Inter"/>
                <a:sym typeface="Inter"/>
              </a:rPr>
              <a:t>ơ sở dữ liệu phi qu</a:t>
            </a:r>
            <a:r>
              <a:rPr lang="en-US" sz="2799" strike="noStrike" u="none">
                <a:solidFill>
                  <a:srgbClr val="000000"/>
                </a:solidFill>
                <a:latin typeface="Inter"/>
                <a:ea typeface="Inter"/>
                <a:cs typeface="Inter"/>
                <a:sym typeface="Inter"/>
              </a:rPr>
              <a:t>a</a:t>
            </a:r>
            <a:r>
              <a:rPr lang="en-US" sz="2799" strike="noStrike" u="none">
                <a:solidFill>
                  <a:srgbClr val="000000"/>
                </a:solidFill>
                <a:latin typeface="Inter"/>
                <a:ea typeface="Inter"/>
                <a:cs typeface="Inter"/>
                <a:sym typeface="Inter"/>
              </a:rPr>
              <a:t>n hệ, mã</a:t>
            </a:r>
            <a:r>
              <a:rPr lang="en-US" sz="2799" strike="noStrike" u="none">
                <a:solidFill>
                  <a:srgbClr val="000000"/>
                </a:solidFill>
                <a:latin typeface="Inter"/>
                <a:ea typeface="Inter"/>
                <a:cs typeface="Inter"/>
                <a:sym typeface="Inter"/>
              </a:rPr>
              <a:t> n</a:t>
            </a:r>
            <a:r>
              <a:rPr lang="en-US" sz="2799" strike="noStrike" u="none">
                <a:solidFill>
                  <a:srgbClr val="000000"/>
                </a:solidFill>
                <a:latin typeface="Inter"/>
                <a:ea typeface="Inter"/>
                <a:cs typeface="Inter"/>
                <a:sym typeface="Inter"/>
              </a:rPr>
              <a:t>guồ</a:t>
            </a:r>
            <a:r>
              <a:rPr lang="en-US" sz="2799" strike="noStrike" u="none">
                <a:solidFill>
                  <a:srgbClr val="000000"/>
                </a:solidFill>
                <a:latin typeface="Inter"/>
                <a:ea typeface="Inter"/>
                <a:cs typeface="Inter"/>
                <a:sym typeface="Inter"/>
              </a:rPr>
              <a:t>n </a:t>
            </a:r>
            <a:r>
              <a:rPr lang="en-US" sz="2799" strike="noStrike" u="none">
                <a:solidFill>
                  <a:srgbClr val="000000"/>
                </a:solidFill>
                <a:latin typeface="Inter"/>
                <a:ea typeface="Inter"/>
                <a:cs typeface="Inter"/>
                <a:sym typeface="Inter"/>
              </a:rPr>
              <a:t>mở, được </a:t>
            </a:r>
            <a:r>
              <a:rPr lang="en-US" sz="2799" strike="noStrike" u="none">
                <a:solidFill>
                  <a:srgbClr val="000000"/>
                </a:solidFill>
                <a:latin typeface="Inter"/>
                <a:ea typeface="Inter"/>
                <a:cs typeface="Inter"/>
                <a:sym typeface="Inter"/>
              </a:rPr>
              <a:t>t</a:t>
            </a:r>
            <a:r>
              <a:rPr lang="en-US" sz="2799" strike="noStrike" u="none">
                <a:solidFill>
                  <a:srgbClr val="000000"/>
                </a:solidFill>
                <a:latin typeface="Inter"/>
                <a:ea typeface="Inter"/>
                <a:cs typeface="Inter"/>
                <a:sym typeface="Inter"/>
              </a:rPr>
              <a:t>hiết kế để đáp ứ</a:t>
            </a:r>
            <a:r>
              <a:rPr lang="en-US" sz="2799" strike="noStrike" u="none">
                <a:solidFill>
                  <a:srgbClr val="000000"/>
                </a:solidFill>
                <a:latin typeface="Inter"/>
                <a:ea typeface="Inter"/>
                <a:cs typeface="Inter"/>
                <a:sym typeface="Inter"/>
              </a:rPr>
              <a:t>ng </a:t>
            </a:r>
            <a:r>
              <a:rPr lang="en-US" sz="2799" strike="noStrike" u="none">
                <a:solidFill>
                  <a:srgbClr val="000000"/>
                </a:solidFill>
                <a:latin typeface="Inter"/>
                <a:ea typeface="Inter"/>
                <a:cs typeface="Inter"/>
                <a:sym typeface="Inter"/>
              </a:rPr>
              <a:t>n</a:t>
            </a:r>
            <a:r>
              <a:rPr lang="en-US" sz="2799" strike="noStrike" u="none">
                <a:solidFill>
                  <a:srgbClr val="000000"/>
                </a:solidFill>
                <a:latin typeface="Inter"/>
                <a:ea typeface="Inter"/>
                <a:cs typeface="Inter"/>
                <a:sym typeface="Inter"/>
              </a:rPr>
              <a:t>h</a:t>
            </a:r>
            <a:r>
              <a:rPr lang="en-US" sz="2799" strike="noStrike" u="none">
                <a:solidFill>
                  <a:srgbClr val="000000"/>
                </a:solidFill>
                <a:latin typeface="Inter"/>
                <a:ea typeface="Inter"/>
                <a:cs typeface="Inter"/>
                <a:sym typeface="Inter"/>
              </a:rPr>
              <a:t>u cầu của c</a:t>
            </a:r>
            <a:r>
              <a:rPr lang="en-US" sz="2799" strike="noStrike" u="none">
                <a:solidFill>
                  <a:srgbClr val="000000"/>
                </a:solidFill>
                <a:latin typeface="Inter"/>
                <a:ea typeface="Inter"/>
                <a:cs typeface="Inter"/>
                <a:sym typeface="Inter"/>
              </a:rPr>
              <a:t>á</a:t>
            </a:r>
            <a:r>
              <a:rPr lang="en-US" sz="2799" strike="noStrike" u="none">
                <a:solidFill>
                  <a:srgbClr val="000000"/>
                </a:solidFill>
                <a:latin typeface="Inter"/>
                <a:ea typeface="Inter"/>
                <a:cs typeface="Inter"/>
                <a:sym typeface="Inter"/>
              </a:rPr>
              <a:t>c</a:t>
            </a:r>
            <a:r>
              <a:rPr lang="en-US" sz="2799" strike="noStrike" u="none">
                <a:solidFill>
                  <a:srgbClr val="000000"/>
                </a:solidFill>
                <a:latin typeface="Inter"/>
                <a:ea typeface="Inter"/>
                <a:cs typeface="Inter"/>
                <a:sym typeface="Inter"/>
              </a:rPr>
              <a:t> </a:t>
            </a:r>
            <a:r>
              <a:rPr lang="en-US" sz="2799" strike="noStrike" u="none">
                <a:solidFill>
                  <a:srgbClr val="000000"/>
                </a:solidFill>
                <a:latin typeface="Inter"/>
                <a:ea typeface="Inter"/>
                <a:cs typeface="Inter"/>
                <a:sym typeface="Inter"/>
              </a:rPr>
              <a:t>ứng dụ</a:t>
            </a:r>
            <a:r>
              <a:rPr lang="en-US" sz="2799" strike="noStrike" u="none">
                <a:solidFill>
                  <a:srgbClr val="000000"/>
                </a:solidFill>
                <a:latin typeface="Inter"/>
                <a:ea typeface="Inter"/>
                <a:cs typeface="Inter"/>
                <a:sym typeface="Inter"/>
              </a:rPr>
              <a:t>n</a:t>
            </a:r>
            <a:r>
              <a:rPr lang="en-US" sz="2799" strike="noStrike" u="none">
                <a:solidFill>
                  <a:srgbClr val="000000"/>
                </a:solidFill>
                <a:latin typeface="Inter"/>
                <a:ea typeface="Inter"/>
                <a:cs typeface="Inter"/>
                <a:sym typeface="Inter"/>
              </a:rPr>
              <a:t>g</a:t>
            </a:r>
            <a:r>
              <a:rPr lang="en-US" sz="2799" strike="noStrike" u="none">
                <a:solidFill>
                  <a:srgbClr val="000000"/>
                </a:solidFill>
                <a:latin typeface="Inter"/>
                <a:ea typeface="Inter"/>
                <a:cs typeface="Inter"/>
                <a:sym typeface="Inter"/>
              </a:rPr>
              <a:t> h</a:t>
            </a:r>
            <a:r>
              <a:rPr lang="en-US" sz="2799" strike="noStrike" u="none">
                <a:solidFill>
                  <a:srgbClr val="000000"/>
                </a:solidFill>
                <a:latin typeface="Inter"/>
                <a:ea typeface="Inter"/>
                <a:cs typeface="Inter"/>
                <a:sym typeface="Inter"/>
              </a:rPr>
              <a:t>iệ</a:t>
            </a:r>
            <a:r>
              <a:rPr lang="en-US" sz="2799" strike="noStrike" u="none">
                <a:solidFill>
                  <a:srgbClr val="000000"/>
                </a:solidFill>
                <a:latin typeface="Inter"/>
                <a:ea typeface="Inter"/>
                <a:cs typeface="Inter"/>
                <a:sym typeface="Inter"/>
              </a:rPr>
              <a:t>n </a:t>
            </a:r>
            <a:r>
              <a:rPr lang="en-US" sz="2799" strike="noStrike" u="none">
                <a:solidFill>
                  <a:srgbClr val="000000"/>
                </a:solidFill>
                <a:latin typeface="Inter"/>
                <a:ea typeface="Inter"/>
                <a:cs typeface="Inter"/>
                <a:sym typeface="Inter"/>
              </a:rPr>
              <a:t>đại</a:t>
            </a:r>
            <a:r>
              <a:rPr lang="en-US" sz="2799" strike="noStrike" u="none">
                <a:solidFill>
                  <a:srgbClr val="000000"/>
                </a:solidFill>
                <a:latin typeface="Inter"/>
                <a:ea typeface="Inter"/>
                <a:cs typeface="Inter"/>
                <a:sym typeface="Inter"/>
              </a:rPr>
              <a:t> </a:t>
            </a:r>
            <a:r>
              <a:rPr lang="en-US" sz="2799" strike="noStrike" u="none">
                <a:solidFill>
                  <a:srgbClr val="000000"/>
                </a:solidFill>
                <a:latin typeface="Inter"/>
                <a:ea typeface="Inter"/>
                <a:cs typeface="Inter"/>
                <a:sym typeface="Inter"/>
              </a:rPr>
              <a:t>với</a:t>
            </a:r>
            <a:r>
              <a:rPr lang="en-US" sz="2799" strike="noStrike" u="none">
                <a:solidFill>
                  <a:srgbClr val="000000"/>
                </a:solidFill>
                <a:latin typeface="Inter"/>
                <a:ea typeface="Inter"/>
                <a:cs typeface="Inter"/>
                <a:sym typeface="Inter"/>
              </a:rPr>
              <a:t> d</a:t>
            </a:r>
            <a:r>
              <a:rPr lang="en-US" sz="2799" strike="noStrike" u="none">
                <a:solidFill>
                  <a:srgbClr val="000000"/>
                </a:solidFill>
                <a:latin typeface="Inter"/>
                <a:ea typeface="Inter"/>
                <a:cs typeface="Inter"/>
                <a:sym typeface="Inter"/>
              </a:rPr>
              <a:t>ữ</a:t>
            </a:r>
            <a:r>
              <a:rPr lang="en-US" sz="2799" strike="noStrike" u="none">
                <a:solidFill>
                  <a:srgbClr val="000000"/>
                </a:solidFill>
                <a:latin typeface="Inter"/>
                <a:ea typeface="Inter"/>
                <a:cs typeface="Inter"/>
                <a:sym typeface="Inter"/>
              </a:rPr>
              <a:t> </a:t>
            </a:r>
            <a:r>
              <a:rPr lang="en-US" sz="2799" strike="noStrike" u="none">
                <a:solidFill>
                  <a:srgbClr val="000000"/>
                </a:solidFill>
                <a:latin typeface="Inter"/>
                <a:ea typeface="Inter"/>
                <a:cs typeface="Inter"/>
                <a:sym typeface="Inter"/>
              </a:rPr>
              <a:t>l</a:t>
            </a:r>
            <a:r>
              <a:rPr lang="en-US" sz="2799" strike="noStrike" u="none">
                <a:solidFill>
                  <a:srgbClr val="000000"/>
                </a:solidFill>
                <a:latin typeface="Inter"/>
                <a:ea typeface="Inter"/>
                <a:cs typeface="Inter"/>
                <a:sym typeface="Inter"/>
              </a:rPr>
              <a:t>i</a:t>
            </a:r>
            <a:r>
              <a:rPr lang="en-US" sz="2799" strike="noStrike" u="none">
                <a:solidFill>
                  <a:srgbClr val="000000"/>
                </a:solidFill>
                <a:latin typeface="Inter"/>
                <a:ea typeface="Inter"/>
                <a:cs typeface="Inter"/>
                <a:sym typeface="Inter"/>
              </a:rPr>
              <a:t>ệu đa dạng và</a:t>
            </a:r>
            <a:r>
              <a:rPr lang="en-US" sz="2799" strike="noStrike" u="none">
                <a:solidFill>
                  <a:srgbClr val="000000"/>
                </a:solidFill>
                <a:latin typeface="Inter"/>
                <a:ea typeface="Inter"/>
                <a:cs typeface="Inter"/>
                <a:sym typeface="Inter"/>
              </a:rPr>
              <a:t> ph</a:t>
            </a:r>
            <a:r>
              <a:rPr lang="en-US" sz="2799" strike="noStrike" u="none">
                <a:solidFill>
                  <a:srgbClr val="000000"/>
                </a:solidFill>
                <a:latin typeface="Inter"/>
                <a:ea typeface="Inter"/>
                <a:cs typeface="Inter"/>
                <a:sym typeface="Inter"/>
              </a:rPr>
              <a:t>ức</a:t>
            </a:r>
            <a:r>
              <a:rPr lang="en-US" sz="2799" strike="noStrike" u="none">
                <a:solidFill>
                  <a:srgbClr val="000000"/>
                </a:solidFill>
                <a:latin typeface="Inter"/>
                <a:ea typeface="Inter"/>
                <a:cs typeface="Inter"/>
                <a:sym typeface="Inter"/>
              </a:rPr>
              <a:t> t</a:t>
            </a:r>
            <a:r>
              <a:rPr lang="en-US" sz="2799" strike="noStrike" u="none">
                <a:solidFill>
                  <a:srgbClr val="000000"/>
                </a:solidFill>
                <a:latin typeface="Inter"/>
                <a:ea typeface="Inter"/>
                <a:cs typeface="Inter"/>
                <a:sym typeface="Inter"/>
              </a:rPr>
              <a:t>ạp</a:t>
            </a:r>
            <a:r>
              <a:rPr lang="en-US" sz="2799" strike="noStrike" u="none">
                <a:solidFill>
                  <a:srgbClr val="000000"/>
                </a:solidFill>
                <a:latin typeface="Inter"/>
                <a:ea typeface="Inter"/>
                <a:cs typeface="Inter"/>
                <a:sym typeface="Inter"/>
              </a:rPr>
              <a:t>.</a:t>
            </a:r>
            <a:r>
              <a:rPr lang="en-US" sz="2799" strike="noStrike" u="none">
                <a:solidFill>
                  <a:srgbClr val="000000"/>
                </a:solidFill>
                <a:latin typeface="Inter"/>
                <a:ea typeface="Inter"/>
                <a:cs typeface="Inter"/>
                <a:sym typeface="Inter"/>
              </a:rPr>
              <a:t> </a:t>
            </a:r>
          </a:p>
        </p:txBody>
      </p:sp>
      <p:sp>
        <p:nvSpPr>
          <p:cNvPr name="TextBox 24" id="24"/>
          <p:cNvSpPr txBox="true"/>
          <p:nvPr/>
        </p:nvSpPr>
        <p:spPr>
          <a:xfrm rot="0">
            <a:off x="763112" y="9369641"/>
            <a:ext cx="12119638" cy="409575"/>
          </a:xfrm>
          <a:prstGeom prst="rect">
            <a:avLst/>
          </a:prstGeom>
        </p:spPr>
        <p:txBody>
          <a:bodyPr anchor="t" rtlCol="false" tIns="0" lIns="0" bIns="0" rIns="0">
            <a:spAutoFit/>
          </a:bodyPr>
          <a:lstStyle/>
          <a:p>
            <a:pPr algn="l" marL="0" indent="0" lvl="0">
              <a:lnSpc>
                <a:spcPts val="3120"/>
              </a:lnSpc>
              <a:spcBef>
                <a:spcPct val="0"/>
              </a:spcBef>
            </a:pPr>
            <a:r>
              <a:rPr lang="en-US" b="true" sz="2600" spc="72" strike="noStrike" u="none">
                <a:solidFill>
                  <a:srgbClr val="00618A"/>
                </a:solidFill>
                <a:latin typeface="Arimo Bold"/>
                <a:ea typeface="Arimo Bold"/>
                <a:cs typeface="Arimo Bold"/>
                <a:sym typeface="Arimo Bold"/>
              </a:rPr>
              <a:t>XÂY DỰNG HỆ THỐNG TẠO VÀ ĐÁNH GIÁ</a:t>
            </a:r>
            <a:r>
              <a:rPr lang="en-US" b="true" sz="2600" spc="72" strike="noStrike" u="none">
                <a:solidFill>
                  <a:srgbClr val="00618A"/>
                </a:solidFill>
                <a:latin typeface="Arimo Bold"/>
                <a:ea typeface="Arimo Bold"/>
                <a:cs typeface="Arimo Bold"/>
                <a:sym typeface="Arimo Bold"/>
              </a:rPr>
              <a:t> HỒ SƠ XIN VIỆC TÍCH HỢP AI</a:t>
            </a:r>
          </a:p>
        </p:txBody>
      </p:sp>
      <p:sp>
        <p:nvSpPr>
          <p:cNvPr name="TextBox 25" id="25"/>
          <p:cNvSpPr txBox="true"/>
          <p:nvPr/>
        </p:nvSpPr>
        <p:spPr>
          <a:xfrm rot="0">
            <a:off x="17259300" y="9369641"/>
            <a:ext cx="245942" cy="409575"/>
          </a:xfrm>
          <a:prstGeom prst="rect">
            <a:avLst/>
          </a:prstGeom>
        </p:spPr>
        <p:txBody>
          <a:bodyPr anchor="t" rtlCol="false" tIns="0" lIns="0" bIns="0" rIns="0">
            <a:spAutoFit/>
          </a:bodyPr>
          <a:lstStyle/>
          <a:p>
            <a:pPr algn="l" marL="0" indent="0" lvl="0">
              <a:lnSpc>
                <a:spcPts val="3120"/>
              </a:lnSpc>
              <a:spcBef>
                <a:spcPct val="0"/>
              </a:spcBef>
            </a:pPr>
            <a:r>
              <a:rPr lang="en-US" b="true" sz="2600" spc="72">
                <a:solidFill>
                  <a:srgbClr val="00618A"/>
                </a:solidFill>
                <a:latin typeface="Arimo Bold"/>
                <a:ea typeface="Arimo Bold"/>
                <a:cs typeface="Arimo Bold"/>
                <a:sym typeface="Arimo Bold"/>
              </a:rPr>
              <a:t>8</a:t>
            </a:r>
          </a:p>
        </p:txBody>
      </p:sp>
      <p:sp>
        <p:nvSpPr>
          <p:cNvPr name="TextBox 26" id="26"/>
          <p:cNvSpPr txBox="true"/>
          <p:nvPr/>
        </p:nvSpPr>
        <p:spPr>
          <a:xfrm rot="0">
            <a:off x="1041536" y="688092"/>
            <a:ext cx="3914009" cy="438150"/>
          </a:xfrm>
          <a:prstGeom prst="rect">
            <a:avLst/>
          </a:prstGeom>
        </p:spPr>
        <p:txBody>
          <a:bodyPr anchor="t" rtlCol="false" tIns="0" lIns="0" bIns="0" rIns="0">
            <a:spAutoFit/>
          </a:bodyPr>
          <a:lstStyle/>
          <a:p>
            <a:pPr algn="l" marL="0" indent="0" lvl="0">
              <a:lnSpc>
                <a:spcPts val="3359"/>
              </a:lnSpc>
              <a:spcBef>
                <a:spcPct val="0"/>
              </a:spcBef>
            </a:pPr>
            <a:r>
              <a:rPr lang="en-US" sz="2799" i="true" spc="77">
                <a:solidFill>
                  <a:srgbClr val="00618A"/>
                </a:solidFill>
                <a:latin typeface="Arimo Italics"/>
                <a:ea typeface="Arimo Italics"/>
                <a:cs typeface="Arimo Italics"/>
                <a:sym typeface="Arimo Italics"/>
              </a:rPr>
              <a:t>2. Cơ sở lý thuyết</a:t>
            </a:r>
          </a:p>
        </p:txBody>
      </p:sp>
      <p:sp>
        <p:nvSpPr>
          <p:cNvPr name="TextBox 27" id="27"/>
          <p:cNvSpPr txBox="true"/>
          <p:nvPr/>
        </p:nvSpPr>
        <p:spPr>
          <a:xfrm rot="0">
            <a:off x="1041536" y="1078617"/>
            <a:ext cx="6067738" cy="438150"/>
          </a:xfrm>
          <a:prstGeom prst="rect">
            <a:avLst/>
          </a:prstGeom>
        </p:spPr>
        <p:txBody>
          <a:bodyPr anchor="t" rtlCol="false" tIns="0" lIns="0" bIns="0" rIns="0">
            <a:spAutoFit/>
          </a:bodyPr>
          <a:lstStyle/>
          <a:p>
            <a:pPr algn="l" marL="0" indent="0" lvl="0">
              <a:lnSpc>
                <a:spcPts val="3359"/>
              </a:lnSpc>
              <a:spcBef>
                <a:spcPct val="0"/>
              </a:spcBef>
            </a:pPr>
            <a:r>
              <a:rPr lang="en-US" b="true" sz="2799" spc="77">
                <a:solidFill>
                  <a:srgbClr val="00618A"/>
                </a:solidFill>
                <a:latin typeface="Arimo Bold"/>
                <a:ea typeface="Arimo Bold"/>
                <a:cs typeface="Arimo Bold"/>
                <a:sym typeface="Arimo Bold"/>
              </a:rPr>
              <a:t>MongoDB</a:t>
            </a:r>
          </a:p>
        </p:txBody>
      </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856896" y="9344453"/>
            <a:ext cx="16872456" cy="4762"/>
          </a:xfrm>
          <a:prstGeom prst="line">
            <a:avLst/>
          </a:prstGeom>
          <a:ln cap="rnd" w="19050">
            <a:solidFill>
              <a:srgbClr val="4BADD6"/>
            </a:solidFill>
            <a:prstDash val="solid"/>
            <a:headEnd type="none" len="sm" w="sm"/>
            <a:tailEnd type="none" len="sm" w="sm"/>
          </a:ln>
        </p:spPr>
      </p:sp>
      <p:sp>
        <p:nvSpPr>
          <p:cNvPr name="AutoShape 3" id="3"/>
          <p:cNvSpPr/>
          <p:nvPr/>
        </p:nvSpPr>
        <p:spPr>
          <a:xfrm flipH="true">
            <a:off x="763112" y="716667"/>
            <a:ext cx="0" cy="771525"/>
          </a:xfrm>
          <a:prstGeom prst="line">
            <a:avLst/>
          </a:prstGeom>
          <a:ln cap="rnd" w="114300">
            <a:solidFill>
              <a:srgbClr val="075985">
                <a:alpha val="46667"/>
              </a:srgbClr>
            </a:solidFill>
            <a:prstDash val="solid"/>
            <a:headEnd type="none" len="sm" w="sm"/>
            <a:tailEnd type="none" len="sm" w="sm"/>
          </a:ln>
        </p:spPr>
      </p:sp>
      <p:sp>
        <p:nvSpPr>
          <p:cNvPr name="Freeform 4" id="4"/>
          <p:cNvSpPr/>
          <p:nvPr/>
        </p:nvSpPr>
        <p:spPr>
          <a:xfrm flipH="false" flipV="false" rot="0">
            <a:off x="16713285" y="707142"/>
            <a:ext cx="865138" cy="854186"/>
          </a:xfrm>
          <a:custGeom>
            <a:avLst/>
            <a:gdLst/>
            <a:ahLst/>
            <a:cxnLst/>
            <a:rect r="r" b="b" t="t" l="l"/>
            <a:pathLst>
              <a:path h="854186" w="865138">
                <a:moveTo>
                  <a:pt x="0" y="0"/>
                </a:moveTo>
                <a:lnTo>
                  <a:pt x="865138" y="0"/>
                </a:lnTo>
                <a:lnTo>
                  <a:pt x="865138" y="854186"/>
                </a:lnTo>
                <a:lnTo>
                  <a:pt x="0" y="854186"/>
                </a:lnTo>
                <a:lnTo>
                  <a:pt x="0" y="0"/>
                </a:lnTo>
                <a:close/>
              </a:path>
            </a:pathLst>
          </a:custGeom>
          <a:blipFill>
            <a:blip r:embed="rId3"/>
            <a:stretch>
              <a:fillRect l="0" t="0" r="0" b="0"/>
            </a:stretch>
          </a:blipFill>
        </p:spPr>
      </p:sp>
      <p:sp>
        <p:nvSpPr>
          <p:cNvPr name="Freeform 5" id="5"/>
          <p:cNvSpPr/>
          <p:nvPr/>
        </p:nvSpPr>
        <p:spPr>
          <a:xfrm flipH="false" flipV="false" rot="0">
            <a:off x="8886062" y="2207567"/>
            <a:ext cx="8373238" cy="5871866"/>
          </a:xfrm>
          <a:custGeom>
            <a:avLst/>
            <a:gdLst/>
            <a:ahLst/>
            <a:cxnLst/>
            <a:rect r="r" b="b" t="t" l="l"/>
            <a:pathLst>
              <a:path h="5871866" w="8373238">
                <a:moveTo>
                  <a:pt x="0" y="0"/>
                </a:moveTo>
                <a:lnTo>
                  <a:pt x="8373238" y="0"/>
                </a:lnTo>
                <a:lnTo>
                  <a:pt x="8373238" y="5871866"/>
                </a:lnTo>
                <a:lnTo>
                  <a:pt x="0" y="5871866"/>
                </a:lnTo>
                <a:lnTo>
                  <a:pt x="0" y="0"/>
                </a:lnTo>
                <a:close/>
              </a:path>
            </a:pathLst>
          </a:custGeom>
          <a:blipFill>
            <a:blip r:embed="rId4"/>
            <a:stretch>
              <a:fillRect l="0" t="0" r="0" b="0"/>
            </a:stretch>
          </a:blipFill>
        </p:spPr>
      </p:sp>
      <p:sp>
        <p:nvSpPr>
          <p:cNvPr name="TextBox 6" id="6"/>
          <p:cNvSpPr txBox="true"/>
          <p:nvPr/>
        </p:nvSpPr>
        <p:spPr>
          <a:xfrm rot="0">
            <a:off x="763112" y="9369641"/>
            <a:ext cx="12119638" cy="409575"/>
          </a:xfrm>
          <a:prstGeom prst="rect">
            <a:avLst/>
          </a:prstGeom>
        </p:spPr>
        <p:txBody>
          <a:bodyPr anchor="t" rtlCol="false" tIns="0" lIns="0" bIns="0" rIns="0">
            <a:spAutoFit/>
          </a:bodyPr>
          <a:lstStyle/>
          <a:p>
            <a:pPr algn="l" marL="0" indent="0" lvl="0">
              <a:lnSpc>
                <a:spcPts val="3120"/>
              </a:lnSpc>
              <a:spcBef>
                <a:spcPct val="0"/>
              </a:spcBef>
            </a:pPr>
            <a:r>
              <a:rPr lang="en-US" b="true" sz="2600" spc="72" strike="noStrike" u="none">
                <a:solidFill>
                  <a:srgbClr val="00618A"/>
                </a:solidFill>
                <a:latin typeface="Arimo Bold"/>
                <a:ea typeface="Arimo Bold"/>
                <a:cs typeface="Arimo Bold"/>
                <a:sym typeface="Arimo Bold"/>
              </a:rPr>
              <a:t>XÂY DỰNG HỆ THỐNG TẠO VÀ ĐÁNH GIÁ</a:t>
            </a:r>
            <a:r>
              <a:rPr lang="en-US" b="true" sz="2600" spc="72" strike="noStrike" u="none">
                <a:solidFill>
                  <a:srgbClr val="00618A"/>
                </a:solidFill>
                <a:latin typeface="Arimo Bold"/>
                <a:ea typeface="Arimo Bold"/>
                <a:cs typeface="Arimo Bold"/>
                <a:sym typeface="Arimo Bold"/>
              </a:rPr>
              <a:t> HỒ SƠ XIN VIỆC TÍCH HỢP AI</a:t>
            </a:r>
          </a:p>
        </p:txBody>
      </p:sp>
      <p:sp>
        <p:nvSpPr>
          <p:cNvPr name="TextBox 7" id="7"/>
          <p:cNvSpPr txBox="true"/>
          <p:nvPr/>
        </p:nvSpPr>
        <p:spPr>
          <a:xfrm rot="0">
            <a:off x="17259300" y="9369641"/>
            <a:ext cx="245942" cy="409575"/>
          </a:xfrm>
          <a:prstGeom prst="rect">
            <a:avLst/>
          </a:prstGeom>
        </p:spPr>
        <p:txBody>
          <a:bodyPr anchor="t" rtlCol="false" tIns="0" lIns="0" bIns="0" rIns="0">
            <a:spAutoFit/>
          </a:bodyPr>
          <a:lstStyle/>
          <a:p>
            <a:pPr algn="l" marL="0" indent="0" lvl="0">
              <a:lnSpc>
                <a:spcPts val="3120"/>
              </a:lnSpc>
              <a:spcBef>
                <a:spcPct val="0"/>
              </a:spcBef>
            </a:pPr>
            <a:r>
              <a:rPr lang="en-US" b="true" sz="2600" spc="72">
                <a:solidFill>
                  <a:srgbClr val="00618A"/>
                </a:solidFill>
                <a:latin typeface="Arimo Bold"/>
                <a:ea typeface="Arimo Bold"/>
                <a:cs typeface="Arimo Bold"/>
                <a:sym typeface="Arimo Bold"/>
              </a:rPr>
              <a:t>9</a:t>
            </a:r>
          </a:p>
        </p:txBody>
      </p:sp>
      <p:sp>
        <p:nvSpPr>
          <p:cNvPr name="TextBox 8" id="8"/>
          <p:cNvSpPr txBox="true"/>
          <p:nvPr/>
        </p:nvSpPr>
        <p:spPr>
          <a:xfrm rot="0">
            <a:off x="1041536" y="688092"/>
            <a:ext cx="3914009" cy="438150"/>
          </a:xfrm>
          <a:prstGeom prst="rect">
            <a:avLst/>
          </a:prstGeom>
        </p:spPr>
        <p:txBody>
          <a:bodyPr anchor="t" rtlCol="false" tIns="0" lIns="0" bIns="0" rIns="0">
            <a:spAutoFit/>
          </a:bodyPr>
          <a:lstStyle/>
          <a:p>
            <a:pPr algn="l" marL="0" indent="0" lvl="0">
              <a:lnSpc>
                <a:spcPts val="3359"/>
              </a:lnSpc>
              <a:spcBef>
                <a:spcPct val="0"/>
              </a:spcBef>
            </a:pPr>
            <a:r>
              <a:rPr lang="en-US" sz="2799" i="true" spc="77">
                <a:solidFill>
                  <a:srgbClr val="00618A"/>
                </a:solidFill>
                <a:latin typeface="Arimo Italics"/>
                <a:ea typeface="Arimo Italics"/>
                <a:cs typeface="Arimo Italics"/>
                <a:sym typeface="Arimo Italics"/>
              </a:rPr>
              <a:t>2. Cơ sở lý thuyết</a:t>
            </a:r>
          </a:p>
        </p:txBody>
      </p:sp>
      <p:sp>
        <p:nvSpPr>
          <p:cNvPr name="TextBox 9" id="9"/>
          <p:cNvSpPr txBox="true"/>
          <p:nvPr/>
        </p:nvSpPr>
        <p:spPr>
          <a:xfrm rot="0">
            <a:off x="1041536" y="1078617"/>
            <a:ext cx="6067738" cy="438150"/>
          </a:xfrm>
          <a:prstGeom prst="rect">
            <a:avLst/>
          </a:prstGeom>
        </p:spPr>
        <p:txBody>
          <a:bodyPr anchor="t" rtlCol="false" tIns="0" lIns="0" bIns="0" rIns="0">
            <a:spAutoFit/>
          </a:bodyPr>
          <a:lstStyle/>
          <a:p>
            <a:pPr algn="l" marL="0" indent="0" lvl="0">
              <a:lnSpc>
                <a:spcPts val="3359"/>
              </a:lnSpc>
              <a:spcBef>
                <a:spcPct val="0"/>
              </a:spcBef>
            </a:pPr>
            <a:r>
              <a:rPr lang="en-US" b="true" sz="2799" spc="77">
                <a:solidFill>
                  <a:srgbClr val="00618A"/>
                </a:solidFill>
                <a:latin typeface="Arimo Bold"/>
                <a:ea typeface="Arimo Bold"/>
                <a:cs typeface="Arimo Bold"/>
                <a:sym typeface="Arimo Bold"/>
              </a:rPr>
              <a:t>Clean Architecture</a:t>
            </a:r>
          </a:p>
        </p:txBody>
      </p:sp>
      <p:sp>
        <p:nvSpPr>
          <p:cNvPr name="TextBox 10" id="10"/>
          <p:cNvSpPr txBox="true"/>
          <p:nvPr/>
        </p:nvSpPr>
        <p:spPr>
          <a:xfrm rot="0">
            <a:off x="763112" y="2556251"/>
            <a:ext cx="7513563" cy="2967355"/>
          </a:xfrm>
          <a:prstGeom prst="rect">
            <a:avLst/>
          </a:prstGeom>
        </p:spPr>
        <p:txBody>
          <a:bodyPr anchor="t" rtlCol="false" tIns="0" lIns="0" bIns="0" rIns="0">
            <a:spAutoFit/>
          </a:bodyPr>
          <a:lstStyle/>
          <a:p>
            <a:pPr algn="just" marL="0" indent="0" lvl="0">
              <a:lnSpc>
                <a:spcPts val="3919"/>
              </a:lnSpc>
              <a:spcBef>
                <a:spcPct val="0"/>
              </a:spcBef>
            </a:pPr>
            <a:r>
              <a:rPr lang="en-US" b="true" sz="2799" strike="noStrike" u="none">
                <a:solidFill>
                  <a:srgbClr val="000000"/>
                </a:solidFill>
                <a:latin typeface="Inter Bold"/>
                <a:ea typeface="Inter Bold"/>
                <a:cs typeface="Inter Bold"/>
                <a:sym typeface="Inter Bold"/>
              </a:rPr>
              <a:t>Clean Architecture </a:t>
            </a:r>
            <a:r>
              <a:rPr lang="en-US" sz="2799" strike="noStrike" u="none">
                <a:solidFill>
                  <a:srgbClr val="000000"/>
                </a:solidFill>
                <a:latin typeface="Inter"/>
                <a:ea typeface="Inter"/>
                <a:cs typeface="Inter"/>
                <a:sym typeface="Inter"/>
              </a:rPr>
              <a:t>là một mô hình kiến trúc phần mềm hiện đại, được đề xuất bởi Robert C. Martin nhằm giải quyết vấn đề phân tách rõ ràng giữa logic nghiệp vụ và các chi tiết triển khai như cơ sở dữ liệu, giao diện người dùng hoặc framework. </a:t>
            </a:r>
          </a:p>
        </p:txBody>
      </p:sp>
      <p:sp>
        <p:nvSpPr>
          <p:cNvPr name="TextBox 11" id="11"/>
          <p:cNvSpPr txBox="true"/>
          <p:nvPr/>
        </p:nvSpPr>
        <p:spPr>
          <a:xfrm rot="0">
            <a:off x="763112" y="5965345"/>
            <a:ext cx="7513563" cy="1481455"/>
          </a:xfrm>
          <a:prstGeom prst="rect">
            <a:avLst/>
          </a:prstGeom>
        </p:spPr>
        <p:txBody>
          <a:bodyPr anchor="t" rtlCol="false" tIns="0" lIns="0" bIns="0" rIns="0">
            <a:spAutoFit/>
          </a:bodyPr>
          <a:lstStyle/>
          <a:p>
            <a:pPr algn="just" marL="0" indent="0" lvl="0">
              <a:lnSpc>
                <a:spcPts val="3919"/>
              </a:lnSpc>
              <a:spcBef>
                <a:spcPct val="0"/>
              </a:spcBef>
            </a:pPr>
            <a:r>
              <a:rPr lang="en-US" b="true" sz="2799" strike="noStrike" u="none">
                <a:solidFill>
                  <a:srgbClr val="000000"/>
                </a:solidFill>
                <a:latin typeface="Inter Bold"/>
                <a:ea typeface="Inter Bold"/>
                <a:cs typeface="Inter Bold"/>
                <a:sym typeface="Inter Bold"/>
              </a:rPr>
              <a:t>Mục tiêu cốt lõi </a:t>
            </a:r>
            <a:r>
              <a:rPr lang="en-US" sz="2799" strike="noStrike" u="none">
                <a:solidFill>
                  <a:srgbClr val="000000"/>
                </a:solidFill>
                <a:latin typeface="Inter"/>
                <a:ea typeface="Inter"/>
                <a:cs typeface="Inter"/>
                <a:sym typeface="Inter"/>
              </a:rPr>
              <a:t>của mô hình là xây dựng hệ thống có tính độc lập cao, dễ bảo trì và dễ kiểm thử. </a:t>
            </a:r>
          </a:p>
        </p:txBody>
      </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705967" y="9253538"/>
            <a:ext cx="16872456" cy="4762"/>
          </a:xfrm>
          <a:prstGeom prst="line">
            <a:avLst/>
          </a:prstGeom>
          <a:ln cap="rnd" w="19050">
            <a:solidFill>
              <a:srgbClr val="4BADD6"/>
            </a:solidFill>
            <a:prstDash val="solid"/>
            <a:headEnd type="none" len="sm" w="sm"/>
            <a:tailEnd type="none" len="sm" w="sm"/>
          </a:ln>
        </p:spPr>
      </p:sp>
      <p:sp>
        <p:nvSpPr>
          <p:cNvPr name="AutoShape 3" id="3"/>
          <p:cNvSpPr/>
          <p:nvPr/>
        </p:nvSpPr>
        <p:spPr>
          <a:xfrm flipH="true">
            <a:off x="763112" y="716667"/>
            <a:ext cx="0" cy="771525"/>
          </a:xfrm>
          <a:prstGeom prst="line">
            <a:avLst/>
          </a:prstGeom>
          <a:ln cap="rnd" w="114300">
            <a:solidFill>
              <a:srgbClr val="075985">
                <a:alpha val="46667"/>
              </a:srgbClr>
            </a:solidFill>
            <a:prstDash val="solid"/>
            <a:headEnd type="none" len="sm" w="sm"/>
            <a:tailEnd type="none" len="sm" w="sm"/>
          </a:ln>
        </p:spPr>
      </p:sp>
      <p:sp>
        <p:nvSpPr>
          <p:cNvPr name="Freeform 4" id="4"/>
          <p:cNvSpPr/>
          <p:nvPr/>
        </p:nvSpPr>
        <p:spPr>
          <a:xfrm flipH="false" flipV="false" rot="0">
            <a:off x="16713285" y="707142"/>
            <a:ext cx="865138" cy="854186"/>
          </a:xfrm>
          <a:custGeom>
            <a:avLst/>
            <a:gdLst/>
            <a:ahLst/>
            <a:cxnLst/>
            <a:rect r="r" b="b" t="t" l="l"/>
            <a:pathLst>
              <a:path h="854186" w="865138">
                <a:moveTo>
                  <a:pt x="0" y="0"/>
                </a:moveTo>
                <a:lnTo>
                  <a:pt x="865138" y="0"/>
                </a:lnTo>
                <a:lnTo>
                  <a:pt x="865138" y="854186"/>
                </a:lnTo>
                <a:lnTo>
                  <a:pt x="0" y="854186"/>
                </a:lnTo>
                <a:lnTo>
                  <a:pt x="0" y="0"/>
                </a:lnTo>
                <a:close/>
              </a:path>
            </a:pathLst>
          </a:custGeom>
          <a:blipFill>
            <a:blip r:embed="rId2"/>
            <a:stretch>
              <a:fillRect l="0" t="0" r="0" b="0"/>
            </a:stretch>
          </a:blipFill>
        </p:spPr>
      </p:sp>
      <p:sp>
        <p:nvSpPr>
          <p:cNvPr name="TextBox 5" id="5"/>
          <p:cNvSpPr txBox="true"/>
          <p:nvPr/>
        </p:nvSpPr>
        <p:spPr>
          <a:xfrm rot="0">
            <a:off x="763112" y="9369641"/>
            <a:ext cx="12119638" cy="409575"/>
          </a:xfrm>
          <a:prstGeom prst="rect">
            <a:avLst/>
          </a:prstGeom>
        </p:spPr>
        <p:txBody>
          <a:bodyPr anchor="t" rtlCol="false" tIns="0" lIns="0" bIns="0" rIns="0">
            <a:spAutoFit/>
          </a:bodyPr>
          <a:lstStyle/>
          <a:p>
            <a:pPr algn="l" marL="0" indent="0" lvl="0">
              <a:lnSpc>
                <a:spcPts val="3120"/>
              </a:lnSpc>
              <a:spcBef>
                <a:spcPct val="0"/>
              </a:spcBef>
            </a:pPr>
            <a:r>
              <a:rPr lang="en-US" b="true" sz="2600" spc="72" strike="noStrike" u="none">
                <a:solidFill>
                  <a:srgbClr val="00618A"/>
                </a:solidFill>
                <a:latin typeface="Arimo Bold"/>
                <a:ea typeface="Arimo Bold"/>
                <a:cs typeface="Arimo Bold"/>
                <a:sym typeface="Arimo Bold"/>
              </a:rPr>
              <a:t>XÂY DỰNG HỆ THỐNG TẠO VÀ ĐÁNH GIÁ</a:t>
            </a:r>
            <a:r>
              <a:rPr lang="en-US" b="true" sz="2600" spc="72" strike="noStrike" u="none">
                <a:solidFill>
                  <a:srgbClr val="00618A"/>
                </a:solidFill>
                <a:latin typeface="Arimo Bold"/>
                <a:ea typeface="Arimo Bold"/>
                <a:cs typeface="Arimo Bold"/>
                <a:sym typeface="Arimo Bold"/>
              </a:rPr>
              <a:t> HỒ SƠ XIN VIỆC TÍCH HỢP AI</a:t>
            </a:r>
          </a:p>
        </p:txBody>
      </p:sp>
      <p:sp>
        <p:nvSpPr>
          <p:cNvPr name="TextBox 6" id="6"/>
          <p:cNvSpPr txBox="true"/>
          <p:nvPr/>
        </p:nvSpPr>
        <p:spPr>
          <a:xfrm rot="0">
            <a:off x="16966669" y="9369641"/>
            <a:ext cx="538572" cy="409575"/>
          </a:xfrm>
          <a:prstGeom prst="rect">
            <a:avLst/>
          </a:prstGeom>
        </p:spPr>
        <p:txBody>
          <a:bodyPr anchor="t" rtlCol="false" tIns="0" lIns="0" bIns="0" rIns="0">
            <a:spAutoFit/>
          </a:bodyPr>
          <a:lstStyle/>
          <a:p>
            <a:pPr algn="r" marL="0" indent="0" lvl="0">
              <a:lnSpc>
                <a:spcPts val="3120"/>
              </a:lnSpc>
              <a:spcBef>
                <a:spcPct val="0"/>
              </a:spcBef>
            </a:pPr>
            <a:r>
              <a:rPr lang="en-US" b="true" sz="2600" spc="72">
                <a:solidFill>
                  <a:srgbClr val="00618A"/>
                </a:solidFill>
                <a:latin typeface="Arimo Bold"/>
                <a:ea typeface="Arimo Bold"/>
                <a:cs typeface="Arimo Bold"/>
                <a:sym typeface="Arimo Bold"/>
              </a:rPr>
              <a:t>10</a:t>
            </a:r>
          </a:p>
        </p:txBody>
      </p:sp>
      <p:sp>
        <p:nvSpPr>
          <p:cNvPr name="TextBox 7" id="7"/>
          <p:cNvSpPr txBox="true"/>
          <p:nvPr/>
        </p:nvSpPr>
        <p:spPr>
          <a:xfrm rot="0">
            <a:off x="1041536" y="688092"/>
            <a:ext cx="3914009" cy="438150"/>
          </a:xfrm>
          <a:prstGeom prst="rect">
            <a:avLst/>
          </a:prstGeom>
        </p:spPr>
        <p:txBody>
          <a:bodyPr anchor="t" rtlCol="false" tIns="0" lIns="0" bIns="0" rIns="0">
            <a:spAutoFit/>
          </a:bodyPr>
          <a:lstStyle/>
          <a:p>
            <a:pPr algn="l" marL="0" indent="0" lvl="0">
              <a:lnSpc>
                <a:spcPts val="3359"/>
              </a:lnSpc>
              <a:spcBef>
                <a:spcPct val="0"/>
              </a:spcBef>
            </a:pPr>
            <a:r>
              <a:rPr lang="en-US" sz="2799" i="true" spc="77">
                <a:solidFill>
                  <a:srgbClr val="00618A"/>
                </a:solidFill>
                <a:latin typeface="Arimo Italics"/>
                <a:ea typeface="Arimo Italics"/>
                <a:cs typeface="Arimo Italics"/>
                <a:sym typeface="Arimo Italics"/>
              </a:rPr>
              <a:t>2. Cơ sở lý thuyết</a:t>
            </a:r>
          </a:p>
        </p:txBody>
      </p:sp>
      <p:sp>
        <p:nvSpPr>
          <p:cNvPr name="TextBox 8" id="8"/>
          <p:cNvSpPr txBox="true"/>
          <p:nvPr/>
        </p:nvSpPr>
        <p:spPr>
          <a:xfrm rot="0">
            <a:off x="1041536" y="1078617"/>
            <a:ext cx="6067738" cy="438150"/>
          </a:xfrm>
          <a:prstGeom prst="rect">
            <a:avLst/>
          </a:prstGeom>
        </p:spPr>
        <p:txBody>
          <a:bodyPr anchor="t" rtlCol="false" tIns="0" lIns="0" bIns="0" rIns="0">
            <a:spAutoFit/>
          </a:bodyPr>
          <a:lstStyle/>
          <a:p>
            <a:pPr algn="l" marL="0" indent="0" lvl="0">
              <a:lnSpc>
                <a:spcPts val="3359"/>
              </a:lnSpc>
              <a:spcBef>
                <a:spcPct val="0"/>
              </a:spcBef>
            </a:pPr>
            <a:r>
              <a:rPr lang="en-US" b="true" sz="2799" spc="77">
                <a:solidFill>
                  <a:srgbClr val="00618A"/>
                </a:solidFill>
                <a:latin typeface="Arimo Bold"/>
                <a:ea typeface="Arimo Bold"/>
                <a:cs typeface="Arimo Bold"/>
                <a:sym typeface="Arimo Bold"/>
              </a:rPr>
              <a:t>Mô hình ngôn ngữ lớn - Gemini</a:t>
            </a:r>
          </a:p>
        </p:txBody>
      </p:sp>
      <p:sp>
        <p:nvSpPr>
          <p:cNvPr name="TextBox 9" id="9"/>
          <p:cNvSpPr txBox="true"/>
          <p:nvPr/>
        </p:nvSpPr>
        <p:spPr>
          <a:xfrm rot="0">
            <a:off x="763112" y="3272182"/>
            <a:ext cx="9396315" cy="1976755"/>
          </a:xfrm>
          <a:prstGeom prst="rect">
            <a:avLst/>
          </a:prstGeom>
        </p:spPr>
        <p:txBody>
          <a:bodyPr anchor="t" rtlCol="false" tIns="0" lIns="0" bIns="0" rIns="0">
            <a:spAutoFit/>
          </a:bodyPr>
          <a:lstStyle/>
          <a:p>
            <a:pPr algn="just" marL="0" indent="0" lvl="0">
              <a:lnSpc>
                <a:spcPts val="3919"/>
              </a:lnSpc>
              <a:spcBef>
                <a:spcPct val="0"/>
              </a:spcBef>
            </a:pPr>
            <a:r>
              <a:rPr lang="en-US" b="true" sz="2799">
                <a:solidFill>
                  <a:srgbClr val="000000"/>
                </a:solidFill>
                <a:latin typeface="Inter Bold"/>
                <a:ea typeface="Inter Bold"/>
                <a:cs typeface="Inter Bold"/>
                <a:sym typeface="Inter Bold"/>
              </a:rPr>
              <a:t>Mô hình ngôn ngữ lớn (LLM)</a:t>
            </a:r>
            <a:r>
              <a:rPr lang="en-US" sz="2799">
                <a:solidFill>
                  <a:srgbClr val="000000"/>
                </a:solidFill>
                <a:latin typeface="Inter"/>
                <a:ea typeface="Inter"/>
                <a:cs typeface="Inter"/>
                <a:sym typeface="Inter"/>
              </a:rPr>
              <a:t> l</a:t>
            </a:r>
            <a:r>
              <a:rPr lang="en-US" sz="2799" strike="noStrike" u="none">
                <a:solidFill>
                  <a:srgbClr val="000000"/>
                </a:solidFill>
                <a:latin typeface="Inter"/>
                <a:ea typeface="Inter"/>
                <a:cs typeface="Inter"/>
                <a:sym typeface="Inter"/>
              </a:rPr>
              <a:t>à một loại mạng thần kinh nhân tạo được huấn luyện trên một lượng lớn văn bản. Chúng được thiết kế để hiểu, tạo ra và giải thích thông tin bằng ngôn ngữ tự nhiên.</a:t>
            </a:r>
          </a:p>
        </p:txBody>
      </p:sp>
      <p:sp>
        <p:nvSpPr>
          <p:cNvPr name="TextBox 10" id="10"/>
          <p:cNvSpPr txBox="true"/>
          <p:nvPr/>
        </p:nvSpPr>
        <p:spPr>
          <a:xfrm rot="0">
            <a:off x="705967" y="5589845"/>
            <a:ext cx="9704185" cy="1976755"/>
          </a:xfrm>
          <a:prstGeom prst="rect">
            <a:avLst/>
          </a:prstGeom>
        </p:spPr>
        <p:txBody>
          <a:bodyPr anchor="t" rtlCol="false" tIns="0" lIns="0" bIns="0" rIns="0">
            <a:spAutoFit/>
          </a:bodyPr>
          <a:lstStyle/>
          <a:p>
            <a:pPr algn="just" marL="0" indent="0" lvl="0">
              <a:lnSpc>
                <a:spcPts val="3919"/>
              </a:lnSpc>
              <a:spcBef>
                <a:spcPct val="0"/>
              </a:spcBef>
            </a:pPr>
            <a:r>
              <a:rPr lang="en-US" b="true" sz="2799">
                <a:solidFill>
                  <a:srgbClr val="000000"/>
                </a:solidFill>
                <a:latin typeface="Inter Bold"/>
                <a:ea typeface="Inter Bold"/>
                <a:cs typeface="Inter Bold"/>
                <a:sym typeface="Inter Bold"/>
              </a:rPr>
              <a:t>Gemini</a:t>
            </a:r>
            <a:r>
              <a:rPr lang="en-US" sz="2799" strike="noStrike" u="none">
                <a:solidFill>
                  <a:srgbClr val="000000"/>
                </a:solidFill>
                <a:latin typeface="Inter"/>
                <a:ea typeface="Inter"/>
                <a:cs typeface="Inter"/>
                <a:sym typeface="Inter"/>
              </a:rPr>
              <a:t> là </a:t>
            </a:r>
            <a:r>
              <a:rPr lang="en-US" sz="2799" strike="noStrike" u="none">
                <a:solidFill>
                  <a:srgbClr val="000000"/>
                </a:solidFill>
                <a:latin typeface="Inter"/>
                <a:ea typeface="Inter"/>
                <a:cs typeface="Inter"/>
                <a:sym typeface="Inter"/>
              </a:rPr>
              <a:t>một trong những LLM mạnh mẽ nhất đượ</a:t>
            </a:r>
            <a:r>
              <a:rPr lang="en-US" sz="2799" strike="noStrike" u="none">
                <a:solidFill>
                  <a:srgbClr val="000000"/>
                </a:solidFill>
                <a:latin typeface="Inter"/>
                <a:ea typeface="Inter"/>
                <a:cs typeface="Inter"/>
                <a:sym typeface="Inter"/>
              </a:rPr>
              <a:t>c</a:t>
            </a:r>
            <a:r>
              <a:rPr lang="en-US" sz="2799" strike="noStrike" u="none">
                <a:solidFill>
                  <a:srgbClr val="000000"/>
                </a:solidFill>
                <a:latin typeface="Inter"/>
                <a:ea typeface="Inter"/>
                <a:cs typeface="Inter"/>
                <a:sym typeface="Inter"/>
              </a:rPr>
              <a:t> phát</a:t>
            </a:r>
            <a:r>
              <a:rPr lang="en-US" sz="2799" strike="noStrike" u="none">
                <a:solidFill>
                  <a:srgbClr val="000000"/>
                </a:solidFill>
                <a:latin typeface="Inter"/>
                <a:ea typeface="Inter"/>
                <a:cs typeface="Inter"/>
                <a:sym typeface="Inter"/>
              </a:rPr>
              <a:t> triển </a:t>
            </a:r>
            <a:r>
              <a:rPr lang="en-US" sz="2799" strike="noStrike" u="none">
                <a:solidFill>
                  <a:srgbClr val="000000"/>
                </a:solidFill>
                <a:latin typeface="Inter"/>
                <a:ea typeface="Inter"/>
                <a:cs typeface="Inter"/>
                <a:sym typeface="Inter"/>
              </a:rPr>
              <a:t>bở</a:t>
            </a:r>
            <a:r>
              <a:rPr lang="en-US" sz="2799" strike="noStrike" u="none">
                <a:solidFill>
                  <a:srgbClr val="000000"/>
                </a:solidFill>
                <a:latin typeface="Inter"/>
                <a:ea typeface="Inter"/>
                <a:cs typeface="Inter"/>
                <a:sym typeface="Inter"/>
              </a:rPr>
              <a:t>i </a:t>
            </a:r>
            <a:r>
              <a:rPr lang="en-US" sz="2799" strike="noStrike" u="none">
                <a:solidFill>
                  <a:srgbClr val="000000"/>
                </a:solidFill>
                <a:latin typeface="Inter"/>
                <a:ea typeface="Inter"/>
                <a:cs typeface="Inter"/>
                <a:sym typeface="Inter"/>
              </a:rPr>
              <a:t>Google </a:t>
            </a:r>
            <a:r>
              <a:rPr lang="en-US" sz="2799" strike="noStrike" u="none">
                <a:solidFill>
                  <a:srgbClr val="000000"/>
                </a:solidFill>
                <a:latin typeface="Inter"/>
                <a:ea typeface="Inter"/>
                <a:cs typeface="Inter"/>
                <a:sym typeface="Inter"/>
              </a:rPr>
              <a:t>AI</a:t>
            </a:r>
            <a:r>
              <a:rPr lang="en-US" sz="2799" strike="noStrike" u="none">
                <a:solidFill>
                  <a:srgbClr val="000000"/>
                </a:solidFill>
                <a:latin typeface="Inter"/>
                <a:ea typeface="Inter"/>
                <a:cs typeface="Inter"/>
                <a:sym typeface="Inter"/>
              </a:rPr>
              <a:t>.</a:t>
            </a:r>
            <a:r>
              <a:rPr lang="en-US" sz="2799" strike="noStrike" u="none">
                <a:solidFill>
                  <a:srgbClr val="000000"/>
                </a:solidFill>
                <a:latin typeface="Inter"/>
                <a:ea typeface="Inter"/>
                <a:cs typeface="Inter"/>
                <a:sym typeface="Inter"/>
              </a:rPr>
              <a:t> </a:t>
            </a:r>
            <a:r>
              <a:rPr lang="en-US" sz="2799" strike="noStrike" u="none">
                <a:solidFill>
                  <a:srgbClr val="000000"/>
                </a:solidFill>
                <a:latin typeface="Inter"/>
                <a:ea typeface="Inter"/>
                <a:cs typeface="Inter"/>
                <a:sym typeface="Inter"/>
              </a:rPr>
              <a:t>Gemi</a:t>
            </a:r>
            <a:r>
              <a:rPr lang="en-US" sz="2799" strike="noStrike" u="none">
                <a:solidFill>
                  <a:srgbClr val="000000"/>
                </a:solidFill>
                <a:latin typeface="Inter"/>
                <a:ea typeface="Inter"/>
                <a:cs typeface="Inter"/>
                <a:sym typeface="Inter"/>
              </a:rPr>
              <a:t>n</a:t>
            </a:r>
            <a:r>
              <a:rPr lang="en-US" sz="2799" strike="noStrike" u="none">
                <a:solidFill>
                  <a:srgbClr val="000000"/>
                </a:solidFill>
                <a:latin typeface="Inter"/>
                <a:ea typeface="Inter"/>
                <a:cs typeface="Inter"/>
                <a:sym typeface="Inter"/>
              </a:rPr>
              <a:t>i được</a:t>
            </a:r>
            <a:r>
              <a:rPr lang="en-US" sz="2799" strike="noStrike" u="none">
                <a:solidFill>
                  <a:srgbClr val="000000"/>
                </a:solidFill>
                <a:latin typeface="Inter"/>
                <a:ea typeface="Inter"/>
                <a:cs typeface="Inter"/>
                <a:sym typeface="Inter"/>
              </a:rPr>
              <a:t> th</a:t>
            </a:r>
            <a:r>
              <a:rPr lang="en-US" sz="2799" strike="noStrike" u="none">
                <a:solidFill>
                  <a:srgbClr val="000000"/>
                </a:solidFill>
                <a:latin typeface="Inter"/>
                <a:ea typeface="Inter"/>
                <a:cs typeface="Inter"/>
                <a:sym typeface="Inter"/>
              </a:rPr>
              <a:t>iết</a:t>
            </a:r>
            <a:r>
              <a:rPr lang="en-US" sz="2799" strike="noStrike" u="none">
                <a:solidFill>
                  <a:srgbClr val="000000"/>
                </a:solidFill>
                <a:latin typeface="Inter"/>
                <a:ea typeface="Inter"/>
                <a:cs typeface="Inter"/>
                <a:sym typeface="Inter"/>
              </a:rPr>
              <a:t> </a:t>
            </a:r>
            <a:r>
              <a:rPr lang="en-US" sz="2799" strike="noStrike" u="none">
                <a:solidFill>
                  <a:srgbClr val="000000"/>
                </a:solidFill>
                <a:latin typeface="Inter"/>
                <a:ea typeface="Inter"/>
                <a:cs typeface="Inter"/>
                <a:sym typeface="Inter"/>
              </a:rPr>
              <a:t>kế</a:t>
            </a:r>
            <a:r>
              <a:rPr lang="en-US" sz="2799" strike="noStrike" u="none">
                <a:solidFill>
                  <a:srgbClr val="000000"/>
                </a:solidFill>
                <a:latin typeface="Inter"/>
                <a:ea typeface="Inter"/>
                <a:cs typeface="Inter"/>
                <a:sym typeface="Inter"/>
              </a:rPr>
              <a:t> đ</a:t>
            </a:r>
            <a:r>
              <a:rPr lang="en-US" sz="2799" strike="noStrike" u="none">
                <a:solidFill>
                  <a:srgbClr val="000000"/>
                </a:solidFill>
                <a:latin typeface="Inter"/>
                <a:ea typeface="Inter"/>
                <a:cs typeface="Inter"/>
                <a:sym typeface="Inter"/>
              </a:rPr>
              <a:t>ể</a:t>
            </a:r>
            <a:r>
              <a:rPr lang="en-US" sz="2799" strike="noStrike" u="none">
                <a:solidFill>
                  <a:srgbClr val="000000"/>
                </a:solidFill>
                <a:latin typeface="Inter"/>
                <a:ea typeface="Inter"/>
                <a:cs typeface="Inter"/>
                <a:sym typeface="Inter"/>
              </a:rPr>
              <a:t> </a:t>
            </a:r>
            <a:r>
              <a:rPr lang="en-US" sz="2799" strike="noStrike" u="none">
                <a:solidFill>
                  <a:srgbClr val="000000"/>
                </a:solidFill>
                <a:latin typeface="Inter"/>
                <a:ea typeface="Inter"/>
                <a:cs typeface="Inter"/>
                <a:sym typeface="Inter"/>
              </a:rPr>
              <a:t>vượt trội trong nhiều nhiệm vụ, bao gồm hiểu ngôn</a:t>
            </a:r>
            <a:r>
              <a:rPr lang="en-US" sz="2799" strike="noStrike" u="none">
                <a:solidFill>
                  <a:srgbClr val="000000"/>
                </a:solidFill>
                <a:latin typeface="Inter"/>
                <a:ea typeface="Inter"/>
                <a:cs typeface="Inter"/>
                <a:sym typeface="Inter"/>
              </a:rPr>
              <a:t> ng</a:t>
            </a:r>
            <a:r>
              <a:rPr lang="en-US" sz="2799" strike="noStrike" u="none">
                <a:solidFill>
                  <a:srgbClr val="000000"/>
                </a:solidFill>
                <a:latin typeface="Inter"/>
                <a:ea typeface="Inter"/>
                <a:cs typeface="Inter"/>
                <a:sym typeface="Inter"/>
              </a:rPr>
              <a:t>ữ, lập l</a:t>
            </a:r>
            <a:r>
              <a:rPr lang="en-US" sz="2799" strike="noStrike" u="none">
                <a:solidFill>
                  <a:srgbClr val="000000"/>
                </a:solidFill>
                <a:latin typeface="Inter"/>
                <a:ea typeface="Inter"/>
                <a:cs typeface="Inter"/>
                <a:sym typeface="Inter"/>
              </a:rPr>
              <a:t>u</a:t>
            </a:r>
            <a:r>
              <a:rPr lang="en-US" sz="2799" strike="noStrike" u="none">
                <a:solidFill>
                  <a:srgbClr val="000000"/>
                </a:solidFill>
                <a:latin typeface="Inter"/>
                <a:ea typeface="Inter"/>
                <a:cs typeface="Inter"/>
                <a:sym typeface="Inter"/>
              </a:rPr>
              <a:t>ậ</a:t>
            </a:r>
            <a:r>
              <a:rPr lang="en-US" sz="2799" strike="noStrike" u="none">
                <a:solidFill>
                  <a:srgbClr val="000000"/>
                </a:solidFill>
                <a:latin typeface="Inter"/>
                <a:ea typeface="Inter"/>
                <a:cs typeface="Inter"/>
                <a:sym typeface="Inter"/>
              </a:rPr>
              <a:t>n</a:t>
            </a:r>
            <a:r>
              <a:rPr lang="en-US" sz="2799" strike="noStrike" u="none">
                <a:solidFill>
                  <a:srgbClr val="000000"/>
                </a:solidFill>
                <a:latin typeface="Inter"/>
                <a:ea typeface="Inter"/>
                <a:cs typeface="Inter"/>
                <a:sym typeface="Inter"/>
              </a:rPr>
              <a:t>,</a:t>
            </a:r>
            <a:r>
              <a:rPr lang="en-US" sz="2799" strike="noStrike" u="none">
                <a:solidFill>
                  <a:srgbClr val="000000"/>
                </a:solidFill>
                <a:latin typeface="Inter"/>
                <a:ea typeface="Inter"/>
                <a:cs typeface="Inter"/>
                <a:sym typeface="Inter"/>
              </a:rPr>
              <a:t> </a:t>
            </a:r>
            <a:r>
              <a:rPr lang="en-US" sz="2799" strike="noStrike" u="none">
                <a:solidFill>
                  <a:srgbClr val="000000"/>
                </a:solidFill>
                <a:latin typeface="Inter"/>
                <a:ea typeface="Inter"/>
                <a:cs typeface="Inter"/>
                <a:sym typeface="Inter"/>
              </a:rPr>
              <a:t>và giải quyế</a:t>
            </a:r>
            <a:r>
              <a:rPr lang="en-US" sz="2799" strike="noStrike" u="none">
                <a:solidFill>
                  <a:srgbClr val="000000"/>
                </a:solidFill>
                <a:latin typeface="Inter"/>
                <a:ea typeface="Inter"/>
                <a:cs typeface="Inter"/>
                <a:sym typeface="Inter"/>
              </a:rPr>
              <a:t>t</a:t>
            </a:r>
            <a:r>
              <a:rPr lang="en-US" sz="2799" strike="noStrike" u="none">
                <a:solidFill>
                  <a:srgbClr val="000000"/>
                </a:solidFill>
                <a:latin typeface="Inter"/>
                <a:ea typeface="Inter"/>
                <a:cs typeface="Inter"/>
                <a:sym typeface="Inter"/>
              </a:rPr>
              <a:t> </a:t>
            </a:r>
            <a:r>
              <a:rPr lang="en-US" sz="2799" strike="noStrike" u="none">
                <a:solidFill>
                  <a:srgbClr val="000000"/>
                </a:solidFill>
                <a:latin typeface="Inter"/>
                <a:ea typeface="Inter"/>
                <a:cs typeface="Inter"/>
                <a:sym typeface="Inter"/>
              </a:rPr>
              <a:t>c</a:t>
            </a:r>
            <a:r>
              <a:rPr lang="en-US" sz="2799" strike="noStrike" u="none">
                <a:solidFill>
                  <a:srgbClr val="000000"/>
                </a:solidFill>
                <a:latin typeface="Inter"/>
                <a:ea typeface="Inter"/>
                <a:cs typeface="Inter"/>
                <a:sym typeface="Inter"/>
              </a:rPr>
              <a:t>ác vấn đề</a:t>
            </a:r>
            <a:r>
              <a:rPr lang="en-US" sz="2799" strike="noStrike" u="none">
                <a:solidFill>
                  <a:srgbClr val="000000"/>
                </a:solidFill>
                <a:latin typeface="Inter"/>
                <a:ea typeface="Inter"/>
                <a:cs typeface="Inter"/>
                <a:sym typeface="Inter"/>
              </a:rPr>
              <a:t> </a:t>
            </a:r>
            <a:r>
              <a:rPr lang="en-US" sz="2799" strike="noStrike" u="none">
                <a:solidFill>
                  <a:srgbClr val="000000"/>
                </a:solidFill>
                <a:latin typeface="Inter"/>
                <a:ea typeface="Inter"/>
                <a:cs typeface="Inter"/>
                <a:sym typeface="Inter"/>
              </a:rPr>
              <a:t>phứ</a:t>
            </a:r>
            <a:r>
              <a:rPr lang="en-US" sz="2799" strike="noStrike" u="none">
                <a:solidFill>
                  <a:srgbClr val="000000"/>
                </a:solidFill>
                <a:latin typeface="Inter"/>
                <a:ea typeface="Inter"/>
                <a:cs typeface="Inter"/>
                <a:sym typeface="Inter"/>
              </a:rPr>
              <a:t>c </a:t>
            </a:r>
            <a:r>
              <a:rPr lang="en-US" sz="2799" strike="noStrike" u="none">
                <a:solidFill>
                  <a:srgbClr val="000000"/>
                </a:solidFill>
                <a:latin typeface="Inter"/>
                <a:ea typeface="Inter"/>
                <a:cs typeface="Inter"/>
                <a:sym typeface="Inter"/>
              </a:rPr>
              <a:t>tạp.</a:t>
            </a:r>
          </a:p>
        </p:txBody>
      </p:sp>
      <p:sp>
        <p:nvSpPr>
          <p:cNvPr name="Freeform 11" id="11"/>
          <p:cNvSpPr/>
          <p:nvPr/>
        </p:nvSpPr>
        <p:spPr>
          <a:xfrm flipH="false" flipV="false" rot="0">
            <a:off x="12907965" y="3832971"/>
            <a:ext cx="1956530" cy="1956530"/>
          </a:xfrm>
          <a:custGeom>
            <a:avLst/>
            <a:gdLst/>
            <a:ahLst/>
            <a:cxnLst/>
            <a:rect r="r" b="b" t="t" l="l"/>
            <a:pathLst>
              <a:path h="1956530" w="1956530">
                <a:moveTo>
                  <a:pt x="0" y="0"/>
                </a:moveTo>
                <a:lnTo>
                  <a:pt x="1956531" y="0"/>
                </a:lnTo>
                <a:lnTo>
                  <a:pt x="1956531" y="1956530"/>
                </a:lnTo>
                <a:lnTo>
                  <a:pt x="0" y="195653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12882750" y="6033356"/>
            <a:ext cx="2054331" cy="578205"/>
          </a:xfrm>
          <a:custGeom>
            <a:avLst/>
            <a:gdLst/>
            <a:ahLst/>
            <a:cxnLst/>
            <a:rect r="r" b="b" t="t" l="l"/>
            <a:pathLst>
              <a:path h="578205" w="2054331">
                <a:moveTo>
                  <a:pt x="0" y="0"/>
                </a:moveTo>
                <a:lnTo>
                  <a:pt x="2054330" y="0"/>
                </a:lnTo>
                <a:lnTo>
                  <a:pt x="2054330" y="578204"/>
                </a:lnTo>
                <a:lnTo>
                  <a:pt x="0" y="578204"/>
                </a:lnTo>
                <a:lnTo>
                  <a:pt x="0" y="0"/>
                </a:lnTo>
                <a:close/>
              </a:path>
            </a:pathLst>
          </a:custGeom>
          <a:blipFill>
            <a:blip r:embed="rId5">
              <a:extLst>
                <a:ext uri="{96DAC541-7B7A-43D3-8B79-37D633B846F1}">
                  <asvg:svgBlip xmlns:asvg="http://schemas.microsoft.com/office/drawing/2016/SVG/main" r:embed="rId6"/>
                </a:ext>
              </a:extLst>
            </a:blip>
            <a:stretch>
              <a:fillRect l="0" t="-2084" r="-17323" b="0"/>
            </a:stretch>
          </a:blipFill>
        </p:spPr>
      </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705967" y="9253538"/>
            <a:ext cx="16872456" cy="4762"/>
          </a:xfrm>
          <a:prstGeom prst="line">
            <a:avLst/>
          </a:prstGeom>
          <a:ln cap="rnd" w="19050">
            <a:solidFill>
              <a:srgbClr val="4BADD6"/>
            </a:solidFill>
            <a:prstDash val="solid"/>
            <a:headEnd type="none" len="sm" w="sm"/>
            <a:tailEnd type="none" len="sm" w="sm"/>
          </a:ln>
        </p:spPr>
      </p:sp>
      <p:sp>
        <p:nvSpPr>
          <p:cNvPr name="AutoShape 3" id="3"/>
          <p:cNvSpPr/>
          <p:nvPr/>
        </p:nvSpPr>
        <p:spPr>
          <a:xfrm flipH="true">
            <a:off x="763112" y="716667"/>
            <a:ext cx="0" cy="771525"/>
          </a:xfrm>
          <a:prstGeom prst="line">
            <a:avLst/>
          </a:prstGeom>
          <a:ln cap="rnd" w="114300">
            <a:solidFill>
              <a:srgbClr val="075985">
                <a:alpha val="46667"/>
              </a:srgbClr>
            </a:solidFill>
            <a:prstDash val="solid"/>
            <a:headEnd type="none" len="sm" w="sm"/>
            <a:tailEnd type="none" len="sm" w="sm"/>
          </a:ln>
        </p:spPr>
      </p:sp>
      <p:sp>
        <p:nvSpPr>
          <p:cNvPr name="Freeform 4" id="4"/>
          <p:cNvSpPr/>
          <p:nvPr/>
        </p:nvSpPr>
        <p:spPr>
          <a:xfrm flipH="false" flipV="false" rot="0">
            <a:off x="16713285" y="707142"/>
            <a:ext cx="865138" cy="854186"/>
          </a:xfrm>
          <a:custGeom>
            <a:avLst/>
            <a:gdLst/>
            <a:ahLst/>
            <a:cxnLst/>
            <a:rect r="r" b="b" t="t" l="l"/>
            <a:pathLst>
              <a:path h="854186" w="865138">
                <a:moveTo>
                  <a:pt x="0" y="0"/>
                </a:moveTo>
                <a:lnTo>
                  <a:pt x="865138" y="0"/>
                </a:lnTo>
                <a:lnTo>
                  <a:pt x="865138" y="854186"/>
                </a:lnTo>
                <a:lnTo>
                  <a:pt x="0" y="854186"/>
                </a:lnTo>
                <a:lnTo>
                  <a:pt x="0" y="0"/>
                </a:lnTo>
                <a:close/>
              </a:path>
            </a:pathLst>
          </a:custGeom>
          <a:blipFill>
            <a:blip r:embed="rId3"/>
            <a:stretch>
              <a:fillRect l="0" t="0" r="0" b="0"/>
            </a:stretch>
          </a:blipFill>
        </p:spPr>
      </p:sp>
      <p:sp>
        <p:nvSpPr>
          <p:cNvPr name="TextBox 5" id="5"/>
          <p:cNvSpPr txBox="true"/>
          <p:nvPr/>
        </p:nvSpPr>
        <p:spPr>
          <a:xfrm rot="0">
            <a:off x="763112" y="9369641"/>
            <a:ext cx="12119638" cy="409575"/>
          </a:xfrm>
          <a:prstGeom prst="rect">
            <a:avLst/>
          </a:prstGeom>
        </p:spPr>
        <p:txBody>
          <a:bodyPr anchor="t" rtlCol="false" tIns="0" lIns="0" bIns="0" rIns="0">
            <a:spAutoFit/>
          </a:bodyPr>
          <a:lstStyle/>
          <a:p>
            <a:pPr algn="l" marL="0" indent="0" lvl="0">
              <a:lnSpc>
                <a:spcPts val="3120"/>
              </a:lnSpc>
              <a:spcBef>
                <a:spcPct val="0"/>
              </a:spcBef>
            </a:pPr>
            <a:r>
              <a:rPr lang="en-US" b="true" sz="2600" spc="72" strike="noStrike" u="none">
                <a:solidFill>
                  <a:srgbClr val="00618A"/>
                </a:solidFill>
                <a:latin typeface="Arimo Bold"/>
                <a:ea typeface="Arimo Bold"/>
                <a:cs typeface="Arimo Bold"/>
                <a:sym typeface="Arimo Bold"/>
              </a:rPr>
              <a:t>XÂY DỰNG HỆ THỐNG TẠO VÀ ĐÁNH GIÁ</a:t>
            </a:r>
            <a:r>
              <a:rPr lang="en-US" b="true" sz="2600" spc="72" strike="noStrike" u="none">
                <a:solidFill>
                  <a:srgbClr val="00618A"/>
                </a:solidFill>
                <a:latin typeface="Arimo Bold"/>
                <a:ea typeface="Arimo Bold"/>
                <a:cs typeface="Arimo Bold"/>
                <a:sym typeface="Arimo Bold"/>
              </a:rPr>
              <a:t> HỒ SƠ XIN VIỆC TÍCH HỢP AI</a:t>
            </a:r>
          </a:p>
        </p:txBody>
      </p:sp>
      <p:sp>
        <p:nvSpPr>
          <p:cNvPr name="TextBox 6" id="6"/>
          <p:cNvSpPr txBox="true"/>
          <p:nvPr/>
        </p:nvSpPr>
        <p:spPr>
          <a:xfrm rot="0">
            <a:off x="16876629" y="9369641"/>
            <a:ext cx="628613" cy="409575"/>
          </a:xfrm>
          <a:prstGeom prst="rect">
            <a:avLst/>
          </a:prstGeom>
        </p:spPr>
        <p:txBody>
          <a:bodyPr anchor="t" rtlCol="false" tIns="0" lIns="0" bIns="0" rIns="0">
            <a:spAutoFit/>
          </a:bodyPr>
          <a:lstStyle/>
          <a:p>
            <a:pPr algn="r" marL="0" indent="0" lvl="0">
              <a:lnSpc>
                <a:spcPts val="3120"/>
              </a:lnSpc>
              <a:spcBef>
                <a:spcPct val="0"/>
              </a:spcBef>
            </a:pPr>
            <a:r>
              <a:rPr lang="en-US" b="true" sz="2600" spc="72">
                <a:solidFill>
                  <a:srgbClr val="00618A"/>
                </a:solidFill>
                <a:latin typeface="Arimo Bold"/>
                <a:ea typeface="Arimo Bold"/>
                <a:cs typeface="Arimo Bold"/>
                <a:sym typeface="Arimo Bold"/>
              </a:rPr>
              <a:t>11</a:t>
            </a:r>
          </a:p>
        </p:txBody>
      </p:sp>
      <p:sp>
        <p:nvSpPr>
          <p:cNvPr name="TextBox 7" id="7"/>
          <p:cNvSpPr txBox="true"/>
          <p:nvPr/>
        </p:nvSpPr>
        <p:spPr>
          <a:xfrm rot="0">
            <a:off x="1041536" y="688092"/>
            <a:ext cx="3914009" cy="438150"/>
          </a:xfrm>
          <a:prstGeom prst="rect">
            <a:avLst/>
          </a:prstGeom>
        </p:spPr>
        <p:txBody>
          <a:bodyPr anchor="t" rtlCol="false" tIns="0" lIns="0" bIns="0" rIns="0">
            <a:spAutoFit/>
          </a:bodyPr>
          <a:lstStyle/>
          <a:p>
            <a:pPr algn="l" marL="0" indent="0" lvl="0">
              <a:lnSpc>
                <a:spcPts val="3359"/>
              </a:lnSpc>
              <a:spcBef>
                <a:spcPct val="0"/>
              </a:spcBef>
            </a:pPr>
            <a:r>
              <a:rPr lang="en-US" sz="2799" i="true" spc="77">
                <a:solidFill>
                  <a:srgbClr val="00618A"/>
                </a:solidFill>
                <a:latin typeface="Arimo Italics"/>
                <a:ea typeface="Arimo Italics"/>
                <a:cs typeface="Arimo Italics"/>
                <a:sym typeface="Arimo Italics"/>
              </a:rPr>
              <a:t>2. Cơ sở lý thuyết</a:t>
            </a:r>
          </a:p>
        </p:txBody>
      </p:sp>
      <p:sp>
        <p:nvSpPr>
          <p:cNvPr name="TextBox 8" id="8"/>
          <p:cNvSpPr txBox="true"/>
          <p:nvPr/>
        </p:nvSpPr>
        <p:spPr>
          <a:xfrm rot="0">
            <a:off x="1041536" y="1078617"/>
            <a:ext cx="6067738" cy="438150"/>
          </a:xfrm>
          <a:prstGeom prst="rect">
            <a:avLst/>
          </a:prstGeom>
        </p:spPr>
        <p:txBody>
          <a:bodyPr anchor="t" rtlCol="false" tIns="0" lIns="0" bIns="0" rIns="0">
            <a:spAutoFit/>
          </a:bodyPr>
          <a:lstStyle/>
          <a:p>
            <a:pPr algn="l" marL="0" indent="0" lvl="0">
              <a:lnSpc>
                <a:spcPts val="3359"/>
              </a:lnSpc>
              <a:spcBef>
                <a:spcPct val="0"/>
              </a:spcBef>
            </a:pPr>
            <a:r>
              <a:rPr lang="en-US" b="true" sz="2799" spc="77">
                <a:solidFill>
                  <a:srgbClr val="00618A"/>
                </a:solidFill>
                <a:latin typeface="Arimo Bold"/>
                <a:ea typeface="Arimo Bold"/>
                <a:cs typeface="Arimo Bold"/>
                <a:sym typeface="Arimo Bold"/>
              </a:rPr>
              <a:t>API &amp; WEB API</a:t>
            </a:r>
          </a:p>
        </p:txBody>
      </p:sp>
      <p:sp>
        <p:nvSpPr>
          <p:cNvPr name="Freeform 9" id="9"/>
          <p:cNvSpPr/>
          <p:nvPr/>
        </p:nvSpPr>
        <p:spPr>
          <a:xfrm flipH="false" flipV="false" rot="0">
            <a:off x="6659342" y="2347279"/>
            <a:ext cx="10599958" cy="5592441"/>
          </a:xfrm>
          <a:custGeom>
            <a:avLst/>
            <a:gdLst/>
            <a:ahLst/>
            <a:cxnLst/>
            <a:rect r="r" b="b" t="t" l="l"/>
            <a:pathLst>
              <a:path h="5592441" w="10599958">
                <a:moveTo>
                  <a:pt x="0" y="0"/>
                </a:moveTo>
                <a:lnTo>
                  <a:pt x="10599958" y="0"/>
                </a:lnTo>
                <a:lnTo>
                  <a:pt x="10599958" y="5592442"/>
                </a:lnTo>
                <a:lnTo>
                  <a:pt x="0" y="5592442"/>
                </a:lnTo>
                <a:lnTo>
                  <a:pt x="0" y="0"/>
                </a:lnTo>
                <a:close/>
              </a:path>
            </a:pathLst>
          </a:custGeom>
          <a:blipFill>
            <a:blip r:embed="rId4"/>
            <a:stretch>
              <a:fillRect l="0" t="0" r="0" b="0"/>
            </a:stretch>
          </a:blipFill>
        </p:spPr>
      </p:sp>
      <p:sp>
        <p:nvSpPr>
          <p:cNvPr name="TextBox 10" id="10"/>
          <p:cNvSpPr txBox="true"/>
          <p:nvPr/>
        </p:nvSpPr>
        <p:spPr>
          <a:xfrm rot="0">
            <a:off x="763112" y="3468245"/>
            <a:ext cx="5089183" cy="1481455"/>
          </a:xfrm>
          <a:prstGeom prst="rect">
            <a:avLst/>
          </a:prstGeom>
        </p:spPr>
        <p:txBody>
          <a:bodyPr anchor="t" rtlCol="false" tIns="0" lIns="0" bIns="0" rIns="0">
            <a:spAutoFit/>
          </a:bodyPr>
          <a:lstStyle/>
          <a:p>
            <a:pPr algn="just" marL="0" indent="0" lvl="0">
              <a:lnSpc>
                <a:spcPts val="3919"/>
              </a:lnSpc>
              <a:spcBef>
                <a:spcPct val="0"/>
              </a:spcBef>
            </a:pPr>
            <a:r>
              <a:rPr lang="en-US" b="true" sz="2799" strike="noStrike" u="none">
                <a:solidFill>
                  <a:srgbClr val="000000"/>
                </a:solidFill>
                <a:latin typeface="Inter Bold"/>
                <a:ea typeface="Inter Bold"/>
                <a:cs typeface="Inter Bold"/>
                <a:sym typeface="Inter Bold"/>
              </a:rPr>
              <a:t>API </a:t>
            </a:r>
            <a:r>
              <a:rPr lang="en-US" sz="2799" strike="noStrike" u="none">
                <a:solidFill>
                  <a:srgbClr val="000000"/>
                </a:solidFill>
                <a:latin typeface="Inter"/>
                <a:ea typeface="Inter"/>
                <a:cs typeface="Inter"/>
                <a:sym typeface="Inter"/>
              </a:rPr>
              <a:t>là viết tắt của "Application Programming Interface" (giao diện lập trình ứng dụng)</a:t>
            </a:r>
          </a:p>
        </p:txBody>
      </p:sp>
      <p:sp>
        <p:nvSpPr>
          <p:cNvPr name="TextBox 11" id="11"/>
          <p:cNvSpPr txBox="true"/>
          <p:nvPr/>
        </p:nvSpPr>
        <p:spPr>
          <a:xfrm rot="0">
            <a:off x="763112" y="5249104"/>
            <a:ext cx="5089183" cy="1976755"/>
          </a:xfrm>
          <a:prstGeom prst="rect">
            <a:avLst/>
          </a:prstGeom>
        </p:spPr>
        <p:txBody>
          <a:bodyPr anchor="t" rtlCol="false" tIns="0" lIns="0" bIns="0" rIns="0">
            <a:spAutoFit/>
          </a:bodyPr>
          <a:lstStyle/>
          <a:p>
            <a:pPr algn="just" marL="0" indent="0" lvl="0">
              <a:lnSpc>
                <a:spcPts val="3919"/>
              </a:lnSpc>
              <a:spcBef>
                <a:spcPct val="0"/>
              </a:spcBef>
            </a:pPr>
            <a:r>
              <a:rPr lang="en-US" b="true" sz="2799" strike="noStrike" u="none">
                <a:solidFill>
                  <a:srgbClr val="000000"/>
                </a:solidFill>
                <a:latin typeface="Inter Bold"/>
                <a:ea typeface="Inter Bold"/>
                <a:cs typeface="Inter Bold"/>
                <a:sym typeface="Inter Bold"/>
              </a:rPr>
              <a:t>Web API </a:t>
            </a:r>
            <a:r>
              <a:rPr lang="en-US" sz="2799" strike="noStrike" u="none">
                <a:solidFill>
                  <a:srgbClr val="000000"/>
                </a:solidFill>
                <a:latin typeface="Inter"/>
                <a:ea typeface="Inter"/>
                <a:cs typeface="Inter"/>
                <a:sym typeface="Inter"/>
              </a:rPr>
              <a:t>là một dạng của API được thiết kế để cho phép các ứng dụng web tương tác và giao tiếp với nhau. </a:t>
            </a:r>
          </a:p>
        </p:txBody>
      </p:sp>
    </p:spTree>
  </p:cSld>
  <p:clrMapOvr>
    <a:masterClrMapping/>
  </p:clrMapOvr>
  <p:transition spd="fast">
    <p:fade/>
  </p:transition>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705967" y="9253538"/>
            <a:ext cx="16872456" cy="4762"/>
          </a:xfrm>
          <a:prstGeom prst="line">
            <a:avLst/>
          </a:prstGeom>
          <a:ln cap="rnd" w="19050">
            <a:solidFill>
              <a:srgbClr val="4BADD6"/>
            </a:solidFill>
            <a:prstDash val="solid"/>
            <a:headEnd type="none" len="sm" w="sm"/>
            <a:tailEnd type="none" len="sm" w="sm"/>
          </a:ln>
        </p:spPr>
      </p:sp>
      <p:sp>
        <p:nvSpPr>
          <p:cNvPr name="AutoShape 3" id="3"/>
          <p:cNvSpPr/>
          <p:nvPr/>
        </p:nvSpPr>
        <p:spPr>
          <a:xfrm flipH="true">
            <a:off x="763112" y="716667"/>
            <a:ext cx="0" cy="771525"/>
          </a:xfrm>
          <a:prstGeom prst="line">
            <a:avLst/>
          </a:prstGeom>
          <a:ln cap="rnd" w="114300">
            <a:solidFill>
              <a:srgbClr val="075985">
                <a:alpha val="46667"/>
              </a:srgbClr>
            </a:solidFill>
            <a:prstDash val="solid"/>
            <a:headEnd type="none" len="sm" w="sm"/>
            <a:tailEnd type="none" len="sm" w="sm"/>
          </a:ln>
        </p:spPr>
      </p:sp>
      <p:sp>
        <p:nvSpPr>
          <p:cNvPr name="Freeform 4" id="4"/>
          <p:cNvSpPr/>
          <p:nvPr/>
        </p:nvSpPr>
        <p:spPr>
          <a:xfrm flipH="false" flipV="false" rot="0">
            <a:off x="16713285" y="707142"/>
            <a:ext cx="865138" cy="854186"/>
          </a:xfrm>
          <a:custGeom>
            <a:avLst/>
            <a:gdLst/>
            <a:ahLst/>
            <a:cxnLst/>
            <a:rect r="r" b="b" t="t" l="l"/>
            <a:pathLst>
              <a:path h="854186" w="865138">
                <a:moveTo>
                  <a:pt x="0" y="0"/>
                </a:moveTo>
                <a:lnTo>
                  <a:pt x="865138" y="0"/>
                </a:lnTo>
                <a:lnTo>
                  <a:pt x="865138" y="854186"/>
                </a:lnTo>
                <a:lnTo>
                  <a:pt x="0" y="854186"/>
                </a:lnTo>
                <a:lnTo>
                  <a:pt x="0" y="0"/>
                </a:lnTo>
                <a:close/>
              </a:path>
            </a:pathLst>
          </a:custGeom>
          <a:blipFill>
            <a:blip r:embed="rId2"/>
            <a:stretch>
              <a:fillRect l="0" t="0" r="0" b="0"/>
            </a:stretch>
          </a:blipFill>
        </p:spPr>
      </p:sp>
      <p:sp>
        <p:nvSpPr>
          <p:cNvPr name="TextBox 5" id="5"/>
          <p:cNvSpPr txBox="true"/>
          <p:nvPr/>
        </p:nvSpPr>
        <p:spPr>
          <a:xfrm rot="0">
            <a:off x="763112" y="9369641"/>
            <a:ext cx="12119638" cy="409575"/>
          </a:xfrm>
          <a:prstGeom prst="rect">
            <a:avLst/>
          </a:prstGeom>
        </p:spPr>
        <p:txBody>
          <a:bodyPr anchor="t" rtlCol="false" tIns="0" lIns="0" bIns="0" rIns="0">
            <a:spAutoFit/>
          </a:bodyPr>
          <a:lstStyle/>
          <a:p>
            <a:pPr algn="l" marL="0" indent="0" lvl="0">
              <a:lnSpc>
                <a:spcPts val="3120"/>
              </a:lnSpc>
              <a:spcBef>
                <a:spcPct val="0"/>
              </a:spcBef>
            </a:pPr>
            <a:r>
              <a:rPr lang="en-US" b="true" sz="2600" spc="72" strike="noStrike" u="none">
                <a:solidFill>
                  <a:srgbClr val="00618A"/>
                </a:solidFill>
                <a:latin typeface="Arimo Bold"/>
                <a:ea typeface="Arimo Bold"/>
                <a:cs typeface="Arimo Bold"/>
                <a:sym typeface="Arimo Bold"/>
              </a:rPr>
              <a:t>XÂY DỰNG HỆ THỐNG TẠO VÀ ĐÁNH GIÁ</a:t>
            </a:r>
            <a:r>
              <a:rPr lang="en-US" b="true" sz="2600" spc="72" strike="noStrike" u="none">
                <a:solidFill>
                  <a:srgbClr val="00618A"/>
                </a:solidFill>
                <a:latin typeface="Arimo Bold"/>
                <a:ea typeface="Arimo Bold"/>
                <a:cs typeface="Arimo Bold"/>
                <a:sym typeface="Arimo Bold"/>
              </a:rPr>
              <a:t> HỒ SƠ XIN VIỆC TÍCH HỢP AI</a:t>
            </a:r>
          </a:p>
        </p:txBody>
      </p:sp>
      <p:sp>
        <p:nvSpPr>
          <p:cNvPr name="TextBox 6" id="6"/>
          <p:cNvSpPr txBox="true"/>
          <p:nvPr/>
        </p:nvSpPr>
        <p:spPr>
          <a:xfrm rot="0">
            <a:off x="16960640" y="9369641"/>
            <a:ext cx="544602" cy="409575"/>
          </a:xfrm>
          <a:prstGeom prst="rect">
            <a:avLst/>
          </a:prstGeom>
        </p:spPr>
        <p:txBody>
          <a:bodyPr anchor="t" rtlCol="false" tIns="0" lIns="0" bIns="0" rIns="0">
            <a:spAutoFit/>
          </a:bodyPr>
          <a:lstStyle/>
          <a:p>
            <a:pPr algn="r" marL="0" indent="0" lvl="0">
              <a:lnSpc>
                <a:spcPts val="3120"/>
              </a:lnSpc>
              <a:spcBef>
                <a:spcPct val="0"/>
              </a:spcBef>
            </a:pPr>
            <a:r>
              <a:rPr lang="en-US" b="true" sz="2600" spc="72">
                <a:solidFill>
                  <a:srgbClr val="00618A"/>
                </a:solidFill>
                <a:latin typeface="Arimo Bold"/>
                <a:ea typeface="Arimo Bold"/>
                <a:cs typeface="Arimo Bold"/>
                <a:sym typeface="Arimo Bold"/>
              </a:rPr>
              <a:t>12</a:t>
            </a:r>
          </a:p>
        </p:txBody>
      </p:sp>
      <p:sp>
        <p:nvSpPr>
          <p:cNvPr name="TextBox 7" id="7"/>
          <p:cNvSpPr txBox="true"/>
          <p:nvPr/>
        </p:nvSpPr>
        <p:spPr>
          <a:xfrm rot="0">
            <a:off x="1041536" y="688092"/>
            <a:ext cx="3914009" cy="438150"/>
          </a:xfrm>
          <a:prstGeom prst="rect">
            <a:avLst/>
          </a:prstGeom>
        </p:spPr>
        <p:txBody>
          <a:bodyPr anchor="t" rtlCol="false" tIns="0" lIns="0" bIns="0" rIns="0">
            <a:spAutoFit/>
          </a:bodyPr>
          <a:lstStyle/>
          <a:p>
            <a:pPr algn="l" marL="0" indent="0" lvl="0">
              <a:lnSpc>
                <a:spcPts val="3359"/>
              </a:lnSpc>
              <a:spcBef>
                <a:spcPct val="0"/>
              </a:spcBef>
            </a:pPr>
            <a:r>
              <a:rPr lang="en-US" sz="2799" i="true" spc="77">
                <a:solidFill>
                  <a:srgbClr val="00618A"/>
                </a:solidFill>
                <a:latin typeface="Arimo Italics"/>
                <a:ea typeface="Arimo Italics"/>
                <a:cs typeface="Arimo Italics"/>
                <a:sym typeface="Arimo Italics"/>
              </a:rPr>
              <a:t>2. Cơ sở lý thuyết</a:t>
            </a:r>
          </a:p>
        </p:txBody>
      </p:sp>
      <p:sp>
        <p:nvSpPr>
          <p:cNvPr name="TextBox 8" id="8"/>
          <p:cNvSpPr txBox="true"/>
          <p:nvPr/>
        </p:nvSpPr>
        <p:spPr>
          <a:xfrm rot="0">
            <a:off x="1041536" y="1078617"/>
            <a:ext cx="6067738" cy="438150"/>
          </a:xfrm>
          <a:prstGeom prst="rect">
            <a:avLst/>
          </a:prstGeom>
        </p:spPr>
        <p:txBody>
          <a:bodyPr anchor="t" rtlCol="false" tIns="0" lIns="0" bIns="0" rIns="0">
            <a:spAutoFit/>
          </a:bodyPr>
          <a:lstStyle/>
          <a:p>
            <a:pPr algn="l" marL="0" indent="0" lvl="0">
              <a:lnSpc>
                <a:spcPts val="3359"/>
              </a:lnSpc>
              <a:spcBef>
                <a:spcPct val="0"/>
              </a:spcBef>
            </a:pPr>
            <a:r>
              <a:rPr lang="en-US" b="true" sz="2799" spc="77">
                <a:solidFill>
                  <a:srgbClr val="00618A"/>
                </a:solidFill>
                <a:latin typeface="Arimo Bold"/>
                <a:ea typeface="Arimo Bold"/>
                <a:cs typeface="Arimo Bold"/>
                <a:sym typeface="Arimo Bold"/>
              </a:rPr>
              <a:t>RESTful API</a:t>
            </a:r>
          </a:p>
        </p:txBody>
      </p:sp>
      <p:sp>
        <p:nvSpPr>
          <p:cNvPr name="Freeform 9" id="9"/>
          <p:cNvSpPr/>
          <p:nvPr/>
        </p:nvSpPr>
        <p:spPr>
          <a:xfrm flipH="false" flipV="false" rot="0">
            <a:off x="7284271" y="1868811"/>
            <a:ext cx="10693682" cy="6416209"/>
          </a:xfrm>
          <a:custGeom>
            <a:avLst/>
            <a:gdLst/>
            <a:ahLst/>
            <a:cxnLst/>
            <a:rect r="r" b="b" t="t" l="l"/>
            <a:pathLst>
              <a:path h="6416209" w="10693682">
                <a:moveTo>
                  <a:pt x="0" y="0"/>
                </a:moveTo>
                <a:lnTo>
                  <a:pt x="10693682" y="0"/>
                </a:lnTo>
                <a:lnTo>
                  <a:pt x="10693682" y="6416209"/>
                </a:lnTo>
                <a:lnTo>
                  <a:pt x="0" y="6416209"/>
                </a:lnTo>
                <a:lnTo>
                  <a:pt x="0" y="0"/>
                </a:lnTo>
                <a:close/>
              </a:path>
            </a:pathLst>
          </a:custGeom>
          <a:blipFill>
            <a:blip r:embed="rId3"/>
            <a:stretch>
              <a:fillRect l="0" t="0" r="0" b="0"/>
            </a:stretch>
          </a:blipFill>
        </p:spPr>
      </p:sp>
      <p:sp>
        <p:nvSpPr>
          <p:cNvPr name="TextBox 10" id="10"/>
          <p:cNvSpPr txBox="true"/>
          <p:nvPr/>
        </p:nvSpPr>
        <p:spPr>
          <a:xfrm rot="0">
            <a:off x="786254" y="3107145"/>
            <a:ext cx="5743259" cy="986155"/>
          </a:xfrm>
          <a:prstGeom prst="rect">
            <a:avLst/>
          </a:prstGeom>
        </p:spPr>
        <p:txBody>
          <a:bodyPr anchor="t" rtlCol="false" tIns="0" lIns="0" bIns="0" rIns="0">
            <a:spAutoFit/>
          </a:bodyPr>
          <a:lstStyle/>
          <a:p>
            <a:pPr algn="just" marL="0" indent="0" lvl="0">
              <a:lnSpc>
                <a:spcPts val="3919"/>
              </a:lnSpc>
              <a:spcBef>
                <a:spcPct val="0"/>
              </a:spcBef>
            </a:pPr>
            <a:r>
              <a:rPr lang="en-US" b="true" sz="2799">
                <a:solidFill>
                  <a:srgbClr val="000000"/>
                </a:solidFill>
                <a:latin typeface="Inter Bold"/>
                <a:ea typeface="Inter Bold"/>
                <a:cs typeface="Inter Bold"/>
                <a:sym typeface="Inter Bold"/>
              </a:rPr>
              <a:t>REST</a:t>
            </a:r>
            <a:r>
              <a:rPr lang="en-US" sz="2799">
                <a:solidFill>
                  <a:srgbClr val="000000"/>
                </a:solidFill>
                <a:latin typeface="Inter"/>
                <a:ea typeface="Inter"/>
                <a:cs typeface="Inter"/>
                <a:sym typeface="Inter"/>
              </a:rPr>
              <a:t> l</a:t>
            </a:r>
            <a:r>
              <a:rPr lang="en-US" sz="2799" strike="noStrike" u="none">
                <a:solidFill>
                  <a:srgbClr val="000000"/>
                </a:solidFill>
                <a:latin typeface="Inter"/>
                <a:ea typeface="Inter"/>
                <a:cs typeface="Inter"/>
                <a:sym typeface="Inter"/>
              </a:rPr>
              <a:t>à một phong cách kiến trúc được sử dụng để xây dựng API.</a:t>
            </a:r>
          </a:p>
        </p:txBody>
      </p:sp>
      <p:sp>
        <p:nvSpPr>
          <p:cNvPr name="TextBox 11" id="11"/>
          <p:cNvSpPr txBox="true"/>
          <p:nvPr/>
        </p:nvSpPr>
        <p:spPr>
          <a:xfrm rot="0">
            <a:off x="786254" y="4302851"/>
            <a:ext cx="6578304" cy="1481455"/>
          </a:xfrm>
          <a:prstGeom prst="rect">
            <a:avLst/>
          </a:prstGeom>
        </p:spPr>
        <p:txBody>
          <a:bodyPr anchor="t" rtlCol="false" tIns="0" lIns="0" bIns="0" rIns="0">
            <a:spAutoFit/>
          </a:bodyPr>
          <a:lstStyle/>
          <a:p>
            <a:pPr algn="just" marL="0" indent="0" lvl="0">
              <a:lnSpc>
                <a:spcPts val="3919"/>
              </a:lnSpc>
              <a:spcBef>
                <a:spcPct val="0"/>
              </a:spcBef>
            </a:pPr>
            <a:r>
              <a:rPr lang="en-US" sz="2799" strike="noStrike" u="none">
                <a:solidFill>
                  <a:srgbClr val="000000"/>
                </a:solidFill>
                <a:latin typeface="Inter"/>
                <a:ea typeface="Inter"/>
                <a:cs typeface="Inter"/>
                <a:sym typeface="Inter"/>
              </a:rPr>
              <a:t>REST</a:t>
            </a:r>
            <a:r>
              <a:rPr lang="en-US" sz="2799" strike="noStrike" u="none">
                <a:solidFill>
                  <a:srgbClr val="000000"/>
                </a:solidFill>
                <a:latin typeface="Inter"/>
                <a:ea typeface="Inter"/>
                <a:cs typeface="Inter"/>
                <a:sym typeface="Inter"/>
              </a:rPr>
              <a:t> d</a:t>
            </a:r>
            <a:r>
              <a:rPr lang="en-US" sz="2799" strike="noStrike" u="none">
                <a:solidFill>
                  <a:srgbClr val="000000"/>
                </a:solidFill>
                <a:latin typeface="Inter"/>
                <a:ea typeface="Inter"/>
                <a:cs typeface="Inter"/>
                <a:sym typeface="Inter"/>
              </a:rPr>
              <a:t>ựa trê</a:t>
            </a:r>
            <a:r>
              <a:rPr lang="en-US" sz="2799" strike="noStrike" u="none">
                <a:solidFill>
                  <a:srgbClr val="000000"/>
                </a:solidFill>
                <a:latin typeface="Inter"/>
                <a:ea typeface="Inter"/>
                <a:cs typeface="Inter"/>
                <a:sym typeface="Inter"/>
              </a:rPr>
              <a:t>n các ng</a:t>
            </a:r>
            <a:r>
              <a:rPr lang="en-US" sz="2799" strike="noStrike" u="none">
                <a:solidFill>
                  <a:srgbClr val="000000"/>
                </a:solidFill>
                <a:latin typeface="Inter"/>
                <a:ea typeface="Inter"/>
                <a:cs typeface="Inter"/>
                <a:sym typeface="Inter"/>
              </a:rPr>
              <a:t>uyên</a:t>
            </a:r>
            <a:r>
              <a:rPr lang="en-US" sz="2799" strike="noStrike" u="none">
                <a:solidFill>
                  <a:srgbClr val="000000"/>
                </a:solidFill>
                <a:latin typeface="Inter"/>
                <a:ea typeface="Inter"/>
                <a:cs typeface="Inter"/>
                <a:sym typeface="Inter"/>
              </a:rPr>
              <a:t> t</a:t>
            </a:r>
            <a:r>
              <a:rPr lang="en-US" sz="2799" strike="noStrike" u="none">
                <a:solidFill>
                  <a:srgbClr val="000000"/>
                </a:solidFill>
                <a:latin typeface="Inter"/>
                <a:ea typeface="Inter"/>
                <a:cs typeface="Inter"/>
                <a:sym typeface="Inter"/>
              </a:rPr>
              <a:t>ắ</a:t>
            </a:r>
            <a:r>
              <a:rPr lang="en-US" sz="2799" strike="noStrike" u="none">
                <a:solidFill>
                  <a:srgbClr val="000000"/>
                </a:solidFill>
                <a:latin typeface="Inter"/>
                <a:ea typeface="Inter"/>
                <a:cs typeface="Inter"/>
                <a:sym typeface="Inter"/>
              </a:rPr>
              <a:t>c </a:t>
            </a:r>
            <a:r>
              <a:rPr lang="en-US" sz="2799" strike="noStrike" u="none">
                <a:solidFill>
                  <a:srgbClr val="000000"/>
                </a:solidFill>
                <a:latin typeface="Inter"/>
                <a:ea typeface="Inter"/>
                <a:cs typeface="Inter"/>
                <a:sym typeface="Inter"/>
              </a:rPr>
              <a:t>đơn</a:t>
            </a:r>
            <a:r>
              <a:rPr lang="en-US" sz="2799" strike="noStrike" u="none">
                <a:solidFill>
                  <a:srgbClr val="000000"/>
                </a:solidFill>
                <a:latin typeface="Inter"/>
                <a:ea typeface="Inter"/>
                <a:cs typeface="Inter"/>
                <a:sym typeface="Inter"/>
              </a:rPr>
              <a:t> </a:t>
            </a:r>
            <a:r>
              <a:rPr lang="en-US" sz="2799" strike="noStrike" u="none">
                <a:solidFill>
                  <a:srgbClr val="000000"/>
                </a:solidFill>
                <a:latin typeface="Inter"/>
                <a:ea typeface="Inter"/>
                <a:cs typeface="Inter"/>
                <a:sym typeface="Inter"/>
              </a:rPr>
              <a:t>giả</a:t>
            </a:r>
            <a:r>
              <a:rPr lang="en-US" sz="2799" strike="noStrike" u="none">
                <a:solidFill>
                  <a:srgbClr val="000000"/>
                </a:solidFill>
                <a:latin typeface="Inter"/>
                <a:ea typeface="Inter"/>
                <a:cs typeface="Inter"/>
                <a:sym typeface="Inter"/>
              </a:rPr>
              <a:t>n, không trạng thái và thao tác tài nguyên qua HTTP</a:t>
            </a:r>
          </a:p>
        </p:txBody>
      </p:sp>
      <p:sp>
        <p:nvSpPr>
          <p:cNvPr name="TextBox 12" id="12"/>
          <p:cNvSpPr txBox="true"/>
          <p:nvPr/>
        </p:nvSpPr>
        <p:spPr>
          <a:xfrm rot="0">
            <a:off x="786254" y="5993856"/>
            <a:ext cx="6578304" cy="986155"/>
          </a:xfrm>
          <a:prstGeom prst="rect">
            <a:avLst/>
          </a:prstGeom>
        </p:spPr>
        <p:txBody>
          <a:bodyPr anchor="t" rtlCol="false" tIns="0" lIns="0" bIns="0" rIns="0">
            <a:spAutoFit/>
          </a:bodyPr>
          <a:lstStyle/>
          <a:p>
            <a:pPr algn="just" marL="0" indent="0" lvl="0">
              <a:lnSpc>
                <a:spcPts val="3919"/>
              </a:lnSpc>
              <a:spcBef>
                <a:spcPct val="0"/>
              </a:spcBef>
            </a:pPr>
            <a:r>
              <a:rPr lang="en-US" b="true" sz="2799" strike="noStrike" u="none">
                <a:solidFill>
                  <a:srgbClr val="000000"/>
                </a:solidFill>
                <a:latin typeface="Inter Bold"/>
                <a:ea typeface="Inter Bold"/>
                <a:cs typeface="Inter Bold"/>
                <a:sym typeface="Inter Bold"/>
              </a:rPr>
              <a:t>RESTful</a:t>
            </a:r>
            <a:r>
              <a:rPr lang="en-US" sz="2799" strike="noStrike" u="none">
                <a:solidFill>
                  <a:srgbClr val="000000"/>
                </a:solidFill>
                <a:latin typeface="Inter"/>
                <a:ea typeface="Inter"/>
                <a:cs typeface="Inter"/>
                <a:sym typeface="Inter"/>
              </a:rPr>
              <a:t> là việc triển khai API tuân thủ đầy đủ các nguyên tắc của REST</a:t>
            </a:r>
          </a:p>
        </p:txBody>
      </p:sp>
    </p:spTree>
  </p:cSld>
  <p:clrMapOvr>
    <a:masterClrMapping/>
  </p:clrMapOvr>
  <p:transition spd="fast">
    <p:fade/>
  </p:transition>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653264" y="4752975"/>
            <a:ext cx="10981471" cy="771525"/>
          </a:xfrm>
          <a:prstGeom prst="rect">
            <a:avLst/>
          </a:prstGeom>
        </p:spPr>
        <p:txBody>
          <a:bodyPr anchor="t" rtlCol="false" tIns="0" lIns="0" bIns="0" rIns="0">
            <a:spAutoFit/>
          </a:bodyPr>
          <a:lstStyle/>
          <a:p>
            <a:pPr algn="ctr" marL="0" indent="0" lvl="0">
              <a:lnSpc>
                <a:spcPts val="6000"/>
              </a:lnSpc>
              <a:spcBef>
                <a:spcPct val="0"/>
              </a:spcBef>
            </a:pPr>
            <a:r>
              <a:rPr lang="en-US" b="true" sz="5000" spc="138">
                <a:solidFill>
                  <a:srgbClr val="00618A">
                    <a:alpha val="81961"/>
                  </a:srgbClr>
                </a:solidFill>
                <a:latin typeface="Open Sans Bold"/>
                <a:ea typeface="Open Sans Bold"/>
                <a:cs typeface="Open Sans Bold"/>
                <a:sym typeface="Open Sans Bold"/>
              </a:rPr>
              <a:t>3. HIỆN THỰC HOÁ NGHIÊN CỨU</a:t>
            </a:r>
          </a:p>
        </p:txBody>
      </p:sp>
      <p:sp>
        <p:nvSpPr>
          <p:cNvPr name="AutoShape 3" id="3"/>
          <p:cNvSpPr/>
          <p:nvPr/>
        </p:nvSpPr>
        <p:spPr>
          <a:xfrm flipV="true">
            <a:off x="705967" y="1028700"/>
            <a:ext cx="14985584" cy="0"/>
          </a:xfrm>
          <a:prstGeom prst="line">
            <a:avLst/>
          </a:prstGeom>
          <a:ln cap="rnd" w="19050">
            <a:solidFill>
              <a:srgbClr val="4BADD6"/>
            </a:solidFill>
            <a:prstDash val="solid"/>
            <a:headEnd type="none" len="sm" w="sm"/>
            <a:tailEnd type="none" len="sm" w="sm"/>
          </a:ln>
        </p:spPr>
      </p:sp>
      <p:sp>
        <p:nvSpPr>
          <p:cNvPr name="AutoShape 4" id="4"/>
          <p:cNvSpPr/>
          <p:nvPr/>
        </p:nvSpPr>
        <p:spPr>
          <a:xfrm>
            <a:off x="705967" y="9253538"/>
            <a:ext cx="16872456" cy="4762"/>
          </a:xfrm>
          <a:prstGeom prst="line">
            <a:avLst/>
          </a:prstGeom>
          <a:ln cap="rnd" w="19050">
            <a:solidFill>
              <a:srgbClr val="4BADD6"/>
            </a:solidFill>
            <a:prstDash val="solid"/>
            <a:headEnd type="none" len="sm" w="sm"/>
            <a:tailEnd type="none" len="sm" w="sm"/>
          </a:ln>
        </p:spPr>
      </p:sp>
      <p:sp>
        <p:nvSpPr>
          <p:cNvPr name="TextBox 5" id="5"/>
          <p:cNvSpPr txBox="true"/>
          <p:nvPr/>
        </p:nvSpPr>
        <p:spPr>
          <a:xfrm rot="0">
            <a:off x="763112" y="9369641"/>
            <a:ext cx="12119638" cy="409575"/>
          </a:xfrm>
          <a:prstGeom prst="rect">
            <a:avLst/>
          </a:prstGeom>
        </p:spPr>
        <p:txBody>
          <a:bodyPr anchor="t" rtlCol="false" tIns="0" lIns="0" bIns="0" rIns="0">
            <a:spAutoFit/>
          </a:bodyPr>
          <a:lstStyle/>
          <a:p>
            <a:pPr algn="l" marL="0" indent="0" lvl="0">
              <a:lnSpc>
                <a:spcPts val="3120"/>
              </a:lnSpc>
              <a:spcBef>
                <a:spcPct val="0"/>
              </a:spcBef>
            </a:pPr>
            <a:r>
              <a:rPr lang="en-US" b="true" sz="2600" spc="72" strike="noStrike" u="none">
                <a:solidFill>
                  <a:srgbClr val="00618A"/>
                </a:solidFill>
                <a:latin typeface="Arimo Bold"/>
                <a:ea typeface="Arimo Bold"/>
                <a:cs typeface="Arimo Bold"/>
                <a:sym typeface="Arimo Bold"/>
              </a:rPr>
              <a:t>XÂY DỰNG HỆ THỐNG TẠO VÀ ĐÁNH GIÁ</a:t>
            </a:r>
            <a:r>
              <a:rPr lang="en-US" b="true" sz="2600" spc="72" strike="noStrike" u="none">
                <a:solidFill>
                  <a:srgbClr val="00618A"/>
                </a:solidFill>
                <a:latin typeface="Arimo Bold"/>
                <a:ea typeface="Arimo Bold"/>
                <a:cs typeface="Arimo Bold"/>
                <a:sym typeface="Arimo Bold"/>
              </a:rPr>
              <a:t> HỒ SƠ XIN VIỆC TÍCH HỢP AI</a:t>
            </a:r>
          </a:p>
        </p:txBody>
      </p:sp>
      <p:sp>
        <p:nvSpPr>
          <p:cNvPr name="TextBox 6" id="6"/>
          <p:cNvSpPr txBox="true"/>
          <p:nvPr/>
        </p:nvSpPr>
        <p:spPr>
          <a:xfrm rot="0">
            <a:off x="17023516" y="9369641"/>
            <a:ext cx="481726" cy="409575"/>
          </a:xfrm>
          <a:prstGeom prst="rect">
            <a:avLst/>
          </a:prstGeom>
        </p:spPr>
        <p:txBody>
          <a:bodyPr anchor="t" rtlCol="false" tIns="0" lIns="0" bIns="0" rIns="0">
            <a:spAutoFit/>
          </a:bodyPr>
          <a:lstStyle/>
          <a:p>
            <a:pPr algn="ctr" marL="0" indent="0" lvl="0">
              <a:lnSpc>
                <a:spcPts val="3120"/>
              </a:lnSpc>
              <a:spcBef>
                <a:spcPct val="0"/>
              </a:spcBef>
            </a:pPr>
            <a:r>
              <a:rPr lang="en-US" b="true" sz="2600" spc="72">
                <a:solidFill>
                  <a:srgbClr val="00618A"/>
                </a:solidFill>
                <a:latin typeface="Arimo Bold"/>
                <a:ea typeface="Arimo Bold"/>
                <a:cs typeface="Arimo Bold"/>
                <a:sym typeface="Arimo Bold"/>
              </a:rPr>
              <a:t>13</a:t>
            </a:r>
          </a:p>
        </p:txBody>
      </p:sp>
      <p:sp>
        <p:nvSpPr>
          <p:cNvPr name="Freeform 7" id="7"/>
          <p:cNvSpPr/>
          <p:nvPr/>
        </p:nvSpPr>
        <p:spPr>
          <a:xfrm flipH="false" flipV="false" rot="0">
            <a:off x="16713285" y="707142"/>
            <a:ext cx="865138" cy="854186"/>
          </a:xfrm>
          <a:custGeom>
            <a:avLst/>
            <a:gdLst/>
            <a:ahLst/>
            <a:cxnLst/>
            <a:rect r="r" b="b" t="t" l="l"/>
            <a:pathLst>
              <a:path h="854186" w="865138">
                <a:moveTo>
                  <a:pt x="0" y="0"/>
                </a:moveTo>
                <a:lnTo>
                  <a:pt x="865138" y="0"/>
                </a:lnTo>
                <a:lnTo>
                  <a:pt x="865138" y="854186"/>
                </a:lnTo>
                <a:lnTo>
                  <a:pt x="0" y="854186"/>
                </a:lnTo>
                <a:lnTo>
                  <a:pt x="0" y="0"/>
                </a:lnTo>
                <a:close/>
              </a:path>
            </a:pathLst>
          </a:custGeom>
          <a:blipFill>
            <a:blip r:embed="rId2"/>
            <a:stretch>
              <a:fillRect l="0" t="0" r="0" b="0"/>
            </a:stretch>
          </a:blipFill>
        </p:spPr>
      </p:sp>
    </p:spTree>
  </p:cSld>
  <p:clrMapOvr>
    <a:masterClrMapping/>
  </p:clrMapOvr>
  <p:transition spd="fast">
    <p:fade/>
  </p:transition>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705967" y="9253538"/>
            <a:ext cx="16872456" cy="4762"/>
          </a:xfrm>
          <a:prstGeom prst="line">
            <a:avLst/>
          </a:prstGeom>
          <a:ln cap="rnd" w="19050">
            <a:solidFill>
              <a:srgbClr val="4BADD6"/>
            </a:solidFill>
            <a:prstDash val="solid"/>
            <a:headEnd type="none" len="sm" w="sm"/>
            <a:tailEnd type="none" len="sm" w="sm"/>
          </a:ln>
        </p:spPr>
      </p:sp>
      <p:sp>
        <p:nvSpPr>
          <p:cNvPr name="AutoShape 3" id="3"/>
          <p:cNvSpPr/>
          <p:nvPr/>
        </p:nvSpPr>
        <p:spPr>
          <a:xfrm flipH="true">
            <a:off x="763112" y="716667"/>
            <a:ext cx="0" cy="771525"/>
          </a:xfrm>
          <a:prstGeom prst="line">
            <a:avLst/>
          </a:prstGeom>
          <a:ln cap="rnd" w="114300">
            <a:solidFill>
              <a:srgbClr val="075985">
                <a:alpha val="46667"/>
              </a:srgbClr>
            </a:solidFill>
            <a:prstDash val="solid"/>
            <a:headEnd type="none" len="sm" w="sm"/>
            <a:tailEnd type="none" len="sm" w="sm"/>
          </a:ln>
        </p:spPr>
      </p:sp>
      <p:sp>
        <p:nvSpPr>
          <p:cNvPr name="Freeform 4" id="4"/>
          <p:cNvSpPr/>
          <p:nvPr/>
        </p:nvSpPr>
        <p:spPr>
          <a:xfrm flipH="false" flipV="false" rot="0">
            <a:off x="16713285" y="707142"/>
            <a:ext cx="865138" cy="854186"/>
          </a:xfrm>
          <a:custGeom>
            <a:avLst/>
            <a:gdLst/>
            <a:ahLst/>
            <a:cxnLst/>
            <a:rect r="r" b="b" t="t" l="l"/>
            <a:pathLst>
              <a:path h="854186" w="865138">
                <a:moveTo>
                  <a:pt x="0" y="0"/>
                </a:moveTo>
                <a:lnTo>
                  <a:pt x="865138" y="0"/>
                </a:lnTo>
                <a:lnTo>
                  <a:pt x="865138" y="854186"/>
                </a:lnTo>
                <a:lnTo>
                  <a:pt x="0" y="854186"/>
                </a:lnTo>
                <a:lnTo>
                  <a:pt x="0" y="0"/>
                </a:lnTo>
                <a:close/>
              </a:path>
            </a:pathLst>
          </a:custGeom>
          <a:blipFill>
            <a:blip r:embed="rId3"/>
            <a:stretch>
              <a:fillRect l="0" t="0" r="0" b="0"/>
            </a:stretch>
          </a:blipFill>
        </p:spPr>
      </p:sp>
      <p:sp>
        <p:nvSpPr>
          <p:cNvPr name="TextBox 5" id="5"/>
          <p:cNvSpPr txBox="true"/>
          <p:nvPr/>
        </p:nvSpPr>
        <p:spPr>
          <a:xfrm rot="0">
            <a:off x="763112" y="9369641"/>
            <a:ext cx="12119638" cy="409575"/>
          </a:xfrm>
          <a:prstGeom prst="rect">
            <a:avLst/>
          </a:prstGeom>
        </p:spPr>
        <p:txBody>
          <a:bodyPr anchor="t" rtlCol="false" tIns="0" lIns="0" bIns="0" rIns="0">
            <a:spAutoFit/>
          </a:bodyPr>
          <a:lstStyle/>
          <a:p>
            <a:pPr algn="l" marL="0" indent="0" lvl="0">
              <a:lnSpc>
                <a:spcPts val="3120"/>
              </a:lnSpc>
              <a:spcBef>
                <a:spcPct val="0"/>
              </a:spcBef>
            </a:pPr>
            <a:r>
              <a:rPr lang="en-US" b="true" sz="2600" spc="72" strike="noStrike" u="none">
                <a:solidFill>
                  <a:srgbClr val="00618A"/>
                </a:solidFill>
                <a:latin typeface="Arimo Bold"/>
                <a:ea typeface="Arimo Bold"/>
                <a:cs typeface="Arimo Bold"/>
                <a:sym typeface="Arimo Bold"/>
              </a:rPr>
              <a:t>XÂY DỰNG HỆ THỐNG TẠO VÀ ĐÁNH GIÁ</a:t>
            </a:r>
            <a:r>
              <a:rPr lang="en-US" b="true" sz="2600" spc="72" strike="noStrike" u="none">
                <a:solidFill>
                  <a:srgbClr val="00618A"/>
                </a:solidFill>
                <a:latin typeface="Arimo Bold"/>
                <a:ea typeface="Arimo Bold"/>
                <a:cs typeface="Arimo Bold"/>
                <a:sym typeface="Arimo Bold"/>
              </a:rPr>
              <a:t> HỒ SƠ XIN VIỆC TÍCH HỢP AI</a:t>
            </a:r>
          </a:p>
        </p:txBody>
      </p:sp>
      <p:sp>
        <p:nvSpPr>
          <p:cNvPr name="TextBox 6" id="6"/>
          <p:cNvSpPr txBox="true"/>
          <p:nvPr/>
        </p:nvSpPr>
        <p:spPr>
          <a:xfrm rot="0">
            <a:off x="17023516" y="9369641"/>
            <a:ext cx="481726" cy="409575"/>
          </a:xfrm>
          <a:prstGeom prst="rect">
            <a:avLst/>
          </a:prstGeom>
        </p:spPr>
        <p:txBody>
          <a:bodyPr anchor="t" rtlCol="false" tIns="0" lIns="0" bIns="0" rIns="0">
            <a:spAutoFit/>
          </a:bodyPr>
          <a:lstStyle/>
          <a:p>
            <a:pPr algn="ctr" marL="0" indent="0" lvl="0">
              <a:lnSpc>
                <a:spcPts val="3120"/>
              </a:lnSpc>
              <a:spcBef>
                <a:spcPct val="0"/>
              </a:spcBef>
            </a:pPr>
            <a:r>
              <a:rPr lang="en-US" b="true" sz="2600" spc="72">
                <a:solidFill>
                  <a:srgbClr val="00618A"/>
                </a:solidFill>
                <a:latin typeface="Arimo Bold"/>
                <a:ea typeface="Arimo Bold"/>
                <a:cs typeface="Arimo Bold"/>
                <a:sym typeface="Arimo Bold"/>
              </a:rPr>
              <a:t>14</a:t>
            </a:r>
          </a:p>
        </p:txBody>
      </p:sp>
      <p:sp>
        <p:nvSpPr>
          <p:cNvPr name="TextBox 7" id="7"/>
          <p:cNvSpPr txBox="true"/>
          <p:nvPr/>
        </p:nvSpPr>
        <p:spPr>
          <a:xfrm rot="0">
            <a:off x="1041536" y="688092"/>
            <a:ext cx="4807118" cy="438150"/>
          </a:xfrm>
          <a:prstGeom prst="rect">
            <a:avLst/>
          </a:prstGeom>
        </p:spPr>
        <p:txBody>
          <a:bodyPr anchor="t" rtlCol="false" tIns="0" lIns="0" bIns="0" rIns="0">
            <a:spAutoFit/>
          </a:bodyPr>
          <a:lstStyle/>
          <a:p>
            <a:pPr algn="l" marL="0" indent="0" lvl="0">
              <a:lnSpc>
                <a:spcPts val="3359"/>
              </a:lnSpc>
              <a:spcBef>
                <a:spcPct val="0"/>
              </a:spcBef>
            </a:pPr>
            <a:r>
              <a:rPr lang="en-US" sz="2799" i="true" spc="77">
                <a:solidFill>
                  <a:srgbClr val="00618A"/>
                </a:solidFill>
                <a:latin typeface="Arimo Italics"/>
                <a:ea typeface="Arimo Italics"/>
                <a:cs typeface="Arimo Italics"/>
                <a:sym typeface="Arimo Italics"/>
              </a:rPr>
              <a:t>3. Hiện thực hoá nghiên cứu</a:t>
            </a:r>
          </a:p>
        </p:txBody>
      </p:sp>
      <p:sp>
        <p:nvSpPr>
          <p:cNvPr name="TextBox 8" id="8"/>
          <p:cNvSpPr txBox="true"/>
          <p:nvPr/>
        </p:nvSpPr>
        <p:spPr>
          <a:xfrm rot="0">
            <a:off x="1041536" y="1078617"/>
            <a:ext cx="6067738" cy="438150"/>
          </a:xfrm>
          <a:prstGeom prst="rect">
            <a:avLst/>
          </a:prstGeom>
        </p:spPr>
        <p:txBody>
          <a:bodyPr anchor="t" rtlCol="false" tIns="0" lIns="0" bIns="0" rIns="0">
            <a:spAutoFit/>
          </a:bodyPr>
          <a:lstStyle/>
          <a:p>
            <a:pPr algn="l" marL="0" indent="0" lvl="0">
              <a:lnSpc>
                <a:spcPts val="3359"/>
              </a:lnSpc>
              <a:spcBef>
                <a:spcPct val="0"/>
              </a:spcBef>
            </a:pPr>
            <a:r>
              <a:rPr lang="en-US" b="true" sz="2799" spc="77">
                <a:solidFill>
                  <a:srgbClr val="00618A"/>
                </a:solidFill>
                <a:latin typeface="Arimo Bold"/>
                <a:ea typeface="Arimo Bold"/>
                <a:cs typeface="Arimo Bold"/>
                <a:sym typeface="Arimo Bold"/>
              </a:rPr>
              <a:t>Kiến trúc hệ thống</a:t>
            </a:r>
          </a:p>
        </p:txBody>
      </p:sp>
      <p:grpSp>
        <p:nvGrpSpPr>
          <p:cNvPr name="Group 9" id="9"/>
          <p:cNvGrpSpPr/>
          <p:nvPr/>
        </p:nvGrpSpPr>
        <p:grpSpPr>
          <a:xfrm rot="0">
            <a:off x="1473622" y="2114038"/>
            <a:ext cx="15340755" cy="6058924"/>
            <a:chOff x="0" y="0"/>
            <a:chExt cx="20454341" cy="8078566"/>
          </a:xfrm>
        </p:grpSpPr>
        <p:grpSp>
          <p:nvGrpSpPr>
            <p:cNvPr name="Group 10" id="10"/>
            <p:cNvGrpSpPr/>
            <p:nvPr/>
          </p:nvGrpSpPr>
          <p:grpSpPr>
            <a:xfrm rot="0">
              <a:off x="8938248" y="811682"/>
              <a:ext cx="8272281" cy="6846039"/>
              <a:chOff x="0" y="0"/>
              <a:chExt cx="1452402" cy="1201990"/>
            </a:xfrm>
          </p:grpSpPr>
          <p:sp>
            <p:nvSpPr>
              <p:cNvPr name="Freeform 11" id="11"/>
              <p:cNvSpPr/>
              <p:nvPr/>
            </p:nvSpPr>
            <p:spPr>
              <a:xfrm flipH="false" flipV="false" rot="0">
                <a:off x="0" y="0"/>
                <a:ext cx="1452402" cy="1201990"/>
              </a:xfrm>
              <a:custGeom>
                <a:avLst/>
                <a:gdLst/>
                <a:ahLst/>
                <a:cxnLst/>
                <a:rect r="r" b="b" t="t" l="l"/>
                <a:pathLst>
                  <a:path h="1201990" w="1452402">
                    <a:moveTo>
                      <a:pt x="63640" y="0"/>
                    </a:moveTo>
                    <a:lnTo>
                      <a:pt x="1388762" y="0"/>
                    </a:lnTo>
                    <a:cubicBezTo>
                      <a:pt x="1405640" y="0"/>
                      <a:pt x="1421828" y="6705"/>
                      <a:pt x="1433762" y="18640"/>
                    </a:cubicBezTo>
                    <a:cubicBezTo>
                      <a:pt x="1445697" y="30575"/>
                      <a:pt x="1452402" y="46762"/>
                      <a:pt x="1452402" y="63640"/>
                    </a:cubicBezTo>
                    <a:lnTo>
                      <a:pt x="1452402" y="1138350"/>
                    </a:lnTo>
                    <a:cubicBezTo>
                      <a:pt x="1452402" y="1155229"/>
                      <a:pt x="1445697" y="1171416"/>
                      <a:pt x="1433762" y="1183351"/>
                    </a:cubicBezTo>
                    <a:cubicBezTo>
                      <a:pt x="1421828" y="1195285"/>
                      <a:pt x="1405640" y="1201990"/>
                      <a:pt x="1388762" y="1201990"/>
                    </a:cubicBezTo>
                    <a:lnTo>
                      <a:pt x="63640" y="1201990"/>
                    </a:lnTo>
                    <a:cubicBezTo>
                      <a:pt x="46762" y="1201990"/>
                      <a:pt x="30575" y="1195285"/>
                      <a:pt x="18640" y="1183351"/>
                    </a:cubicBezTo>
                    <a:cubicBezTo>
                      <a:pt x="6705" y="1171416"/>
                      <a:pt x="0" y="1155229"/>
                      <a:pt x="0" y="1138350"/>
                    </a:cubicBezTo>
                    <a:lnTo>
                      <a:pt x="0" y="63640"/>
                    </a:lnTo>
                    <a:cubicBezTo>
                      <a:pt x="0" y="46762"/>
                      <a:pt x="6705" y="30575"/>
                      <a:pt x="18640" y="18640"/>
                    </a:cubicBezTo>
                    <a:cubicBezTo>
                      <a:pt x="30575" y="6705"/>
                      <a:pt x="46762" y="0"/>
                      <a:pt x="63640" y="0"/>
                    </a:cubicBezTo>
                    <a:close/>
                  </a:path>
                </a:pathLst>
              </a:custGeom>
              <a:solidFill>
                <a:srgbClr val="FFFFFF"/>
              </a:solidFill>
              <a:ln w="19050" cap="rnd">
                <a:solidFill>
                  <a:srgbClr val="01BEE1"/>
                </a:solidFill>
                <a:prstDash val="solid"/>
                <a:round/>
              </a:ln>
            </p:spPr>
          </p:sp>
          <p:sp>
            <p:nvSpPr>
              <p:cNvPr name="TextBox 12" id="12"/>
              <p:cNvSpPr txBox="true"/>
              <p:nvPr/>
            </p:nvSpPr>
            <p:spPr>
              <a:xfrm>
                <a:off x="0" y="-38100"/>
                <a:ext cx="1452402" cy="1240090"/>
              </a:xfrm>
              <a:prstGeom prst="rect">
                <a:avLst/>
              </a:prstGeom>
            </p:spPr>
            <p:txBody>
              <a:bodyPr anchor="ctr" rtlCol="false" tIns="57153" lIns="57153" bIns="57153" rIns="57153"/>
              <a:lstStyle/>
              <a:p>
                <a:pPr algn="ctr">
                  <a:lnSpc>
                    <a:spcPts val="3359"/>
                  </a:lnSpc>
                </a:pPr>
              </a:p>
            </p:txBody>
          </p:sp>
        </p:grpSp>
        <p:grpSp>
          <p:nvGrpSpPr>
            <p:cNvPr name="Group 13" id="13"/>
            <p:cNvGrpSpPr/>
            <p:nvPr/>
          </p:nvGrpSpPr>
          <p:grpSpPr>
            <a:xfrm rot="0">
              <a:off x="11248321" y="452459"/>
              <a:ext cx="3367932" cy="718445"/>
              <a:chOff x="0" y="0"/>
              <a:chExt cx="591323" cy="126141"/>
            </a:xfrm>
          </p:grpSpPr>
          <p:sp>
            <p:nvSpPr>
              <p:cNvPr name="Freeform 14" id="14"/>
              <p:cNvSpPr/>
              <p:nvPr/>
            </p:nvSpPr>
            <p:spPr>
              <a:xfrm flipH="false" flipV="false" rot="0">
                <a:off x="0" y="0"/>
                <a:ext cx="591323" cy="126141"/>
              </a:xfrm>
              <a:custGeom>
                <a:avLst/>
                <a:gdLst/>
                <a:ahLst/>
                <a:cxnLst/>
                <a:rect r="r" b="b" t="t" l="l"/>
                <a:pathLst>
                  <a:path h="126141" w="591323">
                    <a:moveTo>
                      <a:pt x="0" y="0"/>
                    </a:moveTo>
                    <a:lnTo>
                      <a:pt x="591323" y="0"/>
                    </a:lnTo>
                    <a:lnTo>
                      <a:pt x="591323" y="126141"/>
                    </a:lnTo>
                    <a:lnTo>
                      <a:pt x="0" y="126141"/>
                    </a:lnTo>
                    <a:close/>
                  </a:path>
                </a:pathLst>
              </a:custGeom>
              <a:solidFill>
                <a:srgbClr val="FFFFFF"/>
              </a:solidFill>
            </p:spPr>
          </p:sp>
          <p:sp>
            <p:nvSpPr>
              <p:cNvPr name="TextBox 15" id="15"/>
              <p:cNvSpPr txBox="true"/>
              <p:nvPr/>
            </p:nvSpPr>
            <p:spPr>
              <a:xfrm>
                <a:off x="0" y="-38100"/>
                <a:ext cx="591323" cy="164241"/>
              </a:xfrm>
              <a:prstGeom prst="rect">
                <a:avLst/>
              </a:prstGeom>
            </p:spPr>
            <p:txBody>
              <a:bodyPr anchor="ctr" rtlCol="false" tIns="57153" lIns="57153" bIns="57153" rIns="57153"/>
              <a:lstStyle/>
              <a:p>
                <a:pPr algn="ctr">
                  <a:lnSpc>
                    <a:spcPts val="3359"/>
                  </a:lnSpc>
                </a:pPr>
              </a:p>
            </p:txBody>
          </p:sp>
        </p:grpSp>
        <p:sp>
          <p:nvSpPr>
            <p:cNvPr name="Freeform 16" id="16"/>
            <p:cNvSpPr/>
            <p:nvPr/>
          </p:nvSpPr>
          <p:spPr>
            <a:xfrm flipH="false" flipV="false" rot="0">
              <a:off x="12909772" y="29137"/>
              <a:ext cx="1682660" cy="1308268"/>
            </a:xfrm>
            <a:custGeom>
              <a:avLst/>
              <a:gdLst/>
              <a:ahLst/>
              <a:cxnLst/>
              <a:rect r="r" b="b" t="t" l="l"/>
              <a:pathLst>
                <a:path h="1308268" w="1682660">
                  <a:moveTo>
                    <a:pt x="0" y="0"/>
                  </a:moveTo>
                  <a:lnTo>
                    <a:pt x="1682660" y="0"/>
                  </a:lnTo>
                  <a:lnTo>
                    <a:pt x="1682660" y="1308268"/>
                  </a:lnTo>
                  <a:lnTo>
                    <a:pt x="0" y="1308268"/>
                  </a:lnTo>
                  <a:lnTo>
                    <a:pt x="0" y="0"/>
                  </a:lnTo>
                  <a:close/>
                </a:path>
              </a:pathLst>
            </a:custGeom>
            <a:blipFill>
              <a:blip r:embed="rId4"/>
              <a:stretch>
                <a:fillRect l="0" t="0" r="0" b="0"/>
              </a:stretch>
            </a:blipFill>
          </p:spPr>
        </p:sp>
        <p:grpSp>
          <p:nvGrpSpPr>
            <p:cNvPr name="Group 17" id="17"/>
            <p:cNvGrpSpPr/>
            <p:nvPr/>
          </p:nvGrpSpPr>
          <p:grpSpPr>
            <a:xfrm rot="-5400000">
              <a:off x="13627082" y="3845364"/>
              <a:ext cx="4876320" cy="1022689"/>
              <a:chOff x="0" y="0"/>
              <a:chExt cx="856158" cy="179558"/>
            </a:xfrm>
          </p:grpSpPr>
          <p:sp>
            <p:nvSpPr>
              <p:cNvPr name="Freeform 18" id="18"/>
              <p:cNvSpPr/>
              <p:nvPr/>
            </p:nvSpPr>
            <p:spPr>
              <a:xfrm flipH="false" flipV="false" rot="0">
                <a:off x="0" y="0"/>
                <a:ext cx="856158" cy="179558"/>
              </a:xfrm>
              <a:custGeom>
                <a:avLst/>
                <a:gdLst/>
                <a:ahLst/>
                <a:cxnLst/>
                <a:rect r="r" b="b" t="t" l="l"/>
                <a:pathLst>
                  <a:path h="179558" w="856158">
                    <a:moveTo>
                      <a:pt x="42338" y="0"/>
                    </a:moveTo>
                    <a:lnTo>
                      <a:pt x="813820" y="0"/>
                    </a:lnTo>
                    <a:cubicBezTo>
                      <a:pt x="837203" y="0"/>
                      <a:pt x="856158" y="18955"/>
                      <a:pt x="856158" y="42338"/>
                    </a:cubicBezTo>
                    <a:lnTo>
                      <a:pt x="856158" y="137221"/>
                    </a:lnTo>
                    <a:cubicBezTo>
                      <a:pt x="856158" y="148449"/>
                      <a:pt x="851697" y="159218"/>
                      <a:pt x="843757" y="167158"/>
                    </a:cubicBezTo>
                    <a:cubicBezTo>
                      <a:pt x="835818" y="175098"/>
                      <a:pt x="825049" y="179558"/>
                      <a:pt x="813820" y="179558"/>
                    </a:cubicBezTo>
                    <a:lnTo>
                      <a:pt x="42338" y="179558"/>
                    </a:lnTo>
                    <a:cubicBezTo>
                      <a:pt x="31109" y="179558"/>
                      <a:pt x="20340" y="175098"/>
                      <a:pt x="12400" y="167158"/>
                    </a:cubicBezTo>
                    <a:cubicBezTo>
                      <a:pt x="4461" y="159218"/>
                      <a:pt x="0" y="148449"/>
                      <a:pt x="0" y="137221"/>
                    </a:cubicBezTo>
                    <a:lnTo>
                      <a:pt x="0" y="42338"/>
                    </a:lnTo>
                    <a:cubicBezTo>
                      <a:pt x="0" y="31109"/>
                      <a:pt x="4461" y="20340"/>
                      <a:pt x="12400" y="12400"/>
                    </a:cubicBezTo>
                    <a:cubicBezTo>
                      <a:pt x="20340" y="4461"/>
                      <a:pt x="31109" y="0"/>
                      <a:pt x="42338" y="0"/>
                    </a:cubicBezTo>
                    <a:close/>
                  </a:path>
                </a:pathLst>
              </a:custGeom>
              <a:solidFill>
                <a:srgbClr val="D8F9FF"/>
              </a:solidFill>
            </p:spPr>
          </p:sp>
          <p:sp>
            <p:nvSpPr>
              <p:cNvPr name="TextBox 19" id="19"/>
              <p:cNvSpPr txBox="true"/>
              <p:nvPr/>
            </p:nvSpPr>
            <p:spPr>
              <a:xfrm>
                <a:off x="0" y="-38100"/>
                <a:ext cx="856158" cy="217658"/>
              </a:xfrm>
              <a:prstGeom prst="rect">
                <a:avLst/>
              </a:prstGeom>
            </p:spPr>
            <p:txBody>
              <a:bodyPr anchor="ctr" rtlCol="false" tIns="57153" lIns="57153" bIns="57153" rIns="57153"/>
              <a:lstStyle/>
              <a:p>
                <a:pPr algn="ctr">
                  <a:lnSpc>
                    <a:spcPts val="3359"/>
                  </a:lnSpc>
                </a:pPr>
              </a:p>
            </p:txBody>
          </p:sp>
        </p:grpSp>
        <p:grpSp>
          <p:nvGrpSpPr>
            <p:cNvPr name="Group 20" id="20"/>
            <p:cNvGrpSpPr/>
            <p:nvPr/>
          </p:nvGrpSpPr>
          <p:grpSpPr>
            <a:xfrm rot="0">
              <a:off x="17780251" y="4779135"/>
              <a:ext cx="2674090" cy="2646938"/>
              <a:chOff x="0" y="0"/>
              <a:chExt cx="469502" cy="464735"/>
            </a:xfrm>
          </p:grpSpPr>
          <p:sp>
            <p:nvSpPr>
              <p:cNvPr name="Freeform 21" id="21"/>
              <p:cNvSpPr/>
              <p:nvPr/>
            </p:nvSpPr>
            <p:spPr>
              <a:xfrm flipH="false" flipV="false" rot="0">
                <a:off x="0" y="0"/>
                <a:ext cx="469502" cy="464735"/>
              </a:xfrm>
              <a:custGeom>
                <a:avLst/>
                <a:gdLst/>
                <a:ahLst/>
                <a:cxnLst/>
                <a:rect r="r" b="b" t="t" l="l"/>
                <a:pathLst>
                  <a:path h="464735" w="469502">
                    <a:moveTo>
                      <a:pt x="196871" y="0"/>
                    </a:moveTo>
                    <a:lnTo>
                      <a:pt x="272631" y="0"/>
                    </a:lnTo>
                    <a:cubicBezTo>
                      <a:pt x="324845" y="0"/>
                      <a:pt x="374920" y="20742"/>
                      <a:pt x="411840" y="57662"/>
                    </a:cubicBezTo>
                    <a:cubicBezTo>
                      <a:pt x="448760" y="94583"/>
                      <a:pt x="469502" y="144658"/>
                      <a:pt x="469502" y="196871"/>
                    </a:cubicBezTo>
                    <a:lnTo>
                      <a:pt x="469502" y="267864"/>
                    </a:lnTo>
                    <a:cubicBezTo>
                      <a:pt x="469502" y="320077"/>
                      <a:pt x="448760" y="370152"/>
                      <a:pt x="411840" y="407073"/>
                    </a:cubicBezTo>
                    <a:cubicBezTo>
                      <a:pt x="374920" y="443993"/>
                      <a:pt x="324845" y="464735"/>
                      <a:pt x="272631" y="464735"/>
                    </a:cubicBezTo>
                    <a:lnTo>
                      <a:pt x="196871" y="464735"/>
                    </a:lnTo>
                    <a:cubicBezTo>
                      <a:pt x="144658" y="464735"/>
                      <a:pt x="94583" y="443993"/>
                      <a:pt x="57662" y="407073"/>
                    </a:cubicBezTo>
                    <a:cubicBezTo>
                      <a:pt x="20742" y="370152"/>
                      <a:pt x="0" y="320077"/>
                      <a:pt x="0" y="267864"/>
                    </a:cubicBezTo>
                    <a:lnTo>
                      <a:pt x="0" y="196871"/>
                    </a:lnTo>
                    <a:cubicBezTo>
                      <a:pt x="0" y="144658"/>
                      <a:pt x="20742" y="94583"/>
                      <a:pt x="57662" y="57662"/>
                    </a:cubicBezTo>
                    <a:cubicBezTo>
                      <a:pt x="94583" y="20742"/>
                      <a:pt x="144658" y="0"/>
                      <a:pt x="196871" y="0"/>
                    </a:cubicBezTo>
                    <a:close/>
                  </a:path>
                </a:pathLst>
              </a:custGeom>
              <a:solidFill>
                <a:srgbClr val="000000">
                  <a:alpha val="0"/>
                </a:srgbClr>
              </a:solidFill>
              <a:ln w="19050" cap="rnd">
                <a:solidFill>
                  <a:srgbClr val="01BEE1"/>
                </a:solidFill>
                <a:prstDash val="solid"/>
                <a:round/>
              </a:ln>
            </p:spPr>
          </p:sp>
          <p:sp>
            <p:nvSpPr>
              <p:cNvPr name="TextBox 22" id="22"/>
              <p:cNvSpPr txBox="true"/>
              <p:nvPr/>
            </p:nvSpPr>
            <p:spPr>
              <a:xfrm>
                <a:off x="0" y="-38100"/>
                <a:ext cx="469502" cy="502835"/>
              </a:xfrm>
              <a:prstGeom prst="rect">
                <a:avLst/>
              </a:prstGeom>
            </p:spPr>
            <p:txBody>
              <a:bodyPr anchor="ctr" rtlCol="false" tIns="57153" lIns="57153" bIns="57153" rIns="57153"/>
              <a:lstStyle/>
              <a:p>
                <a:pPr algn="ctr">
                  <a:lnSpc>
                    <a:spcPts val="3359"/>
                  </a:lnSpc>
                </a:pPr>
              </a:p>
            </p:txBody>
          </p:sp>
        </p:grpSp>
        <p:sp>
          <p:nvSpPr>
            <p:cNvPr name="AutoShape 23" id="23"/>
            <p:cNvSpPr/>
            <p:nvPr/>
          </p:nvSpPr>
          <p:spPr>
            <a:xfrm>
              <a:off x="14845278" y="3261028"/>
              <a:ext cx="643055" cy="0"/>
            </a:xfrm>
            <a:prstGeom prst="line">
              <a:avLst/>
            </a:prstGeom>
            <a:ln cap="rnd" w="25400">
              <a:solidFill>
                <a:srgbClr val="01BEE1"/>
              </a:solidFill>
              <a:prstDash val="sysDash"/>
              <a:headEnd type="none" len="sm" w="sm"/>
              <a:tailEnd type="arrow" len="sm" w="med"/>
            </a:ln>
          </p:spPr>
        </p:sp>
        <p:sp>
          <p:nvSpPr>
            <p:cNvPr name="AutoShape 24" id="24"/>
            <p:cNvSpPr/>
            <p:nvPr/>
          </p:nvSpPr>
          <p:spPr>
            <a:xfrm>
              <a:off x="14845278" y="3530244"/>
              <a:ext cx="643055" cy="0"/>
            </a:xfrm>
            <a:prstGeom prst="line">
              <a:avLst/>
            </a:prstGeom>
            <a:ln cap="rnd" w="25400">
              <a:solidFill>
                <a:srgbClr val="01BEE1"/>
              </a:solidFill>
              <a:prstDash val="sysDash"/>
              <a:headEnd type="arrow" len="sm" w="med"/>
              <a:tailEnd type="none" len="sm" w="sm"/>
            </a:ln>
          </p:spPr>
        </p:sp>
        <p:grpSp>
          <p:nvGrpSpPr>
            <p:cNvPr name="Group 25" id="25"/>
            <p:cNvGrpSpPr/>
            <p:nvPr/>
          </p:nvGrpSpPr>
          <p:grpSpPr>
            <a:xfrm rot="0">
              <a:off x="18246634" y="4370820"/>
              <a:ext cx="1718367" cy="718445"/>
              <a:chOff x="0" y="0"/>
              <a:chExt cx="301702" cy="126141"/>
            </a:xfrm>
          </p:grpSpPr>
          <p:sp>
            <p:nvSpPr>
              <p:cNvPr name="Freeform 26" id="26"/>
              <p:cNvSpPr/>
              <p:nvPr/>
            </p:nvSpPr>
            <p:spPr>
              <a:xfrm flipH="false" flipV="false" rot="0">
                <a:off x="0" y="0"/>
                <a:ext cx="301702" cy="126141"/>
              </a:xfrm>
              <a:custGeom>
                <a:avLst/>
                <a:gdLst/>
                <a:ahLst/>
                <a:cxnLst/>
                <a:rect r="r" b="b" t="t" l="l"/>
                <a:pathLst>
                  <a:path h="126141" w="301702">
                    <a:moveTo>
                      <a:pt x="0" y="0"/>
                    </a:moveTo>
                    <a:lnTo>
                      <a:pt x="301702" y="0"/>
                    </a:lnTo>
                    <a:lnTo>
                      <a:pt x="301702" y="126141"/>
                    </a:lnTo>
                    <a:lnTo>
                      <a:pt x="0" y="126141"/>
                    </a:lnTo>
                    <a:close/>
                  </a:path>
                </a:pathLst>
              </a:custGeom>
              <a:solidFill>
                <a:srgbClr val="FFFFFF"/>
              </a:solidFill>
            </p:spPr>
          </p:sp>
          <p:sp>
            <p:nvSpPr>
              <p:cNvPr name="TextBox 27" id="27"/>
              <p:cNvSpPr txBox="true"/>
              <p:nvPr/>
            </p:nvSpPr>
            <p:spPr>
              <a:xfrm>
                <a:off x="0" y="-38100"/>
                <a:ext cx="301702" cy="164241"/>
              </a:xfrm>
              <a:prstGeom prst="rect">
                <a:avLst/>
              </a:prstGeom>
            </p:spPr>
            <p:txBody>
              <a:bodyPr anchor="ctr" rtlCol="false" tIns="57153" lIns="57153" bIns="57153" rIns="57153"/>
              <a:lstStyle/>
              <a:p>
                <a:pPr algn="ctr">
                  <a:lnSpc>
                    <a:spcPts val="3359"/>
                  </a:lnSpc>
                </a:pPr>
              </a:p>
            </p:txBody>
          </p:sp>
        </p:grpSp>
        <p:grpSp>
          <p:nvGrpSpPr>
            <p:cNvPr name="Group 28" id="28"/>
            <p:cNvGrpSpPr/>
            <p:nvPr/>
          </p:nvGrpSpPr>
          <p:grpSpPr>
            <a:xfrm rot="0">
              <a:off x="3120067" y="3006256"/>
              <a:ext cx="2674090" cy="2646938"/>
              <a:chOff x="0" y="0"/>
              <a:chExt cx="469502" cy="464735"/>
            </a:xfrm>
          </p:grpSpPr>
          <p:sp>
            <p:nvSpPr>
              <p:cNvPr name="Freeform 29" id="29"/>
              <p:cNvSpPr/>
              <p:nvPr/>
            </p:nvSpPr>
            <p:spPr>
              <a:xfrm flipH="false" flipV="false" rot="0">
                <a:off x="0" y="0"/>
                <a:ext cx="469502" cy="464735"/>
              </a:xfrm>
              <a:custGeom>
                <a:avLst/>
                <a:gdLst/>
                <a:ahLst/>
                <a:cxnLst/>
                <a:rect r="r" b="b" t="t" l="l"/>
                <a:pathLst>
                  <a:path h="464735" w="469502">
                    <a:moveTo>
                      <a:pt x="196871" y="0"/>
                    </a:moveTo>
                    <a:lnTo>
                      <a:pt x="272631" y="0"/>
                    </a:lnTo>
                    <a:cubicBezTo>
                      <a:pt x="324845" y="0"/>
                      <a:pt x="374920" y="20742"/>
                      <a:pt x="411840" y="57662"/>
                    </a:cubicBezTo>
                    <a:cubicBezTo>
                      <a:pt x="448760" y="94583"/>
                      <a:pt x="469502" y="144658"/>
                      <a:pt x="469502" y="196871"/>
                    </a:cubicBezTo>
                    <a:lnTo>
                      <a:pt x="469502" y="267864"/>
                    </a:lnTo>
                    <a:cubicBezTo>
                      <a:pt x="469502" y="320077"/>
                      <a:pt x="448760" y="370152"/>
                      <a:pt x="411840" y="407073"/>
                    </a:cubicBezTo>
                    <a:cubicBezTo>
                      <a:pt x="374920" y="443993"/>
                      <a:pt x="324845" y="464735"/>
                      <a:pt x="272631" y="464735"/>
                    </a:cubicBezTo>
                    <a:lnTo>
                      <a:pt x="196871" y="464735"/>
                    </a:lnTo>
                    <a:cubicBezTo>
                      <a:pt x="144658" y="464735"/>
                      <a:pt x="94583" y="443993"/>
                      <a:pt x="57662" y="407073"/>
                    </a:cubicBezTo>
                    <a:cubicBezTo>
                      <a:pt x="20742" y="370152"/>
                      <a:pt x="0" y="320077"/>
                      <a:pt x="0" y="267864"/>
                    </a:cubicBezTo>
                    <a:lnTo>
                      <a:pt x="0" y="196871"/>
                    </a:lnTo>
                    <a:cubicBezTo>
                      <a:pt x="0" y="144658"/>
                      <a:pt x="20742" y="94583"/>
                      <a:pt x="57662" y="57662"/>
                    </a:cubicBezTo>
                    <a:cubicBezTo>
                      <a:pt x="94583" y="20742"/>
                      <a:pt x="144658" y="0"/>
                      <a:pt x="196871" y="0"/>
                    </a:cubicBezTo>
                    <a:close/>
                  </a:path>
                </a:pathLst>
              </a:custGeom>
              <a:solidFill>
                <a:srgbClr val="000000">
                  <a:alpha val="0"/>
                </a:srgbClr>
              </a:solidFill>
              <a:ln w="19050" cap="rnd">
                <a:solidFill>
                  <a:srgbClr val="01BEE1"/>
                </a:solidFill>
                <a:prstDash val="solid"/>
                <a:round/>
              </a:ln>
            </p:spPr>
          </p:sp>
          <p:sp>
            <p:nvSpPr>
              <p:cNvPr name="TextBox 30" id="30"/>
              <p:cNvSpPr txBox="true"/>
              <p:nvPr/>
            </p:nvSpPr>
            <p:spPr>
              <a:xfrm>
                <a:off x="0" y="-38100"/>
                <a:ext cx="469502" cy="502835"/>
              </a:xfrm>
              <a:prstGeom prst="rect">
                <a:avLst/>
              </a:prstGeom>
            </p:spPr>
            <p:txBody>
              <a:bodyPr anchor="ctr" rtlCol="false" tIns="57153" lIns="57153" bIns="57153" rIns="57153"/>
              <a:lstStyle/>
              <a:p>
                <a:pPr algn="ctr">
                  <a:lnSpc>
                    <a:spcPts val="3359"/>
                  </a:lnSpc>
                </a:pPr>
              </a:p>
            </p:txBody>
          </p:sp>
        </p:grpSp>
        <p:grpSp>
          <p:nvGrpSpPr>
            <p:cNvPr name="Group 31" id="31"/>
            <p:cNvGrpSpPr/>
            <p:nvPr/>
          </p:nvGrpSpPr>
          <p:grpSpPr>
            <a:xfrm rot="0">
              <a:off x="3548982" y="2606412"/>
              <a:ext cx="1867869" cy="656586"/>
              <a:chOff x="0" y="0"/>
              <a:chExt cx="306898" cy="107880"/>
            </a:xfrm>
          </p:grpSpPr>
          <p:sp>
            <p:nvSpPr>
              <p:cNvPr name="Freeform 32" id="32"/>
              <p:cNvSpPr/>
              <p:nvPr/>
            </p:nvSpPr>
            <p:spPr>
              <a:xfrm flipH="false" flipV="false" rot="0">
                <a:off x="0" y="0"/>
                <a:ext cx="306898" cy="107880"/>
              </a:xfrm>
              <a:custGeom>
                <a:avLst/>
                <a:gdLst/>
                <a:ahLst/>
                <a:cxnLst/>
                <a:rect r="r" b="b" t="t" l="l"/>
                <a:pathLst>
                  <a:path h="107880" w="306898">
                    <a:moveTo>
                      <a:pt x="0" y="0"/>
                    </a:moveTo>
                    <a:lnTo>
                      <a:pt x="306898" y="0"/>
                    </a:lnTo>
                    <a:lnTo>
                      <a:pt x="306898" y="107880"/>
                    </a:lnTo>
                    <a:lnTo>
                      <a:pt x="0" y="107880"/>
                    </a:lnTo>
                    <a:close/>
                  </a:path>
                </a:pathLst>
              </a:custGeom>
              <a:solidFill>
                <a:srgbClr val="FFFFFF"/>
              </a:solidFill>
            </p:spPr>
          </p:sp>
          <p:sp>
            <p:nvSpPr>
              <p:cNvPr name="TextBox 33" id="33"/>
              <p:cNvSpPr txBox="true"/>
              <p:nvPr/>
            </p:nvSpPr>
            <p:spPr>
              <a:xfrm>
                <a:off x="0" y="-38100"/>
                <a:ext cx="306898" cy="145980"/>
              </a:xfrm>
              <a:prstGeom prst="rect">
                <a:avLst/>
              </a:prstGeom>
            </p:spPr>
            <p:txBody>
              <a:bodyPr anchor="ctr" rtlCol="false" tIns="61073" lIns="61073" bIns="61073" rIns="61073"/>
              <a:lstStyle/>
              <a:p>
                <a:pPr algn="ctr">
                  <a:lnSpc>
                    <a:spcPts val="3359"/>
                  </a:lnSpc>
                </a:pPr>
              </a:p>
            </p:txBody>
          </p:sp>
        </p:grpSp>
        <p:sp>
          <p:nvSpPr>
            <p:cNvPr name="Freeform 34" id="34"/>
            <p:cNvSpPr/>
            <p:nvPr/>
          </p:nvSpPr>
          <p:spPr>
            <a:xfrm flipH="false" flipV="false" rot="0">
              <a:off x="18631403" y="5351607"/>
              <a:ext cx="971785" cy="971785"/>
            </a:xfrm>
            <a:custGeom>
              <a:avLst/>
              <a:gdLst/>
              <a:ahLst/>
              <a:cxnLst/>
              <a:rect r="r" b="b" t="t" l="l"/>
              <a:pathLst>
                <a:path h="971785" w="971785">
                  <a:moveTo>
                    <a:pt x="0" y="0"/>
                  </a:moveTo>
                  <a:lnTo>
                    <a:pt x="971785" y="0"/>
                  </a:lnTo>
                  <a:lnTo>
                    <a:pt x="971785" y="971784"/>
                  </a:lnTo>
                  <a:lnTo>
                    <a:pt x="0" y="9717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35" id="35"/>
            <p:cNvSpPr/>
            <p:nvPr/>
          </p:nvSpPr>
          <p:spPr>
            <a:xfrm flipH="false" flipV="false" rot="0">
              <a:off x="18618879" y="6444511"/>
              <a:ext cx="1020361" cy="287187"/>
            </a:xfrm>
            <a:custGeom>
              <a:avLst/>
              <a:gdLst/>
              <a:ahLst/>
              <a:cxnLst/>
              <a:rect r="r" b="b" t="t" l="l"/>
              <a:pathLst>
                <a:path h="287187" w="1020361">
                  <a:moveTo>
                    <a:pt x="0" y="0"/>
                  </a:moveTo>
                  <a:lnTo>
                    <a:pt x="1020361" y="0"/>
                  </a:lnTo>
                  <a:lnTo>
                    <a:pt x="1020361" y="287187"/>
                  </a:lnTo>
                  <a:lnTo>
                    <a:pt x="0" y="287187"/>
                  </a:lnTo>
                  <a:lnTo>
                    <a:pt x="0" y="0"/>
                  </a:lnTo>
                  <a:close/>
                </a:path>
              </a:pathLst>
            </a:custGeom>
            <a:blipFill>
              <a:blip r:embed="rId7">
                <a:extLst>
                  <a:ext uri="{96DAC541-7B7A-43D3-8B79-37D633B846F1}">
                    <asvg:svgBlip xmlns:asvg="http://schemas.microsoft.com/office/drawing/2016/SVG/main" r:embed="rId8"/>
                  </a:ext>
                </a:extLst>
              </a:blip>
              <a:stretch>
                <a:fillRect l="0" t="-2084" r="-17323" b="0"/>
              </a:stretch>
            </a:blipFill>
          </p:spPr>
        </p:sp>
        <p:grpSp>
          <p:nvGrpSpPr>
            <p:cNvPr name="Group 36" id="36"/>
            <p:cNvGrpSpPr/>
            <p:nvPr/>
          </p:nvGrpSpPr>
          <p:grpSpPr>
            <a:xfrm rot="0">
              <a:off x="17758772" y="1087439"/>
              <a:ext cx="2674090" cy="2646938"/>
              <a:chOff x="0" y="0"/>
              <a:chExt cx="469502" cy="464735"/>
            </a:xfrm>
          </p:grpSpPr>
          <p:sp>
            <p:nvSpPr>
              <p:cNvPr name="Freeform 37" id="37"/>
              <p:cNvSpPr/>
              <p:nvPr/>
            </p:nvSpPr>
            <p:spPr>
              <a:xfrm flipH="false" flipV="false" rot="0">
                <a:off x="0" y="0"/>
                <a:ext cx="469502" cy="464735"/>
              </a:xfrm>
              <a:custGeom>
                <a:avLst/>
                <a:gdLst/>
                <a:ahLst/>
                <a:cxnLst/>
                <a:rect r="r" b="b" t="t" l="l"/>
                <a:pathLst>
                  <a:path h="464735" w="469502">
                    <a:moveTo>
                      <a:pt x="196871" y="0"/>
                    </a:moveTo>
                    <a:lnTo>
                      <a:pt x="272631" y="0"/>
                    </a:lnTo>
                    <a:cubicBezTo>
                      <a:pt x="324845" y="0"/>
                      <a:pt x="374920" y="20742"/>
                      <a:pt x="411840" y="57662"/>
                    </a:cubicBezTo>
                    <a:cubicBezTo>
                      <a:pt x="448760" y="94583"/>
                      <a:pt x="469502" y="144658"/>
                      <a:pt x="469502" y="196871"/>
                    </a:cubicBezTo>
                    <a:lnTo>
                      <a:pt x="469502" y="267864"/>
                    </a:lnTo>
                    <a:cubicBezTo>
                      <a:pt x="469502" y="320077"/>
                      <a:pt x="448760" y="370152"/>
                      <a:pt x="411840" y="407073"/>
                    </a:cubicBezTo>
                    <a:cubicBezTo>
                      <a:pt x="374920" y="443993"/>
                      <a:pt x="324845" y="464735"/>
                      <a:pt x="272631" y="464735"/>
                    </a:cubicBezTo>
                    <a:lnTo>
                      <a:pt x="196871" y="464735"/>
                    </a:lnTo>
                    <a:cubicBezTo>
                      <a:pt x="144658" y="464735"/>
                      <a:pt x="94583" y="443993"/>
                      <a:pt x="57662" y="407073"/>
                    </a:cubicBezTo>
                    <a:cubicBezTo>
                      <a:pt x="20742" y="370152"/>
                      <a:pt x="0" y="320077"/>
                      <a:pt x="0" y="267864"/>
                    </a:cubicBezTo>
                    <a:lnTo>
                      <a:pt x="0" y="196871"/>
                    </a:lnTo>
                    <a:cubicBezTo>
                      <a:pt x="0" y="144658"/>
                      <a:pt x="20742" y="94583"/>
                      <a:pt x="57662" y="57662"/>
                    </a:cubicBezTo>
                    <a:cubicBezTo>
                      <a:pt x="94583" y="20742"/>
                      <a:pt x="144658" y="0"/>
                      <a:pt x="196871" y="0"/>
                    </a:cubicBezTo>
                    <a:close/>
                  </a:path>
                </a:pathLst>
              </a:custGeom>
              <a:solidFill>
                <a:srgbClr val="000000">
                  <a:alpha val="0"/>
                </a:srgbClr>
              </a:solidFill>
              <a:ln w="19050" cap="rnd">
                <a:solidFill>
                  <a:srgbClr val="01BEE1"/>
                </a:solidFill>
                <a:prstDash val="solid"/>
                <a:round/>
              </a:ln>
            </p:spPr>
          </p:sp>
          <p:sp>
            <p:nvSpPr>
              <p:cNvPr name="TextBox 38" id="38"/>
              <p:cNvSpPr txBox="true"/>
              <p:nvPr/>
            </p:nvSpPr>
            <p:spPr>
              <a:xfrm>
                <a:off x="0" y="-38100"/>
                <a:ext cx="469502" cy="502835"/>
              </a:xfrm>
              <a:prstGeom prst="rect">
                <a:avLst/>
              </a:prstGeom>
            </p:spPr>
            <p:txBody>
              <a:bodyPr anchor="ctr" rtlCol="false" tIns="57153" lIns="57153" bIns="57153" rIns="57153"/>
              <a:lstStyle/>
              <a:p>
                <a:pPr algn="ctr">
                  <a:lnSpc>
                    <a:spcPts val="3359"/>
                  </a:lnSpc>
                </a:pPr>
              </a:p>
            </p:txBody>
          </p:sp>
        </p:grpSp>
        <p:sp>
          <p:nvSpPr>
            <p:cNvPr name="Freeform 39" id="39"/>
            <p:cNvSpPr/>
            <p:nvPr/>
          </p:nvSpPr>
          <p:spPr>
            <a:xfrm flipH="false" flipV="false" rot="0">
              <a:off x="18044485" y="2137052"/>
              <a:ext cx="2169150" cy="547710"/>
            </a:xfrm>
            <a:custGeom>
              <a:avLst/>
              <a:gdLst/>
              <a:ahLst/>
              <a:cxnLst/>
              <a:rect r="r" b="b" t="t" l="l"/>
              <a:pathLst>
                <a:path h="547710" w="2169150">
                  <a:moveTo>
                    <a:pt x="0" y="0"/>
                  </a:moveTo>
                  <a:lnTo>
                    <a:pt x="2169149" y="0"/>
                  </a:lnTo>
                  <a:lnTo>
                    <a:pt x="2169149" y="547710"/>
                  </a:lnTo>
                  <a:lnTo>
                    <a:pt x="0" y="54771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40" id="40"/>
            <p:cNvGrpSpPr/>
            <p:nvPr/>
          </p:nvGrpSpPr>
          <p:grpSpPr>
            <a:xfrm rot="0">
              <a:off x="18168645" y="801669"/>
              <a:ext cx="1897302" cy="718445"/>
              <a:chOff x="0" y="0"/>
              <a:chExt cx="333118" cy="126141"/>
            </a:xfrm>
          </p:grpSpPr>
          <p:sp>
            <p:nvSpPr>
              <p:cNvPr name="Freeform 41" id="41"/>
              <p:cNvSpPr/>
              <p:nvPr/>
            </p:nvSpPr>
            <p:spPr>
              <a:xfrm flipH="false" flipV="false" rot="0">
                <a:off x="0" y="0"/>
                <a:ext cx="333118" cy="126141"/>
              </a:xfrm>
              <a:custGeom>
                <a:avLst/>
                <a:gdLst/>
                <a:ahLst/>
                <a:cxnLst/>
                <a:rect r="r" b="b" t="t" l="l"/>
                <a:pathLst>
                  <a:path h="126141" w="333118">
                    <a:moveTo>
                      <a:pt x="0" y="0"/>
                    </a:moveTo>
                    <a:lnTo>
                      <a:pt x="333118" y="0"/>
                    </a:lnTo>
                    <a:lnTo>
                      <a:pt x="333118" y="126141"/>
                    </a:lnTo>
                    <a:lnTo>
                      <a:pt x="0" y="126141"/>
                    </a:lnTo>
                    <a:close/>
                  </a:path>
                </a:pathLst>
              </a:custGeom>
              <a:solidFill>
                <a:srgbClr val="FFFFFF"/>
              </a:solidFill>
            </p:spPr>
          </p:sp>
          <p:sp>
            <p:nvSpPr>
              <p:cNvPr name="TextBox 42" id="42"/>
              <p:cNvSpPr txBox="true"/>
              <p:nvPr/>
            </p:nvSpPr>
            <p:spPr>
              <a:xfrm>
                <a:off x="0" y="-38100"/>
                <a:ext cx="333118" cy="164241"/>
              </a:xfrm>
              <a:prstGeom prst="rect">
                <a:avLst/>
              </a:prstGeom>
            </p:spPr>
            <p:txBody>
              <a:bodyPr anchor="ctr" rtlCol="false" tIns="57153" lIns="57153" bIns="57153" rIns="57153"/>
              <a:lstStyle/>
              <a:p>
                <a:pPr algn="ctr">
                  <a:lnSpc>
                    <a:spcPts val="3359"/>
                  </a:lnSpc>
                </a:pPr>
              </a:p>
            </p:txBody>
          </p:sp>
        </p:grpSp>
        <p:sp>
          <p:nvSpPr>
            <p:cNvPr name="Freeform 43" id="43"/>
            <p:cNvSpPr/>
            <p:nvPr/>
          </p:nvSpPr>
          <p:spPr>
            <a:xfrm flipH="false" flipV="false" rot="0">
              <a:off x="0" y="3817017"/>
              <a:ext cx="1737420" cy="1107605"/>
            </a:xfrm>
            <a:custGeom>
              <a:avLst/>
              <a:gdLst/>
              <a:ahLst/>
              <a:cxnLst/>
              <a:rect r="r" b="b" t="t" l="l"/>
              <a:pathLst>
                <a:path h="1107605" w="1737420">
                  <a:moveTo>
                    <a:pt x="0" y="0"/>
                  </a:moveTo>
                  <a:lnTo>
                    <a:pt x="1737420" y="0"/>
                  </a:lnTo>
                  <a:lnTo>
                    <a:pt x="1737420" y="1107606"/>
                  </a:lnTo>
                  <a:lnTo>
                    <a:pt x="0" y="1107606"/>
                  </a:lnTo>
                  <a:lnTo>
                    <a:pt x="0" y="0"/>
                  </a:lnTo>
                  <a:close/>
                </a:path>
              </a:pathLst>
            </a:custGeom>
            <a:blipFill>
              <a:blip r:embed="rId11"/>
              <a:stretch>
                <a:fillRect l="0" t="0" r="0" b="0"/>
              </a:stretch>
            </a:blipFill>
          </p:spPr>
        </p:sp>
        <p:grpSp>
          <p:nvGrpSpPr>
            <p:cNvPr name="Group 44" id="44"/>
            <p:cNvGrpSpPr/>
            <p:nvPr/>
          </p:nvGrpSpPr>
          <p:grpSpPr>
            <a:xfrm rot="0">
              <a:off x="6948271" y="3780148"/>
              <a:ext cx="1404034" cy="1022689"/>
              <a:chOff x="0" y="0"/>
              <a:chExt cx="246513" cy="179558"/>
            </a:xfrm>
          </p:grpSpPr>
          <p:sp>
            <p:nvSpPr>
              <p:cNvPr name="Freeform 45" id="45"/>
              <p:cNvSpPr/>
              <p:nvPr/>
            </p:nvSpPr>
            <p:spPr>
              <a:xfrm flipH="false" flipV="false" rot="0">
                <a:off x="0" y="0"/>
                <a:ext cx="246513" cy="179558"/>
              </a:xfrm>
              <a:custGeom>
                <a:avLst/>
                <a:gdLst/>
                <a:ahLst/>
                <a:cxnLst/>
                <a:rect r="r" b="b" t="t" l="l"/>
                <a:pathLst>
                  <a:path h="179558" w="246513">
                    <a:moveTo>
                      <a:pt x="89779" y="0"/>
                    </a:moveTo>
                    <a:lnTo>
                      <a:pt x="156734" y="0"/>
                    </a:lnTo>
                    <a:cubicBezTo>
                      <a:pt x="180545" y="0"/>
                      <a:pt x="203380" y="9459"/>
                      <a:pt x="220217" y="26296"/>
                    </a:cubicBezTo>
                    <a:cubicBezTo>
                      <a:pt x="237054" y="43133"/>
                      <a:pt x="246513" y="65968"/>
                      <a:pt x="246513" y="89779"/>
                    </a:cubicBezTo>
                    <a:lnTo>
                      <a:pt x="246513" y="89779"/>
                    </a:lnTo>
                    <a:cubicBezTo>
                      <a:pt x="246513" y="139363"/>
                      <a:pt x="206317" y="179558"/>
                      <a:pt x="156734" y="179558"/>
                    </a:cubicBezTo>
                    <a:lnTo>
                      <a:pt x="89779" y="179558"/>
                    </a:lnTo>
                    <a:cubicBezTo>
                      <a:pt x="40195" y="179558"/>
                      <a:pt x="0" y="139363"/>
                      <a:pt x="0" y="89779"/>
                    </a:cubicBezTo>
                    <a:lnTo>
                      <a:pt x="0" y="89779"/>
                    </a:lnTo>
                    <a:cubicBezTo>
                      <a:pt x="0" y="40195"/>
                      <a:pt x="40195" y="0"/>
                      <a:pt x="89779" y="0"/>
                    </a:cubicBezTo>
                    <a:close/>
                  </a:path>
                </a:pathLst>
              </a:custGeom>
              <a:solidFill>
                <a:srgbClr val="D8F9FF"/>
              </a:solidFill>
            </p:spPr>
          </p:sp>
          <p:sp>
            <p:nvSpPr>
              <p:cNvPr name="TextBox 46" id="46"/>
              <p:cNvSpPr txBox="true"/>
              <p:nvPr/>
            </p:nvSpPr>
            <p:spPr>
              <a:xfrm>
                <a:off x="0" y="-38100"/>
                <a:ext cx="246513" cy="217658"/>
              </a:xfrm>
              <a:prstGeom prst="rect">
                <a:avLst/>
              </a:prstGeom>
            </p:spPr>
            <p:txBody>
              <a:bodyPr anchor="ctr" rtlCol="false" tIns="57153" lIns="57153" bIns="57153" rIns="57153"/>
              <a:lstStyle/>
              <a:p>
                <a:pPr algn="ctr">
                  <a:lnSpc>
                    <a:spcPts val="3359"/>
                  </a:lnSpc>
                </a:pPr>
              </a:p>
            </p:txBody>
          </p:sp>
        </p:grpSp>
        <p:sp>
          <p:nvSpPr>
            <p:cNvPr name="AutoShape 47" id="47"/>
            <p:cNvSpPr/>
            <p:nvPr/>
          </p:nvSpPr>
          <p:spPr>
            <a:xfrm>
              <a:off x="16676176" y="2287119"/>
              <a:ext cx="996867" cy="0"/>
            </a:xfrm>
            <a:prstGeom prst="line">
              <a:avLst/>
            </a:prstGeom>
            <a:ln cap="rnd" w="25400">
              <a:solidFill>
                <a:srgbClr val="01BEE1"/>
              </a:solidFill>
              <a:prstDash val="sysDash"/>
              <a:headEnd type="none" len="sm" w="sm"/>
              <a:tailEnd type="arrow" len="sm" w="med"/>
            </a:ln>
          </p:spPr>
        </p:sp>
        <p:sp>
          <p:nvSpPr>
            <p:cNvPr name="AutoShape 48" id="48"/>
            <p:cNvSpPr/>
            <p:nvPr/>
          </p:nvSpPr>
          <p:spPr>
            <a:xfrm>
              <a:off x="16676176" y="2557886"/>
              <a:ext cx="996867" cy="0"/>
            </a:xfrm>
            <a:prstGeom prst="line">
              <a:avLst/>
            </a:prstGeom>
            <a:ln cap="flat" w="25400">
              <a:solidFill>
                <a:srgbClr val="01BEE1"/>
              </a:solidFill>
              <a:prstDash val="sysDash"/>
              <a:headEnd type="arrow" len="sm" w="med"/>
              <a:tailEnd type="none" len="sm" w="sm"/>
            </a:ln>
          </p:spPr>
        </p:sp>
        <p:sp>
          <p:nvSpPr>
            <p:cNvPr name="AutoShape 49" id="49"/>
            <p:cNvSpPr/>
            <p:nvPr/>
          </p:nvSpPr>
          <p:spPr>
            <a:xfrm>
              <a:off x="16667199" y="6041652"/>
              <a:ext cx="996867" cy="0"/>
            </a:xfrm>
            <a:prstGeom prst="line">
              <a:avLst/>
            </a:prstGeom>
            <a:ln cap="flat" w="25400">
              <a:solidFill>
                <a:srgbClr val="01BEE1"/>
              </a:solidFill>
              <a:prstDash val="sysDash"/>
              <a:headEnd type="none" len="sm" w="sm"/>
              <a:tailEnd type="arrow" len="sm" w="med"/>
            </a:ln>
          </p:spPr>
        </p:sp>
        <p:sp>
          <p:nvSpPr>
            <p:cNvPr name="AutoShape 50" id="50"/>
            <p:cNvSpPr/>
            <p:nvPr/>
          </p:nvSpPr>
          <p:spPr>
            <a:xfrm>
              <a:off x="16667199" y="6312419"/>
              <a:ext cx="996867" cy="0"/>
            </a:xfrm>
            <a:prstGeom prst="line">
              <a:avLst/>
            </a:prstGeom>
            <a:ln cap="flat" w="25400">
              <a:solidFill>
                <a:srgbClr val="01BEE1"/>
              </a:solidFill>
              <a:prstDash val="sysDash"/>
              <a:headEnd type="arrow" len="sm" w="med"/>
              <a:tailEnd type="none" len="sm" w="sm"/>
            </a:ln>
          </p:spPr>
        </p:sp>
        <p:sp>
          <p:nvSpPr>
            <p:cNvPr name="AutoShape 51" id="51"/>
            <p:cNvSpPr/>
            <p:nvPr/>
          </p:nvSpPr>
          <p:spPr>
            <a:xfrm flipV="true">
              <a:off x="13049953" y="4035181"/>
              <a:ext cx="0" cy="643055"/>
            </a:xfrm>
            <a:prstGeom prst="line">
              <a:avLst/>
            </a:prstGeom>
            <a:ln cap="rnd" w="25400">
              <a:solidFill>
                <a:srgbClr val="01BEE1"/>
              </a:solidFill>
              <a:prstDash val="sysDash"/>
              <a:headEnd type="none" len="sm" w="sm"/>
              <a:tailEnd type="arrow" len="sm" w="med"/>
            </a:ln>
          </p:spPr>
        </p:sp>
        <p:sp>
          <p:nvSpPr>
            <p:cNvPr name="AutoShape 52" id="52"/>
            <p:cNvSpPr/>
            <p:nvPr/>
          </p:nvSpPr>
          <p:spPr>
            <a:xfrm flipV="true">
              <a:off x="13320719" y="4035181"/>
              <a:ext cx="0" cy="643055"/>
            </a:xfrm>
            <a:prstGeom prst="line">
              <a:avLst/>
            </a:prstGeom>
            <a:ln cap="rnd" w="25400">
              <a:solidFill>
                <a:srgbClr val="01BEE1"/>
              </a:solidFill>
              <a:prstDash val="sysDash"/>
              <a:headEnd type="arrow" len="sm" w="med"/>
              <a:tailEnd type="none" len="sm" w="sm"/>
            </a:ln>
          </p:spPr>
        </p:sp>
        <p:sp>
          <p:nvSpPr>
            <p:cNvPr name="AutoShape 53" id="53"/>
            <p:cNvSpPr/>
            <p:nvPr/>
          </p:nvSpPr>
          <p:spPr>
            <a:xfrm>
              <a:off x="10605266" y="3320146"/>
              <a:ext cx="643055" cy="0"/>
            </a:xfrm>
            <a:prstGeom prst="line">
              <a:avLst/>
            </a:prstGeom>
            <a:ln cap="rnd" w="25400">
              <a:solidFill>
                <a:srgbClr val="01BEE1"/>
              </a:solidFill>
              <a:prstDash val="sysDash"/>
              <a:headEnd type="none" len="sm" w="sm"/>
              <a:tailEnd type="arrow" len="sm" w="med"/>
            </a:ln>
          </p:spPr>
        </p:sp>
        <p:sp>
          <p:nvSpPr>
            <p:cNvPr name="AutoShape 54" id="54"/>
            <p:cNvSpPr/>
            <p:nvPr/>
          </p:nvSpPr>
          <p:spPr>
            <a:xfrm>
              <a:off x="10605266" y="3590913"/>
              <a:ext cx="643055" cy="0"/>
            </a:xfrm>
            <a:prstGeom prst="line">
              <a:avLst/>
            </a:prstGeom>
            <a:ln cap="rnd" w="25400">
              <a:solidFill>
                <a:srgbClr val="01BEE1"/>
              </a:solidFill>
              <a:prstDash val="sysDash"/>
              <a:headEnd type="arrow" len="sm" w="med"/>
              <a:tailEnd type="none" len="sm" w="sm"/>
            </a:ln>
          </p:spPr>
        </p:sp>
        <p:sp>
          <p:nvSpPr>
            <p:cNvPr name="AutoShape 55" id="55"/>
            <p:cNvSpPr/>
            <p:nvPr/>
          </p:nvSpPr>
          <p:spPr>
            <a:xfrm>
              <a:off x="8438112" y="4128630"/>
              <a:ext cx="996867" cy="0"/>
            </a:xfrm>
            <a:prstGeom prst="line">
              <a:avLst/>
            </a:prstGeom>
            <a:ln cap="rnd" w="25400">
              <a:solidFill>
                <a:srgbClr val="01BEE1"/>
              </a:solidFill>
              <a:prstDash val="sysDash"/>
              <a:headEnd type="none" len="sm" w="sm"/>
              <a:tailEnd type="arrow" len="sm" w="med"/>
            </a:ln>
          </p:spPr>
        </p:sp>
        <p:sp>
          <p:nvSpPr>
            <p:cNvPr name="AutoShape 56" id="56"/>
            <p:cNvSpPr/>
            <p:nvPr/>
          </p:nvSpPr>
          <p:spPr>
            <a:xfrm>
              <a:off x="8438112" y="4399396"/>
              <a:ext cx="996867" cy="0"/>
            </a:xfrm>
            <a:prstGeom prst="line">
              <a:avLst/>
            </a:prstGeom>
            <a:ln cap="rnd" w="25400">
              <a:solidFill>
                <a:srgbClr val="01BEE1"/>
              </a:solidFill>
              <a:prstDash val="sysDash"/>
              <a:headEnd type="arrow" len="sm" w="med"/>
              <a:tailEnd type="none" len="sm" w="sm"/>
            </a:ln>
          </p:spPr>
        </p:sp>
        <p:sp>
          <p:nvSpPr>
            <p:cNvPr name="AutoShape 57" id="57"/>
            <p:cNvSpPr/>
            <p:nvPr/>
          </p:nvSpPr>
          <p:spPr>
            <a:xfrm>
              <a:off x="5865598" y="4199893"/>
              <a:ext cx="996867" cy="0"/>
            </a:xfrm>
            <a:prstGeom prst="line">
              <a:avLst/>
            </a:prstGeom>
            <a:ln cap="rnd" w="25400">
              <a:solidFill>
                <a:srgbClr val="01BEE1"/>
              </a:solidFill>
              <a:prstDash val="sysDash"/>
              <a:headEnd type="none" len="sm" w="sm"/>
              <a:tailEnd type="arrow" len="sm" w="med"/>
            </a:ln>
          </p:spPr>
        </p:sp>
        <p:sp>
          <p:nvSpPr>
            <p:cNvPr name="AutoShape 58" id="58"/>
            <p:cNvSpPr/>
            <p:nvPr/>
          </p:nvSpPr>
          <p:spPr>
            <a:xfrm>
              <a:off x="5865598" y="4470659"/>
              <a:ext cx="996867" cy="0"/>
            </a:xfrm>
            <a:prstGeom prst="line">
              <a:avLst/>
            </a:prstGeom>
            <a:ln cap="rnd" w="25400">
              <a:solidFill>
                <a:srgbClr val="01BEE1"/>
              </a:solidFill>
              <a:prstDash val="sysDash"/>
              <a:headEnd type="arrow" len="sm" w="med"/>
              <a:tailEnd type="none" len="sm" w="sm"/>
            </a:ln>
          </p:spPr>
        </p:sp>
        <p:sp>
          <p:nvSpPr>
            <p:cNvPr name="AutoShape 59" id="59"/>
            <p:cNvSpPr/>
            <p:nvPr/>
          </p:nvSpPr>
          <p:spPr>
            <a:xfrm>
              <a:off x="2051760" y="4227872"/>
              <a:ext cx="996867" cy="0"/>
            </a:xfrm>
            <a:prstGeom prst="line">
              <a:avLst/>
            </a:prstGeom>
            <a:ln cap="rnd" w="25400">
              <a:solidFill>
                <a:srgbClr val="01BEE1"/>
              </a:solidFill>
              <a:prstDash val="sysDash"/>
              <a:headEnd type="none" len="sm" w="sm"/>
              <a:tailEnd type="arrow" len="sm" w="med"/>
            </a:ln>
          </p:spPr>
        </p:sp>
        <p:sp>
          <p:nvSpPr>
            <p:cNvPr name="AutoShape 60" id="60"/>
            <p:cNvSpPr/>
            <p:nvPr/>
          </p:nvSpPr>
          <p:spPr>
            <a:xfrm>
              <a:off x="2051760" y="4498639"/>
              <a:ext cx="996867" cy="0"/>
            </a:xfrm>
            <a:prstGeom prst="line">
              <a:avLst/>
            </a:prstGeom>
            <a:ln cap="rnd" w="25400">
              <a:solidFill>
                <a:srgbClr val="01BEE1"/>
              </a:solidFill>
              <a:prstDash val="sysDash"/>
              <a:headEnd type="arrow" len="sm" w="med"/>
              <a:tailEnd type="none" len="sm" w="sm"/>
            </a:ln>
          </p:spPr>
        </p:sp>
        <p:grpSp>
          <p:nvGrpSpPr>
            <p:cNvPr name="Group 61" id="61"/>
            <p:cNvGrpSpPr/>
            <p:nvPr/>
          </p:nvGrpSpPr>
          <p:grpSpPr>
            <a:xfrm rot="0">
              <a:off x="11319762" y="2932919"/>
              <a:ext cx="3454075" cy="1022689"/>
              <a:chOff x="0" y="0"/>
              <a:chExt cx="606448" cy="179558"/>
            </a:xfrm>
          </p:grpSpPr>
          <p:sp>
            <p:nvSpPr>
              <p:cNvPr name="Freeform 62" id="62"/>
              <p:cNvSpPr/>
              <p:nvPr/>
            </p:nvSpPr>
            <p:spPr>
              <a:xfrm flipH="false" flipV="false" rot="0">
                <a:off x="0" y="0"/>
                <a:ext cx="606448" cy="179558"/>
              </a:xfrm>
              <a:custGeom>
                <a:avLst/>
                <a:gdLst/>
                <a:ahLst/>
                <a:cxnLst/>
                <a:rect r="r" b="b" t="t" l="l"/>
                <a:pathLst>
                  <a:path h="179558" w="606448">
                    <a:moveTo>
                      <a:pt x="59770" y="0"/>
                    </a:moveTo>
                    <a:lnTo>
                      <a:pt x="546677" y="0"/>
                    </a:lnTo>
                    <a:cubicBezTo>
                      <a:pt x="562530" y="0"/>
                      <a:pt x="577732" y="6297"/>
                      <a:pt x="588941" y="17506"/>
                    </a:cubicBezTo>
                    <a:cubicBezTo>
                      <a:pt x="600151" y="28715"/>
                      <a:pt x="606448" y="43918"/>
                      <a:pt x="606448" y="59770"/>
                    </a:cubicBezTo>
                    <a:lnTo>
                      <a:pt x="606448" y="119788"/>
                    </a:lnTo>
                    <a:cubicBezTo>
                      <a:pt x="606448" y="135640"/>
                      <a:pt x="600151" y="150843"/>
                      <a:pt x="588941" y="162052"/>
                    </a:cubicBezTo>
                    <a:cubicBezTo>
                      <a:pt x="577732" y="173261"/>
                      <a:pt x="562530" y="179558"/>
                      <a:pt x="546677" y="179558"/>
                    </a:cubicBezTo>
                    <a:lnTo>
                      <a:pt x="59770" y="179558"/>
                    </a:lnTo>
                    <a:cubicBezTo>
                      <a:pt x="43918" y="179558"/>
                      <a:pt x="28715" y="173261"/>
                      <a:pt x="17506" y="162052"/>
                    </a:cubicBezTo>
                    <a:cubicBezTo>
                      <a:pt x="6297" y="150843"/>
                      <a:pt x="0" y="135640"/>
                      <a:pt x="0" y="119788"/>
                    </a:cubicBezTo>
                    <a:lnTo>
                      <a:pt x="0" y="59770"/>
                    </a:lnTo>
                    <a:cubicBezTo>
                      <a:pt x="0" y="43918"/>
                      <a:pt x="6297" y="28715"/>
                      <a:pt x="17506" y="17506"/>
                    </a:cubicBezTo>
                    <a:cubicBezTo>
                      <a:pt x="28715" y="6297"/>
                      <a:pt x="43918" y="0"/>
                      <a:pt x="59770" y="0"/>
                    </a:cubicBezTo>
                    <a:close/>
                  </a:path>
                </a:pathLst>
              </a:custGeom>
              <a:solidFill>
                <a:srgbClr val="D8F9FF"/>
              </a:solidFill>
            </p:spPr>
          </p:sp>
          <p:sp>
            <p:nvSpPr>
              <p:cNvPr name="TextBox 63" id="63"/>
              <p:cNvSpPr txBox="true"/>
              <p:nvPr/>
            </p:nvSpPr>
            <p:spPr>
              <a:xfrm>
                <a:off x="0" y="-38100"/>
                <a:ext cx="606448" cy="217658"/>
              </a:xfrm>
              <a:prstGeom prst="rect">
                <a:avLst/>
              </a:prstGeom>
            </p:spPr>
            <p:txBody>
              <a:bodyPr anchor="ctr" rtlCol="false" tIns="57153" lIns="57153" bIns="57153" rIns="57153"/>
              <a:lstStyle/>
              <a:p>
                <a:pPr algn="ctr">
                  <a:lnSpc>
                    <a:spcPts val="3359"/>
                  </a:lnSpc>
                </a:pPr>
              </a:p>
            </p:txBody>
          </p:sp>
        </p:grpSp>
        <p:grpSp>
          <p:nvGrpSpPr>
            <p:cNvPr name="Group 64" id="64"/>
            <p:cNvGrpSpPr/>
            <p:nvPr/>
          </p:nvGrpSpPr>
          <p:grpSpPr>
            <a:xfrm rot="0">
              <a:off x="11391203" y="4749677"/>
              <a:ext cx="3454075" cy="1022689"/>
              <a:chOff x="0" y="0"/>
              <a:chExt cx="606448" cy="179558"/>
            </a:xfrm>
          </p:grpSpPr>
          <p:sp>
            <p:nvSpPr>
              <p:cNvPr name="Freeform 65" id="65"/>
              <p:cNvSpPr/>
              <p:nvPr/>
            </p:nvSpPr>
            <p:spPr>
              <a:xfrm flipH="false" flipV="false" rot="0">
                <a:off x="0" y="0"/>
                <a:ext cx="606448" cy="179558"/>
              </a:xfrm>
              <a:custGeom>
                <a:avLst/>
                <a:gdLst/>
                <a:ahLst/>
                <a:cxnLst/>
                <a:rect r="r" b="b" t="t" l="l"/>
                <a:pathLst>
                  <a:path h="179558" w="606448">
                    <a:moveTo>
                      <a:pt x="59770" y="0"/>
                    </a:moveTo>
                    <a:lnTo>
                      <a:pt x="546677" y="0"/>
                    </a:lnTo>
                    <a:cubicBezTo>
                      <a:pt x="562530" y="0"/>
                      <a:pt x="577732" y="6297"/>
                      <a:pt x="588941" y="17506"/>
                    </a:cubicBezTo>
                    <a:cubicBezTo>
                      <a:pt x="600151" y="28715"/>
                      <a:pt x="606448" y="43918"/>
                      <a:pt x="606448" y="59770"/>
                    </a:cubicBezTo>
                    <a:lnTo>
                      <a:pt x="606448" y="119788"/>
                    </a:lnTo>
                    <a:cubicBezTo>
                      <a:pt x="606448" y="135640"/>
                      <a:pt x="600151" y="150843"/>
                      <a:pt x="588941" y="162052"/>
                    </a:cubicBezTo>
                    <a:cubicBezTo>
                      <a:pt x="577732" y="173261"/>
                      <a:pt x="562530" y="179558"/>
                      <a:pt x="546677" y="179558"/>
                    </a:cubicBezTo>
                    <a:lnTo>
                      <a:pt x="59770" y="179558"/>
                    </a:lnTo>
                    <a:cubicBezTo>
                      <a:pt x="43918" y="179558"/>
                      <a:pt x="28715" y="173261"/>
                      <a:pt x="17506" y="162052"/>
                    </a:cubicBezTo>
                    <a:cubicBezTo>
                      <a:pt x="6297" y="150843"/>
                      <a:pt x="0" y="135640"/>
                      <a:pt x="0" y="119788"/>
                    </a:cubicBezTo>
                    <a:lnTo>
                      <a:pt x="0" y="59770"/>
                    </a:lnTo>
                    <a:cubicBezTo>
                      <a:pt x="0" y="43918"/>
                      <a:pt x="6297" y="28715"/>
                      <a:pt x="17506" y="17506"/>
                    </a:cubicBezTo>
                    <a:cubicBezTo>
                      <a:pt x="28715" y="6297"/>
                      <a:pt x="43918" y="0"/>
                      <a:pt x="59770" y="0"/>
                    </a:cubicBezTo>
                    <a:close/>
                  </a:path>
                </a:pathLst>
              </a:custGeom>
              <a:solidFill>
                <a:srgbClr val="D8F9FF"/>
              </a:solidFill>
            </p:spPr>
          </p:sp>
          <p:sp>
            <p:nvSpPr>
              <p:cNvPr name="TextBox 66" id="66"/>
              <p:cNvSpPr txBox="true"/>
              <p:nvPr/>
            </p:nvSpPr>
            <p:spPr>
              <a:xfrm>
                <a:off x="0" y="-38100"/>
                <a:ext cx="606448" cy="217658"/>
              </a:xfrm>
              <a:prstGeom prst="rect">
                <a:avLst/>
              </a:prstGeom>
            </p:spPr>
            <p:txBody>
              <a:bodyPr anchor="ctr" rtlCol="false" tIns="57153" lIns="57153" bIns="57153" rIns="57153"/>
              <a:lstStyle/>
              <a:p>
                <a:pPr algn="ctr">
                  <a:lnSpc>
                    <a:spcPts val="3359"/>
                  </a:lnSpc>
                </a:pPr>
              </a:p>
            </p:txBody>
          </p:sp>
        </p:grpSp>
        <p:grpSp>
          <p:nvGrpSpPr>
            <p:cNvPr name="Group 67" id="67"/>
            <p:cNvGrpSpPr/>
            <p:nvPr/>
          </p:nvGrpSpPr>
          <p:grpSpPr>
            <a:xfrm rot="-5400000">
              <a:off x="8564114" y="3847731"/>
              <a:ext cx="2909466" cy="1022689"/>
              <a:chOff x="0" y="0"/>
              <a:chExt cx="510828" cy="179558"/>
            </a:xfrm>
          </p:grpSpPr>
          <p:sp>
            <p:nvSpPr>
              <p:cNvPr name="Freeform 68" id="68"/>
              <p:cNvSpPr/>
              <p:nvPr/>
            </p:nvSpPr>
            <p:spPr>
              <a:xfrm flipH="false" flipV="false" rot="0">
                <a:off x="0" y="0"/>
                <a:ext cx="510828" cy="179558"/>
              </a:xfrm>
              <a:custGeom>
                <a:avLst/>
                <a:gdLst/>
                <a:ahLst/>
                <a:cxnLst/>
                <a:rect r="r" b="b" t="t" l="l"/>
                <a:pathLst>
                  <a:path h="179558" w="510828">
                    <a:moveTo>
                      <a:pt x="70958" y="0"/>
                    </a:moveTo>
                    <a:lnTo>
                      <a:pt x="439870" y="0"/>
                    </a:lnTo>
                    <a:cubicBezTo>
                      <a:pt x="458689" y="0"/>
                      <a:pt x="476738" y="7476"/>
                      <a:pt x="490045" y="20783"/>
                    </a:cubicBezTo>
                    <a:cubicBezTo>
                      <a:pt x="503352" y="34091"/>
                      <a:pt x="510828" y="52139"/>
                      <a:pt x="510828" y="70958"/>
                    </a:cubicBezTo>
                    <a:lnTo>
                      <a:pt x="510828" y="108600"/>
                    </a:lnTo>
                    <a:cubicBezTo>
                      <a:pt x="510828" y="147789"/>
                      <a:pt x="479059" y="179558"/>
                      <a:pt x="439870" y="179558"/>
                    </a:cubicBezTo>
                    <a:lnTo>
                      <a:pt x="70958" y="179558"/>
                    </a:lnTo>
                    <a:cubicBezTo>
                      <a:pt x="31769" y="179558"/>
                      <a:pt x="0" y="147789"/>
                      <a:pt x="0" y="108600"/>
                    </a:cubicBezTo>
                    <a:lnTo>
                      <a:pt x="0" y="70958"/>
                    </a:lnTo>
                    <a:cubicBezTo>
                      <a:pt x="0" y="31769"/>
                      <a:pt x="31769" y="0"/>
                      <a:pt x="70958" y="0"/>
                    </a:cubicBezTo>
                    <a:close/>
                  </a:path>
                </a:pathLst>
              </a:custGeom>
              <a:solidFill>
                <a:srgbClr val="D8F9FF"/>
              </a:solidFill>
            </p:spPr>
          </p:sp>
          <p:sp>
            <p:nvSpPr>
              <p:cNvPr name="TextBox 69" id="69"/>
              <p:cNvSpPr txBox="true"/>
              <p:nvPr/>
            </p:nvSpPr>
            <p:spPr>
              <a:xfrm>
                <a:off x="0" y="-38100"/>
                <a:ext cx="510828" cy="217658"/>
              </a:xfrm>
              <a:prstGeom prst="rect">
                <a:avLst/>
              </a:prstGeom>
            </p:spPr>
            <p:txBody>
              <a:bodyPr anchor="ctr" rtlCol="false" tIns="57153" lIns="57153" bIns="57153" rIns="57153"/>
              <a:lstStyle/>
              <a:p>
                <a:pPr algn="ctr">
                  <a:lnSpc>
                    <a:spcPts val="3359"/>
                  </a:lnSpc>
                </a:pPr>
              </a:p>
            </p:txBody>
          </p:sp>
        </p:grpSp>
        <p:sp>
          <p:nvSpPr>
            <p:cNvPr name="Freeform 70" id="70"/>
            <p:cNvSpPr/>
            <p:nvPr/>
          </p:nvSpPr>
          <p:spPr>
            <a:xfrm flipH="false" flipV="false" rot="0">
              <a:off x="3825655" y="3619191"/>
              <a:ext cx="1254092" cy="1421068"/>
            </a:xfrm>
            <a:custGeom>
              <a:avLst/>
              <a:gdLst/>
              <a:ahLst/>
              <a:cxnLst/>
              <a:rect r="r" b="b" t="t" l="l"/>
              <a:pathLst>
                <a:path h="1421068" w="1254092">
                  <a:moveTo>
                    <a:pt x="0" y="0"/>
                  </a:moveTo>
                  <a:lnTo>
                    <a:pt x="1254093" y="0"/>
                  </a:lnTo>
                  <a:lnTo>
                    <a:pt x="1254093" y="1421068"/>
                  </a:lnTo>
                  <a:lnTo>
                    <a:pt x="0" y="142106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71" id="71"/>
            <p:cNvSpPr txBox="true"/>
            <p:nvPr/>
          </p:nvSpPr>
          <p:spPr>
            <a:xfrm rot="0">
              <a:off x="11209413" y="547352"/>
              <a:ext cx="1793148" cy="490559"/>
            </a:xfrm>
            <a:prstGeom prst="rect">
              <a:avLst/>
            </a:prstGeom>
          </p:spPr>
          <p:txBody>
            <a:bodyPr anchor="t" rtlCol="false" tIns="0" lIns="0" bIns="0" rIns="0">
              <a:spAutoFit/>
            </a:bodyPr>
            <a:lstStyle/>
            <a:p>
              <a:pPr algn="ctr">
                <a:lnSpc>
                  <a:spcPts val="3150"/>
                </a:lnSpc>
                <a:spcBef>
                  <a:spcPct val="0"/>
                </a:spcBef>
              </a:pPr>
              <a:r>
                <a:rPr lang="en-US" sz="2250">
                  <a:solidFill>
                    <a:srgbClr val="01BEE1"/>
                  </a:solidFill>
                  <a:latin typeface="Open Sans"/>
                  <a:ea typeface="Open Sans"/>
                  <a:cs typeface="Open Sans"/>
                  <a:sym typeface="Open Sans"/>
                </a:rPr>
                <a:t>Backend</a:t>
              </a:r>
            </a:p>
          </p:txBody>
        </p:sp>
        <p:sp>
          <p:nvSpPr>
            <p:cNvPr name="TextBox 72" id="72"/>
            <p:cNvSpPr txBox="true"/>
            <p:nvPr/>
          </p:nvSpPr>
          <p:spPr>
            <a:xfrm rot="0">
              <a:off x="259230" y="5198356"/>
              <a:ext cx="1218961" cy="490559"/>
            </a:xfrm>
            <a:prstGeom prst="rect">
              <a:avLst/>
            </a:prstGeom>
          </p:spPr>
          <p:txBody>
            <a:bodyPr anchor="t" rtlCol="false" tIns="0" lIns="0" bIns="0" rIns="0">
              <a:spAutoFit/>
            </a:bodyPr>
            <a:lstStyle/>
            <a:p>
              <a:pPr algn="ctr">
                <a:lnSpc>
                  <a:spcPts val="3150"/>
                </a:lnSpc>
                <a:spcBef>
                  <a:spcPct val="0"/>
                </a:spcBef>
              </a:pPr>
              <a:r>
                <a:rPr lang="en-US" sz="2250">
                  <a:solidFill>
                    <a:srgbClr val="01BEE1"/>
                  </a:solidFill>
                  <a:latin typeface="Open Sans"/>
                  <a:ea typeface="Open Sans"/>
                  <a:cs typeface="Open Sans"/>
                  <a:sym typeface="Open Sans"/>
                </a:rPr>
                <a:t>Client</a:t>
              </a:r>
            </a:p>
          </p:txBody>
        </p:sp>
        <p:sp>
          <p:nvSpPr>
            <p:cNvPr name="TextBox 73" id="73"/>
            <p:cNvSpPr txBox="true"/>
            <p:nvPr/>
          </p:nvSpPr>
          <p:spPr>
            <a:xfrm rot="0">
              <a:off x="7295036" y="4047103"/>
              <a:ext cx="710504" cy="490559"/>
            </a:xfrm>
            <a:prstGeom prst="rect">
              <a:avLst/>
            </a:prstGeom>
          </p:spPr>
          <p:txBody>
            <a:bodyPr anchor="t" rtlCol="false" tIns="0" lIns="0" bIns="0" rIns="0">
              <a:spAutoFit/>
            </a:bodyPr>
            <a:lstStyle/>
            <a:p>
              <a:pPr algn="ctr">
                <a:lnSpc>
                  <a:spcPts val="3150"/>
                </a:lnSpc>
                <a:spcBef>
                  <a:spcPct val="0"/>
                </a:spcBef>
              </a:pPr>
              <a:r>
                <a:rPr lang="en-US" sz="2250">
                  <a:solidFill>
                    <a:srgbClr val="01BEE0"/>
                  </a:solidFill>
                  <a:latin typeface="Open Sans"/>
                  <a:ea typeface="Open Sans"/>
                  <a:cs typeface="Open Sans"/>
                  <a:sym typeface="Open Sans"/>
                </a:rPr>
                <a:t>API</a:t>
              </a:r>
            </a:p>
          </p:txBody>
        </p:sp>
        <p:sp>
          <p:nvSpPr>
            <p:cNvPr name="TextBox 74" id="74"/>
            <p:cNvSpPr txBox="true"/>
            <p:nvPr/>
          </p:nvSpPr>
          <p:spPr>
            <a:xfrm rot="-5400000">
              <a:off x="14295895" y="4111429"/>
              <a:ext cx="3500594" cy="490559"/>
            </a:xfrm>
            <a:prstGeom prst="rect">
              <a:avLst/>
            </a:prstGeom>
          </p:spPr>
          <p:txBody>
            <a:bodyPr anchor="t" rtlCol="false" tIns="0" lIns="0" bIns="0" rIns="0">
              <a:spAutoFit/>
            </a:bodyPr>
            <a:lstStyle/>
            <a:p>
              <a:pPr algn="ctr">
                <a:lnSpc>
                  <a:spcPts val="3150"/>
                </a:lnSpc>
                <a:spcBef>
                  <a:spcPct val="0"/>
                </a:spcBef>
              </a:pPr>
              <a:r>
                <a:rPr lang="en-US" sz="2250">
                  <a:solidFill>
                    <a:srgbClr val="01BEE0"/>
                  </a:solidFill>
                  <a:latin typeface="Open Sans"/>
                  <a:ea typeface="Open Sans"/>
                  <a:cs typeface="Open Sans"/>
                  <a:sym typeface="Open Sans"/>
                </a:rPr>
                <a:t>iCV.Infrastructure</a:t>
              </a:r>
            </a:p>
          </p:txBody>
        </p:sp>
        <p:sp>
          <p:nvSpPr>
            <p:cNvPr name="TextBox 75" id="75"/>
            <p:cNvSpPr txBox="true"/>
            <p:nvPr/>
          </p:nvSpPr>
          <p:spPr>
            <a:xfrm rot="0">
              <a:off x="18320642" y="4453995"/>
              <a:ext cx="1582308" cy="490559"/>
            </a:xfrm>
            <a:prstGeom prst="rect">
              <a:avLst/>
            </a:prstGeom>
          </p:spPr>
          <p:txBody>
            <a:bodyPr anchor="t" rtlCol="false" tIns="0" lIns="0" bIns="0" rIns="0">
              <a:spAutoFit/>
            </a:bodyPr>
            <a:lstStyle/>
            <a:p>
              <a:pPr algn="ctr">
                <a:lnSpc>
                  <a:spcPts val="3150"/>
                </a:lnSpc>
                <a:spcBef>
                  <a:spcPct val="0"/>
                </a:spcBef>
              </a:pPr>
              <a:r>
                <a:rPr lang="en-US" sz="2250">
                  <a:solidFill>
                    <a:srgbClr val="01BEE1"/>
                  </a:solidFill>
                  <a:latin typeface="Open Sans"/>
                  <a:ea typeface="Open Sans"/>
                  <a:cs typeface="Open Sans"/>
                  <a:sym typeface="Open Sans"/>
                </a:rPr>
                <a:t>External</a:t>
              </a:r>
            </a:p>
          </p:txBody>
        </p:sp>
        <p:sp>
          <p:nvSpPr>
            <p:cNvPr name="TextBox 76" id="76"/>
            <p:cNvSpPr txBox="true"/>
            <p:nvPr/>
          </p:nvSpPr>
          <p:spPr>
            <a:xfrm rot="0">
              <a:off x="3453832" y="2617646"/>
              <a:ext cx="2029592" cy="490559"/>
            </a:xfrm>
            <a:prstGeom prst="rect">
              <a:avLst/>
            </a:prstGeom>
          </p:spPr>
          <p:txBody>
            <a:bodyPr anchor="t" rtlCol="false" tIns="0" lIns="0" bIns="0" rIns="0">
              <a:spAutoFit/>
            </a:bodyPr>
            <a:lstStyle/>
            <a:p>
              <a:pPr algn="ctr">
                <a:lnSpc>
                  <a:spcPts val="3150"/>
                </a:lnSpc>
                <a:spcBef>
                  <a:spcPct val="0"/>
                </a:spcBef>
              </a:pPr>
              <a:r>
                <a:rPr lang="en-US" sz="2250">
                  <a:solidFill>
                    <a:srgbClr val="01BEE1"/>
                  </a:solidFill>
                  <a:latin typeface="Open Sans"/>
                  <a:ea typeface="Open Sans"/>
                  <a:cs typeface="Open Sans"/>
                  <a:sym typeface="Open Sans"/>
                </a:rPr>
                <a:t>Frontend</a:t>
              </a:r>
            </a:p>
          </p:txBody>
        </p:sp>
        <p:sp>
          <p:nvSpPr>
            <p:cNvPr name="TextBox 77" id="77"/>
            <p:cNvSpPr txBox="true"/>
            <p:nvPr/>
          </p:nvSpPr>
          <p:spPr>
            <a:xfrm rot="0">
              <a:off x="702784" y="2916170"/>
              <a:ext cx="531243" cy="490559"/>
            </a:xfrm>
            <a:prstGeom prst="rect">
              <a:avLst/>
            </a:prstGeom>
          </p:spPr>
          <p:txBody>
            <a:bodyPr anchor="t" rtlCol="false" tIns="0" lIns="0" bIns="0" rIns="0">
              <a:spAutoFit/>
            </a:bodyPr>
            <a:lstStyle/>
            <a:p>
              <a:pPr algn="ctr">
                <a:lnSpc>
                  <a:spcPts val="3150"/>
                </a:lnSpc>
                <a:spcBef>
                  <a:spcPct val="0"/>
                </a:spcBef>
              </a:pPr>
              <a:r>
                <a:rPr lang="en-US" sz="2250">
                  <a:solidFill>
                    <a:srgbClr val="3986AB"/>
                  </a:solidFill>
                  <a:latin typeface="Open Sans"/>
                  <a:ea typeface="Open Sans"/>
                  <a:cs typeface="Open Sans"/>
                  <a:sym typeface="Open Sans"/>
                </a:rPr>
                <a:t>(1)</a:t>
              </a:r>
            </a:p>
          </p:txBody>
        </p:sp>
        <p:sp>
          <p:nvSpPr>
            <p:cNvPr name="TextBox 78" id="78"/>
            <p:cNvSpPr txBox="true"/>
            <p:nvPr/>
          </p:nvSpPr>
          <p:spPr>
            <a:xfrm rot="0">
              <a:off x="4191491" y="5823208"/>
              <a:ext cx="531243" cy="490559"/>
            </a:xfrm>
            <a:prstGeom prst="rect">
              <a:avLst/>
            </a:prstGeom>
          </p:spPr>
          <p:txBody>
            <a:bodyPr anchor="t" rtlCol="false" tIns="0" lIns="0" bIns="0" rIns="0">
              <a:spAutoFit/>
            </a:bodyPr>
            <a:lstStyle/>
            <a:p>
              <a:pPr algn="ctr">
                <a:lnSpc>
                  <a:spcPts val="3150"/>
                </a:lnSpc>
                <a:spcBef>
                  <a:spcPct val="0"/>
                </a:spcBef>
              </a:pPr>
              <a:r>
                <a:rPr lang="en-US" sz="2250">
                  <a:solidFill>
                    <a:srgbClr val="3986AB"/>
                  </a:solidFill>
                  <a:latin typeface="Open Sans"/>
                  <a:ea typeface="Open Sans"/>
                  <a:cs typeface="Open Sans"/>
                  <a:sym typeface="Open Sans"/>
                </a:rPr>
                <a:t>(2)</a:t>
              </a:r>
            </a:p>
          </p:txBody>
        </p:sp>
        <p:sp>
          <p:nvSpPr>
            <p:cNvPr name="TextBox 79" id="79"/>
            <p:cNvSpPr txBox="true"/>
            <p:nvPr/>
          </p:nvSpPr>
          <p:spPr>
            <a:xfrm rot="0">
              <a:off x="11797501" y="-38100"/>
              <a:ext cx="531243" cy="490559"/>
            </a:xfrm>
            <a:prstGeom prst="rect">
              <a:avLst/>
            </a:prstGeom>
          </p:spPr>
          <p:txBody>
            <a:bodyPr anchor="t" rtlCol="false" tIns="0" lIns="0" bIns="0" rIns="0">
              <a:spAutoFit/>
            </a:bodyPr>
            <a:lstStyle/>
            <a:p>
              <a:pPr algn="ctr">
                <a:lnSpc>
                  <a:spcPts val="3150"/>
                </a:lnSpc>
                <a:spcBef>
                  <a:spcPct val="0"/>
                </a:spcBef>
              </a:pPr>
              <a:r>
                <a:rPr lang="en-US" sz="2250">
                  <a:solidFill>
                    <a:srgbClr val="3986AB"/>
                  </a:solidFill>
                  <a:latin typeface="Open Sans"/>
                  <a:ea typeface="Open Sans"/>
                  <a:cs typeface="Open Sans"/>
                  <a:sym typeface="Open Sans"/>
                </a:rPr>
                <a:t>(4)</a:t>
              </a:r>
            </a:p>
          </p:txBody>
        </p:sp>
        <p:sp>
          <p:nvSpPr>
            <p:cNvPr name="TextBox 80" id="80"/>
            <p:cNvSpPr txBox="true"/>
            <p:nvPr/>
          </p:nvSpPr>
          <p:spPr>
            <a:xfrm rot="0">
              <a:off x="9741922" y="2156596"/>
              <a:ext cx="531243" cy="490559"/>
            </a:xfrm>
            <a:prstGeom prst="rect">
              <a:avLst/>
            </a:prstGeom>
          </p:spPr>
          <p:txBody>
            <a:bodyPr anchor="t" rtlCol="false" tIns="0" lIns="0" bIns="0" rIns="0">
              <a:spAutoFit/>
            </a:bodyPr>
            <a:lstStyle/>
            <a:p>
              <a:pPr algn="ctr">
                <a:lnSpc>
                  <a:spcPts val="3150"/>
                </a:lnSpc>
                <a:spcBef>
                  <a:spcPct val="0"/>
                </a:spcBef>
              </a:pPr>
              <a:r>
                <a:rPr lang="en-US" sz="2250">
                  <a:solidFill>
                    <a:srgbClr val="3986AB"/>
                  </a:solidFill>
                  <a:latin typeface="Open Sans"/>
                  <a:ea typeface="Open Sans"/>
                  <a:cs typeface="Open Sans"/>
                  <a:sym typeface="Open Sans"/>
                </a:rPr>
                <a:t>(5)</a:t>
              </a:r>
            </a:p>
          </p:txBody>
        </p:sp>
        <p:sp>
          <p:nvSpPr>
            <p:cNvPr name="TextBox 81" id="81"/>
            <p:cNvSpPr txBox="true"/>
            <p:nvPr/>
          </p:nvSpPr>
          <p:spPr>
            <a:xfrm rot="0">
              <a:off x="12808321" y="2156596"/>
              <a:ext cx="531243" cy="490559"/>
            </a:xfrm>
            <a:prstGeom prst="rect">
              <a:avLst/>
            </a:prstGeom>
          </p:spPr>
          <p:txBody>
            <a:bodyPr anchor="t" rtlCol="false" tIns="0" lIns="0" bIns="0" rIns="0">
              <a:spAutoFit/>
            </a:bodyPr>
            <a:lstStyle/>
            <a:p>
              <a:pPr algn="ctr">
                <a:lnSpc>
                  <a:spcPts val="3150"/>
                </a:lnSpc>
                <a:spcBef>
                  <a:spcPct val="0"/>
                </a:spcBef>
              </a:pPr>
              <a:r>
                <a:rPr lang="en-US" sz="2250">
                  <a:solidFill>
                    <a:srgbClr val="3986AB"/>
                  </a:solidFill>
                  <a:latin typeface="Open Sans"/>
                  <a:ea typeface="Open Sans"/>
                  <a:cs typeface="Open Sans"/>
                  <a:sym typeface="Open Sans"/>
                </a:rPr>
                <a:t>(6)</a:t>
              </a:r>
            </a:p>
          </p:txBody>
        </p:sp>
        <p:sp>
          <p:nvSpPr>
            <p:cNvPr name="TextBox 82" id="82"/>
            <p:cNvSpPr txBox="true"/>
            <p:nvPr/>
          </p:nvSpPr>
          <p:spPr>
            <a:xfrm rot="0">
              <a:off x="12852619" y="5977165"/>
              <a:ext cx="531243" cy="490559"/>
            </a:xfrm>
            <a:prstGeom prst="rect">
              <a:avLst/>
            </a:prstGeom>
          </p:spPr>
          <p:txBody>
            <a:bodyPr anchor="t" rtlCol="false" tIns="0" lIns="0" bIns="0" rIns="0">
              <a:spAutoFit/>
            </a:bodyPr>
            <a:lstStyle/>
            <a:p>
              <a:pPr algn="ctr">
                <a:lnSpc>
                  <a:spcPts val="3150"/>
                </a:lnSpc>
                <a:spcBef>
                  <a:spcPct val="0"/>
                </a:spcBef>
              </a:pPr>
              <a:r>
                <a:rPr lang="en-US" sz="2250">
                  <a:solidFill>
                    <a:srgbClr val="3986AB"/>
                  </a:solidFill>
                  <a:latin typeface="Open Sans"/>
                  <a:ea typeface="Open Sans"/>
                  <a:cs typeface="Open Sans"/>
                  <a:sym typeface="Open Sans"/>
                </a:rPr>
                <a:t>(7)</a:t>
              </a:r>
            </a:p>
          </p:txBody>
        </p:sp>
        <p:sp>
          <p:nvSpPr>
            <p:cNvPr name="TextBox 83" id="83"/>
            <p:cNvSpPr txBox="true"/>
            <p:nvPr/>
          </p:nvSpPr>
          <p:spPr>
            <a:xfrm rot="0">
              <a:off x="18830195" y="173841"/>
              <a:ext cx="531243" cy="490559"/>
            </a:xfrm>
            <a:prstGeom prst="rect">
              <a:avLst/>
            </a:prstGeom>
          </p:spPr>
          <p:txBody>
            <a:bodyPr anchor="t" rtlCol="false" tIns="0" lIns="0" bIns="0" rIns="0">
              <a:spAutoFit/>
            </a:bodyPr>
            <a:lstStyle/>
            <a:p>
              <a:pPr algn="ctr">
                <a:lnSpc>
                  <a:spcPts val="3150"/>
                </a:lnSpc>
                <a:spcBef>
                  <a:spcPct val="0"/>
                </a:spcBef>
              </a:pPr>
              <a:r>
                <a:rPr lang="en-US" sz="2250">
                  <a:solidFill>
                    <a:srgbClr val="3986AB"/>
                  </a:solidFill>
                  <a:latin typeface="Open Sans"/>
                  <a:ea typeface="Open Sans"/>
                  <a:cs typeface="Open Sans"/>
                  <a:sym typeface="Open Sans"/>
                </a:rPr>
                <a:t>(9)</a:t>
              </a:r>
            </a:p>
          </p:txBody>
        </p:sp>
        <p:sp>
          <p:nvSpPr>
            <p:cNvPr name="TextBox 84" id="84"/>
            <p:cNvSpPr txBox="true"/>
            <p:nvPr/>
          </p:nvSpPr>
          <p:spPr>
            <a:xfrm rot="0">
              <a:off x="18715497" y="7588007"/>
              <a:ext cx="792597" cy="490559"/>
            </a:xfrm>
            <a:prstGeom prst="rect">
              <a:avLst/>
            </a:prstGeom>
          </p:spPr>
          <p:txBody>
            <a:bodyPr anchor="t" rtlCol="false" tIns="0" lIns="0" bIns="0" rIns="0">
              <a:spAutoFit/>
            </a:bodyPr>
            <a:lstStyle/>
            <a:p>
              <a:pPr algn="ctr">
                <a:lnSpc>
                  <a:spcPts val="3150"/>
                </a:lnSpc>
                <a:spcBef>
                  <a:spcPct val="0"/>
                </a:spcBef>
              </a:pPr>
              <a:r>
                <a:rPr lang="en-US" sz="2250">
                  <a:solidFill>
                    <a:srgbClr val="3986AB"/>
                  </a:solidFill>
                  <a:latin typeface="Open Sans"/>
                  <a:ea typeface="Open Sans"/>
                  <a:cs typeface="Open Sans"/>
                  <a:sym typeface="Open Sans"/>
                </a:rPr>
                <a:t>(10)</a:t>
              </a:r>
            </a:p>
          </p:txBody>
        </p:sp>
        <p:sp>
          <p:nvSpPr>
            <p:cNvPr name="TextBox 85" id="85"/>
            <p:cNvSpPr txBox="true"/>
            <p:nvPr/>
          </p:nvSpPr>
          <p:spPr>
            <a:xfrm rot="0">
              <a:off x="15760228" y="1172631"/>
              <a:ext cx="531243" cy="490559"/>
            </a:xfrm>
            <a:prstGeom prst="rect">
              <a:avLst/>
            </a:prstGeom>
          </p:spPr>
          <p:txBody>
            <a:bodyPr anchor="t" rtlCol="false" tIns="0" lIns="0" bIns="0" rIns="0">
              <a:spAutoFit/>
            </a:bodyPr>
            <a:lstStyle/>
            <a:p>
              <a:pPr algn="ctr">
                <a:lnSpc>
                  <a:spcPts val="3150"/>
                </a:lnSpc>
                <a:spcBef>
                  <a:spcPct val="0"/>
                </a:spcBef>
              </a:pPr>
              <a:r>
                <a:rPr lang="en-US" sz="2250">
                  <a:solidFill>
                    <a:srgbClr val="3986AB"/>
                  </a:solidFill>
                  <a:latin typeface="Open Sans"/>
                  <a:ea typeface="Open Sans"/>
                  <a:cs typeface="Open Sans"/>
                  <a:sym typeface="Open Sans"/>
                </a:rPr>
                <a:t>(8)</a:t>
              </a:r>
            </a:p>
          </p:txBody>
        </p:sp>
        <p:sp>
          <p:nvSpPr>
            <p:cNvPr name="TextBox 86" id="86"/>
            <p:cNvSpPr txBox="true"/>
            <p:nvPr/>
          </p:nvSpPr>
          <p:spPr>
            <a:xfrm rot="0">
              <a:off x="18240278" y="794533"/>
              <a:ext cx="1777563" cy="490559"/>
            </a:xfrm>
            <a:prstGeom prst="rect">
              <a:avLst/>
            </a:prstGeom>
          </p:spPr>
          <p:txBody>
            <a:bodyPr anchor="t" rtlCol="false" tIns="0" lIns="0" bIns="0" rIns="0">
              <a:spAutoFit/>
            </a:bodyPr>
            <a:lstStyle/>
            <a:p>
              <a:pPr algn="ctr">
                <a:lnSpc>
                  <a:spcPts val="3150"/>
                </a:lnSpc>
                <a:spcBef>
                  <a:spcPct val="0"/>
                </a:spcBef>
              </a:pPr>
              <a:r>
                <a:rPr lang="en-US" sz="2250">
                  <a:solidFill>
                    <a:srgbClr val="01BEE1"/>
                  </a:solidFill>
                  <a:latin typeface="Open Sans"/>
                  <a:ea typeface="Open Sans"/>
                  <a:cs typeface="Open Sans"/>
                  <a:sym typeface="Open Sans"/>
                </a:rPr>
                <a:t>Database</a:t>
              </a:r>
            </a:p>
          </p:txBody>
        </p:sp>
        <p:sp>
          <p:nvSpPr>
            <p:cNvPr name="TextBox 87" id="87"/>
            <p:cNvSpPr txBox="true"/>
            <p:nvPr/>
          </p:nvSpPr>
          <p:spPr>
            <a:xfrm rot="0">
              <a:off x="11674100" y="3179934"/>
              <a:ext cx="2799685" cy="490559"/>
            </a:xfrm>
            <a:prstGeom prst="rect">
              <a:avLst/>
            </a:prstGeom>
          </p:spPr>
          <p:txBody>
            <a:bodyPr anchor="t" rtlCol="false" tIns="0" lIns="0" bIns="0" rIns="0">
              <a:spAutoFit/>
            </a:bodyPr>
            <a:lstStyle/>
            <a:p>
              <a:pPr algn="ctr">
                <a:lnSpc>
                  <a:spcPts val="3150"/>
                </a:lnSpc>
                <a:spcBef>
                  <a:spcPct val="0"/>
                </a:spcBef>
              </a:pPr>
              <a:r>
                <a:rPr lang="en-US" sz="2250">
                  <a:solidFill>
                    <a:srgbClr val="01BEE0"/>
                  </a:solidFill>
                  <a:latin typeface="Open Sans"/>
                  <a:ea typeface="Open Sans"/>
                  <a:cs typeface="Open Sans"/>
                  <a:sym typeface="Open Sans"/>
                </a:rPr>
                <a:t>iCV.Application</a:t>
              </a:r>
            </a:p>
          </p:txBody>
        </p:sp>
        <p:sp>
          <p:nvSpPr>
            <p:cNvPr name="TextBox 88" id="88"/>
            <p:cNvSpPr txBox="true"/>
            <p:nvPr/>
          </p:nvSpPr>
          <p:spPr>
            <a:xfrm rot="0">
              <a:off x="11829714" y="4996692"/>
              <a:ext cx="2577053" cy="490559"/>
            </a:xfrm>
            <a:prstGeom prst="rect">
              <a:avLst/>
            </a:prstGeom>
          </p:spPr>
          <p:txBody>
            <a:bodyPr anchor="t" rtlCol="false" tIns="0" lIns="0" bIns="0" rIns="0">
              <a:spAutoFit/>
            </a:bodyPr>
            <a:lstStyle/>
            <a:p>
              <a:pPr algn="ctr">
                <a:lnSpc>
                  <a:spcPts val="3150"/>
                </a:lnSpc>
                <a:spcBef>
                  <a:spcPct val="0"/>
                </a:spcBef>
              </a:pPr>
              <a:r>
                <a:rPr lang="en-US" sz="2250">
                  <a:solidFill>
                    <a:srgbClr val="01BEE0"/>
                  </a:solidFill>
                  <a:latin typeface="Open Sans"/>
                  <a:ea typeface="Open Sans"/>
                  <a:cs typeface="Open Sans"/>
                  <a:sym typeface="Open Sans"/>
                </a:rPr>
                <a:t>iCV.Domain</a:t>
              </a:r>
            </a:p>
          </p:txBody>
        </p:sp>
        <p:sp>
          <p:nvSpPr>
            <p:cNvPr name="TextBox 89" id="89"/>
            <p:cNvSpPr txBox="true"/>
            <p:nvPr/>
          </p:nvSpPr>
          <p:spPr>
            <a:xfrm rot="-5400000">
              <a:off x="9044627" y="4018734"/>
              <a:ext cx="1916310" cy="490559"/>
            </a:xfrm>
            <a:prstGeom prst="rect">
              <a:avLst/>
            </a:prstGeom>
          </p:spPr>
          <p:txBody>
            <a:bodyPr anchor="t" rtlCol="false" tIns="0" lIns="0" bIns="0" rIns="0">
              <a:spAutoFit/>
            </a:bodyPr>
            <a:lstStyle/>
            <a:p>
              <a:pPr algn="ctr">
                <a:lnSpc>
                  <a:spcPts val="3150"/>
                </a:lnSpc>
                <a:spcBef>
                  <a:spcPct val="0"/>
                </a:spcBef>
              </a:pPr>
              <a:r>
                <a:rPr lang="en-US" sz="2250">
                  <a:solidFill>
                    <a:srgbClr val="01BEE0"/>
                  </a:solidFill>
                  <a:latin typeface="Open Sans"/>
                  <a:ea typeface="Open Sans"/>
                  <a:cs typeface="Open Sans"/>
                  <a:sym typeface="Open Sans"/>
                </a:rPr>
                <a:t>iCV.API</a:t>
              </a:r>
            </a:p>
          </p:txBody>
        </p:sp>
        <p:sp>
          <p:nvSpPr>
            <p:cNvPr name="TextBox 90" id="90"/>
            <p:cNvSpPr txBox="true"/>
            <p:nvPr/>
          </p:nvSpPr>
          <p:spPr>
            <a:xfrm rot="0">
              <a:off x="7384667" y="3055817"/>
              <a:ext cx="531243" cy="490559"/>
            </a:xfrm>
            <a:prstGeom prst="rect">
              <a:avLst/>
            </a:prstGeom>
          </p:spPr>
          <p:txBody>
            <a:bodyPr anchor="t" rtlCol="false" tIns="0" lIns="0" bIns="0" rIns="0">
              <a:spAutoFit/>
            </a:bodyPr>
            <a:lstStyle/>
            <a:p>
              <a:pPr algn="ctr">
                <a:lnSpc>
                  <a:spcPts val="3150"/>
                </a:lnSpc>
                <a:spcBef>
                  <a:spcPct val="0"/>
                </a:spcBef>
              </a:pPr>
              <a:r>
                <a:rPr lang="en-US" sz="2250">
                  <a:solidFill>
                    <a:srgbClr val="3986AB"/>
                  </a:solidFill>
                  <a:latin typeface="Open Sans"/>
                  <a:ea typeface="Open Sans"/>
                  <a:cs typeface="Open Sans"/>
                  <a:sym typeface="Open Sans"/>
                </a:rPr>
                <a:t>(3)</a:t>
              </a:r>
            </a:p>
          </p:txBody>
        </p:sp>
      </p:grpSp>
    </p:spTree>
  </p:cSld>
  <p:clrMapOvr>
    <a:masterClrMapping/>
  </p:clrMapOvr>
  <p:transition spd="fast">
    <p:fade/>
  </p:transition>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705967" y="9253538"/>
            <a:ext cx="16872456" cy="4762"/>
          </a:xfrm>
          <a:prstGeom prst="line">
            <a:avLst/>
          </a:prstGeom>
          <a:ln cap="rnd" w="19050">
            <a:solidFill>
              <a:srgbClr val="4BADD6"/>
            </a:solidFill>
            <a:prstDash val="solid"/>
            <a:headEnd type="none" len="sm" w="sm"/>
            <a:tailEnd type="none" len="sm" w="sm"/>
          </a:ln>
        </p:spPr>
      </p:sp>
      <p:sp>
        <p:nvSpPr>
          <p:cNvPr name="AutoShape 3" id="3"/>
          <p:cNvSpPr/>
          <p:nvPr/>
        </p:nvSpPr>
        <p:spPr>
          <a:xfrm flipH="true">
            <a:off x="763112" y="716667"/>
            <a:ext cx="0" cy="771525"/>
          </a:xfrm>
          <a:prstGeom prst="line">
            <a:avLst/>
          </a:prstGeom>
          <a:ln cap="rnd" w="114300">
            <a:solidFill>
              <a:srgbClr val="075985">
                <a:alpha val="46667"/>
              </a:srgbClr>
            </a:solidFill>
            <a:prstDash val="solid"/>
            <a:headEnd type="none" len="sm" w="sm"/>
            <a:tailEnd type="none" len="sm" w="sm"/>
          </a:ln>
        </p:spPr>
      </p:sp>
      <p:sp>
        <p:nvSpPr>
          <p:cNvPr name="Freeform 4" id="4"/>
          <p:cNvSpPr/>
          <p:nvPr/>
        </p:nvSpPr>
        <p:spPr>
          <a:xfrm flipH="false" flipV="false" rot="0">
            <a:off x="16713285" y="707142"/>
            <a:ext cx="865138" cy="854186"/>
          </a:xfrm>
          <a:custGeom>
            <a:avLst/>
            <a:gdLst/>
            <a:ahLst/>
            <a:cxnLst/>
            <a:rect r="r" b="b" t="t" l="l"/>
            <a:pathLst>
              <a:path h="854186" w="865138">
                <a:moveTo>
                  <a:pt x="0" y="0"/>
                </a:moveTo>
                <a:lnTo>
                  <a:pt x="865138" y="0"/>
                </a:lnTo>
                <a:lnTo>
                  <a:pt x="865138" y="854186"/>
                </a:lnTo>
                <a:lnTo>
                  <a:pt x="0" y="854186"/>
                </a:lnTo>
                <a:lnTo>
                  <a:pt x="0" y="0"/>
                </a:lnTo>
                <a:close/>
              </a:path>
            </a:pathLst>
          </a:custGeom>
          <a:blipFill>
            <a:blip r:embed="rId2"/>
            <a:stretch>
              <a:fillRect l="0" t="0" r="0" b="0"/>
            </a:stretch>
          </a:blipFill>
        </p:spPr>
      </p:sp>
      <p:grpSp>
        <p:nvGrpSpPr>
          <p:cNvPr name="Group 5" id="5"/>
          <p:cNvGrpSpPr/>
          <p:nvPr/>
        </p:nvGrpSpPr>
        <p:grpSpPr>
          <a:xfrm rot="0">
            <a:off x="3321376" y="1516767"/>
            <a:ext cx="11645249" cy="7482219"/>
            <a:chOff x="0" y="0"/>
            <a:chExt cx="15526998" cy="9976293"/>
          </a:xfrm>
        </p:grpSpPr>
        <p:sp>
          <p:nvSpPr>
            <p:cNvPr name="Freeform 6" id="6"/>
            <p:cNvSpPr/>
            <p:nvPr/>
          </p:nvSpPr>
          <p:spPr>
            <a:xfrm flipH="false" flipV="false" rot="0">
              <a:off x="0" y="58422"/>
              <a:ext cx="15526998" cy="9917870"/>
            </a:xfrm>
            <a:custGeom>
              <a:avLst/>
              <a:gdLst/>
              <a:ahLst/>
              <a:cxnLst/>
              <a:rect r="r" b="b" t="t" l="l"/>
              <a:pathLst>
                <a:path h="9917870" w="15526998">
                  <a:moveTo>
                    <a:pt x="0" y="0"/>
                  </a:moveTo>
                  <a:lnTo>
                    <a:pt x="15526998" y="0"/>
                  </a:lnTo>
                  <a:lnTo>
                    <a:pt x="15526998" y="9917871"/>
                  </a:lnTo>
                  <a:lnTo>
                    <a:pt x="0" y="9917871"/>
                  </a:lnTo>
                  <a:lnTo>
                    <a:pt x="0" y="0"/>
                  </a:lnTo>
                  <a:close/>
                </a:path>
              </a:pathLst>
            </a:custGeom>
            <a:blipFill>
              <a:blip r:embed="rId3"/>
              <a:stretch>
                <a:fillRect l="0" t="0" r="0" b="0"/>
              </a:stretch>
            </a:blipFill>
          </p:spPr>
        </p:sp>
        <p:sp>
          <p:nvSpPr>
            <p:cNvPr name="AutoShape 7" id="7"/>
            <p:cNvSpPr/>
            <p:nvPr/>
          </p:nvSpPr>
          <p:spPr>
            <a:xfrm flipV="true">
              <a:off x="3466080" y="3012843"/>
              <a:ext cx="1065099" cy="125745"/>
            </a:xfrm>
            <a:prstGeom prst="line">
              <a:avLst/>
            </a:prstGeom>
            <a:ln cap="flat" w="25400">
              <a:solidFill>
                <a:srgbClr val="4BADD6"/>
              </a:solidFill>
              <a:prstDash val="solid"/>
              <a:headEnd type="none" len="sm" w="sm"/>
              <a:tailEnd type="none" len="sm" w="sm"/>
            </a:ln>
          </p:spPr>
        </p:sp>
        <p:sp>
          <p:nvSpPr>
            <p:cNvPr name="AutoShape 8" id="8"/>
            <p:cNvSpPr/>
            <p:nvPr/>
          </p:nvSpPr>
          <p:spPr>
            <a:xfrm>
              <a:off x="7950235" y="7233741"/>
              <a:ext cx="831202" cy="375697"/>
            </a:xfrm>
            <a:prstGeom prst="line">
              <a:avLst/>
            </a:prstGeom>
            <a:ln cap="flat" w="25400">
              <a:solidFill>
                <a:srgbClr val="4BADD6"/>
              </a:solidFill>
              <a:prstDash val="solid"/>
              <a:headEnd type="none" len="sm" w="sm"/>
              <a:tailEnd type="none" len="sm" w="sm"/>
            </a:ln>
          </p:spPr>
        </p:sp>
        <p:sp>
          <p:nvSpPr>
            <p:cNvPr name="AutoShape 9" id="9"/>
            <p:cNvSpPr/>
            <p:nvPr/>
          </p:nvSpPr>
          <p:spPr>
            <a:xfrm flipH="true">
              <a:off x="3700834" y="8137977"/>
              <a:ext cx="775381" cy="0"/>
            </a:xfrm>
            <a:prstGeom prst="line">
              <a:avLst/>
            </a:prstGeom>
            <a:ln cap="flat" w="25400">
              <a:solidFill>
                <a:srgbClr val="4BADD6"/>
              </a:solidFill>
              <a:prstDash val="solid"/>
              <a:headEnd type="none" len="sm" w="sm"/>
              <a:tailEnd type="none" len="sm" w="sm"/>
            </a:ln>
          </p:spPr>
        </p:sp>
        <p:sp>
          <p:nvSpPr>
            <p:cNvPr name="AutoShape 10" id="10"/>
            <p:cNvSpPr/>
            <p:nvPr/>
          </p:nvSpPr>
          <p:spPr>
            <a:xfrm>
              <a:off x="3317148" y="759491"/>
              <a:ext cx="1159066" cy="4584013"/>
            </a:xfrm>
            <a:prstGeom prst="line">
              <a:avLst/>
            </a:prstGeom>
            <a:ln cap="flat" w="25400">
              <a:solidFill>
                <a:srgbClr val="4BADD6"/>
              </a:solidFill>
              <a:prstDash val="solid"/>
              <a:headEnd type="none" len="sm" w="sm"/>
              <a:tailEnd type="none" len="sm" w="sm"/>
            </a:ln>
          </p:spPr>
        </p:sp>
        <p:sp>
          <p:nvSpPr>
            <p:cNvPr name="AutoShape 11" id="11"/>
            <p:cNvSpPr/>
            <p:nvPr/>
          </p:nvSpPr>
          <p:spPr>
            <a:xfrm flipH="true">
              <a:off x="7950235" y="479067"/>
              <a:ext cx="737246" cy="4469470"/>
            </a:xfrm>
            <a:prstGeom prst="line">
              <a:avLst/>
            </a:prstGeom>
            <a:ln cap="flat" w="25400">
              <a:solidFill>
                <a:srgbClr val="4BADD6"/>
              </a:solidFill>
              <a:prstDash val="solid"/>
              <a:headEnd type="none" len="sm" w="sm"/>
              <a:tailEnd type="none" len="sm" w="sm"/>
            </a:ln>
          </p:spPr>
        </p:sp>
        <p:sp>
          <p:nvSpPr>
            <p:cNvPr name="AutoShape 12" id="12"/>
            <p:cNvSpPr/>
            <p:nvPr/>
          </p:nvSpPr>
          <p:spPr>
            <a:xfrm flipV="true">
              <a:off x="7950235" y="6090709"/>
              <a:ext cx="779142" cy="197684"/>
            </a:xfrm>
            <a:prstGeom prst="line">
              <a:avLst/>
            </a:prstGeom>
            <a:ln cap="flat" w="25400">
              <a:solidFill>
                <a:srgbClr val="4BADD6"/>
              </a:solidFill>
              <a:prstDash val="solid"/>
              <a:headEnd type="none" len="sm" w="sm"/>
              <a:tailEnd type="none" len="sm" w="sm"/>
            </a:ln>
          </p:spPr>
        </p:sp>
        <p:sp>
          <p:nvSpPr>
            <p:cNvPr name="AutoShape 13" id="13"/>
            <p:cNvSpPr/>
            <p:nvPr/>
          </p:nvSpPr>
          <p:spPr>
            <a:xfrm flipV="true">
              <a:off x="7950235" y="3707321"/>
              <a:ext cx="4251369" cy="2126587"/>
            </a:xfrm>
            <a:prstGeom prst="line">
              <a:avLst/>
            </a:prstGeom>
            <a:ln cap="flat" w="25400">
              <a:solidFill>
                <a:srgbClr val="4BADD6"/>
              </a:solidFill>
              <a:prstDash val="solid"/>
              <a:headEnd type="none" len="sm" w="sm"/>
              <a:tailEnd type="none" len="sm" w="sm"/>
            </a:ln>
          </p:spPr>
        </p:sp>
        <p:sp>
          <p:nvSpPr>
            <p:cNvPr name="AutoShape 14" id="14"/>
            <p:cNvSpPr/>
            <p:nvPr/>
          </p:nvSpPr>
          <p:spPr>
            <a:xfrm>
              <a:off x="7950235" y="6845343"/>
              <a:ext cx="4419196" cy="1060249"/>
            </a:xfrm>
            <a:prstGeom prst="line">
              <a:avLst/>
            </a:prstGeom>
            <a:ln cap="flat" w="25400">
              <a:solidFill>
                <a:srgbClr val="4BADD6"/>
              </a:solidFill>
              <a:prstDash val="solid"/>
              <a:headEnd type="none" len="sm" w="sm"/>
              <a:tailEnd type="none" len="sm" w="sm"/>
            </a:ln>
          </p:spPr>
        </p:sp>
        <p:sp>
          <p:nvSpPr>
            <p:cNvPr name="AutoShape 15" id="15"/>
            <p:cNvSpPr/>
            <p:nvPr/>
          </p:nvSpPr>
          <p:spPr>
            <a:xfrm flipV="true">
              <a:off x="7950235" y="555959"/>
              <a:ext cx="3981204" cy="8115166"/>
            </a:xfrm>
            <a:prstGeom prst="line">
              <a:avLst/>
            </a:prstGeom>
            <a:ln cap="flat" w="25400">
              <a:solidFill>
                <a:srgbClr val="4BADD6"/>
              </a:solidFill>
              <a:prstDash val="solid"/>
              <a:headEnd type="none" len="sm" w="sm"/>
              <a:tailEnd type="none" len="sm" w="sm"/>
            </a:ln>
          </p:spPr>
        </p:sp>
        <p:grpSp>
          <p:nvGrpSpPr>
            <p:cNvPr name="Group 16" id="16"/>
            <p:cNvGrpSpPr/>
            <p:nvPr/>
          </p:nvGrpSpPr>
          <p:grpSpPr>
            <a:xfrm rot="0">
              <a:off x="3995233" y="0"/>
              <a:ext cx="3955002" cy="1722422"/>
              <a:chOff x="0" y="0"/>
              <a:chExt cx="781235" cy="340232"/>
            </a:xfrm>
          </p:grpSpPr>
          <p:sp>
            <p:nvSpPr>
              <p:cNvPr name="Freeform 17" id="17"/>
              <p:cNvSpPr/>
              <p:nvPr/>
            </p:nvSpPr>
            <p:spPr>
              <a:xfrm flipH="false" flipV="false" rot="0">
                <a:off x="0" y="0"/>
                <a:ext cx="781235" cy="340232"/>
              </a:xfrm>
              <a:custGeom>
                <a:avLst/>
                <a:gdLst/>
                <a:ahLst/>
                <a:cxnLst/>
                <a:rect r="r" b="b" t="t" l="l"/>
                <a:pathLst>
                  <a:path h="340232" w="781235">
                    <a:moveTo>
                      <a:pt x="0" y="0"/>
                    </a:moveTo>
                    <a:lnTo>
                      <a:pt x="781235" y="0"/>
                    </a:lnTo>
                    <a:lnTo>
                      <a:pt x="781235" y="340232"/>
                    </a:lnTo>
                    <a:lnTo>
                      <a:pt x="0" y="340232"/>
                    </a:lnTo>
                    <a:close/>
                  </a:path>
                </a:pathLst>
              </a:custGeom>
              <a:solidFill>
                <a:srgbClr val="FFFFFF"/>
              </a:solidFill>
            </p:spPr>
          </p:sp>
          <p:sp>
            <p:nvSpPr>
              <p:cNvPr name="TextBox 18" id="18"/>
              <p:cNvSpPr txBox="true"/>
              <p:nvPr/>
            </p:nvSpPr>
            <p:spPr>
              <a:xfrm>
                <a:off x="0" y="-38100"/>
                <a:ext cx="781235" cy="378332"/>
              </a:xfrm>
              <a:prstGeom prst="rect">
                <a:avLst/>
              </a:prstGeom>
            </p:spPr>
            <p:txBody>
              <a:bodyPr anchor="ctr" rtlCol="false" tIns="50800" lIns="50800" bIns="50800" rIns="50800"/>
              <a:lstStyle/>
              <a:p>
                <a:pPr algn="ctr">
                  <a:lnSpc>
                    <a:spcPts val="3150"/>
                  </a:lnSpc>
                </a:pPr>
              </a:p>
            </p:txBody>
          </p:sp>
        </p:grpSp>
      </p:grpSp>
      <p:sp>
        <p:nvSpPr>
          <p:cNvPr name="TextBox 19" id="19"/>
          <p:cNvSpPr txBox="true"/>
          <p:nvPr/>
        </p:nvSpPr>
        <p:spPr>
          <a:xfrm rot="0">
            <a:off x="763112" y="9369641"/>
            <a:ext cx="12119638" cy="409575"/>
          </a:xfrm>
          <a:prstGeom prst="rect">
            <a:avLst/>
          </a:prstGeom>
        </p:spPr>
        <p:txBody>
          <a:bodyPr anchor="t" rtlCol="false" tIns="0" lIns="0" bIns="0" rIns="0">
            <a:spAutoFit/>
          </a:bodyPr>
          <a:lstStyle/>
          <a:p>
            <a:pPr algn="l" marL="0" indent="0" lvl="0">
              <a:lnSpc>
                <a:spcPts val="3120"/>
              </a:lnSpc>
              <a:spcBef>
                <a:spcPct val="0"/>
              </a:spcBef>
            </a:pPr>
            <a:r>
              <a:rPr lang="en-US" b="true" sz="2600" spc="72" strike="noStrike" u="none">
                <a:solidFill>
                  <a:srgbClr val="00618A"/>
                </a:solidFill>
                <a:latin typeface="Arimo Bold"/>
                <a:ea typeface="Arimo Bold"/>
                <a:cs typeface="Arimo Bold"/>
                <a:sym typeface="Arimo Bold"/>
              </a:rPr>
              <a:t>XÂY DỰNG HỆ THỐNG TẠO VÀ ĐÁNH GIÁ</a:t>
            </a:r>
            <a:r>
              <a:rPr lang="en-US" b="true" sz="2600" spc="72" strike="noStrike" u="none">
                <a:solidFill>
                  <a:srgbClr val="00618A"/>
                </a:solidFill>
                <a:latin typeface="Arimo Bold"/>
                <a:ea typeface="Arimo Bold"/>
                <a:cs typeface="Arimo Bold"/>
                <a:sym typeface="Arimo Bold"/>
              </a:rPr>
              <a:t> HỒ SƠ XIN VIỆC TÍCH HỢP AI</a:t>
            </a:r>
          </a:p>
        </p:txBody>
      </p:sp>
      <p:sp>
        <p:nvSpPr>
          <p:cNvPr name="TextBox 20" id="20"/>
          <p:cNvSpPr txBox="true"/>
          <p:nvPr/>
        </p:nvSpPr>
        <p:spPr>
          <a:xfrm rot="0">
            <a:off x="16976359" y="9369641"/>
            <a:ext cx="528883" cy="409575"/>
          </a:xfrm>
          <a:prstGeom prst="rect">
            <a:avLst/>
          </a:prstGeom>
        </p:spPr>
        <p:txBody>
          <a:bodyPr anchor="t" rtlCol="false" tIns="0" lIns="0" bIns="0" rIns="0">
            <a:spAutoFit/>
          </a:bodyPr>
          <a:lstStyle/>
          <a:p>
            <a:pPr algn="r" marL="0" indent="0" lvl="0">
              <a:lnSpc>
                <a:spcPts val="3120"/>
              </a:lnSpc>
              <a:spcBef>
                <a:spcPct val="0"/>
              </a:spcBef>
            </a:pPr>
            <a:r>
              <a:rPr lang="en-US" b="true" sz="2600" spc="72">
                <a:solidFill>
                  <a:srgbClr val="00618A"/>
                </a:solidFill>
                <a:latin typeface="Arimo Bold"/>
                <a:ea typeface="Arimo Bold"/>
                <a:cs typeface="Arimo Bold"/>
                <a:sym typeface="Arimo Bold"/>
              </a:rPr>
              <a:t>15</a:t>
            </a:r>
          </a:p>
        </p:txBody>
      </p:sp>
      <p:sp>
        <p:nvSpPr>
          <p:cNvPr name="TextBox 21" id="21"/>
          <p:cNvSpPr txBox="true"/>
          <p:nvPr/>
        </p:nvSpPr>
        <p:spPr>
          <a:xfrm rot="0">
            <a:off x="1041536" y="688092"/>
            <a:ext cx="4828383" cy="438150"/>
          </a:xfrm>
          <a:prstGeom prst="rect">
            <a:avLst/>
          </a:prstGeom>
        </p:spPr>
        <p:txBody>
          <a:bodyPr anchor="t" rtlCol="false" tIns="0" lIns="0" bIns="0" rIns="0">
            <a:spAutoFit/>
          </a:bodyPr>
          <a:lstStyle/>
          <a:p>
            <a:pPr algn="l" marL="0" indent="0" lvl="0">
              <a:lnSpc>
                <a:spcPts val="3359"/>
              </a:lnSpc>
              <a:spcBef>
                <a:spcPct val="0"/>
              </a:spcBef>
            </a:pPr>
            <a:r>
              <a:rPr lang="en-US" sz="2799" i="true" spc="77">
                <a:solidFill>
                  <a:srgbClr val="00618A"/>
                </a:solidFill>
                <a:latin typeface="Arimo Italics"/>
                <a:ea typeface="Arimo Italics"/>
                <a:cs typeface="Arimo Italics"/>
                <a:sym typeface="Arimo Italics"/>
              </a:rPr>
              <a:t>3. Hiện thực hoá nghiên cứu</a:t>
            </a:r>
          </a:p>
        </p:txBody>
      </p:sp>
      <p:sp>
        <p:nvSpPr>
          <p:cNvPr name="TextBox 22" id="22"/>
          <p:cNvSpPr txBox="true"/>
          <p:nvPr/>
        </p:nvSpPr>
        <p:spPr>
          <a:xfrm rot="0">
            <a:off x="1041536" y="1078617"/>
            <a:ext cx="6067738" cy="438150"/>
          </a:xfrm>
          <a:prstGeom prst="rect">
            <a:avLst/>
          </a:prstGeom>
        </p:spPr>
        <p:txBody>
          <a:bodyPr anchor="t" rtlCol="false" tIns="0" lIns="0" bIns="0" rIns="0">
            <a:spAutoFit/>
          </a:bodyPr>
          <a:lstStyle/>
          <a:p>
            <a:pPr algn="l" marL="0" indent="0" lvl="0">
              <a:lnSpc>
                <a:spcPts val="3359"/>
              </a:lnSpc>
              <a:spcBef>
                <a:spcPct val="0"/>
              </a:spcBef>
            </a:pPr>
            <a:r>
              <a:rPr lang="en-US" b="true" sz="2799" spc="77">
                <a:solidFill>
                  <a:srgbClr val="00618A"/>
                </a:solidFill>
                <a:latin typeface="Arimo Bold"/>
                <a:ea typeface="Arimo Bold"/>
                <a:cs typeface="Arimo Bold"/>
                <a:sym typeface="Arimo Bold"/>
              </a:rPr>
              <a:t>Lượt đồ cơ sở dữ liệu</a:t>
            </a:r>
          </a:p>
        </p:txBody>
      </p:sp>
    </p:spTree>
  </p:cSld>
  <p:clrMapOvr>
    <a:masterClrMapping/>
  </p:clrMapOvr>
  <p:transition spd="fast">
    <p:fade/>
  </p:transition>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705967" y="9253538"/>
            <a:ext cx="16872456" cy="4762"/>
          </a:xfrm>
          <a:prstGeom prst="line">
            <a:avLst/>
          </a:prstGeom>
          <a:ln cap="rnd" w="19050">
            <a:solidFill>
              <a:srgbClr val="4BADD6"/>
            </a:solidFill>
            <a:prstDash val="solid"/>
            <a:headEnd type="none" len="sm" w="sm"/>
            <a:tailEnd type="none" len="sm" w="sm"/>
          </a:ln>
        </p:spPr>
      </p:sp>
      <p:sp>
        <p:nvSpPr>
          <p:cNvPr name="AutoShape 3" id="3"/>
          <p:cNvSpPr/>
          <p:nvPr/>
        </p:nvSpPr>
        <p:spPr>
          <a:xfrm flipH="true">
            <a:off x="763112" y="716667"/>
            <a:ext cx="0" cy="771525"/>
          </a:xfrm>
          <a:prstGeom prst="line">
            <a:avLst/>
          </a:prstGeom>
          <a:ln cap="rnd" w="114300">
            <a:solidFill>
              <a:srgbClr val="075985">
                <a:alpha val="46667"/>
              </a:srgbClr>
            </a:solidFill>
            <a:prstDash val="solid"/>
            <a:headEnd type="none" len="sm" w="sm"/>
            <a:tailEnd type="none" len="sm" w="sm"/>
          </a:ln>
        </p:spPr>
      </p:sp>
      <p:sp>
        <p:nvSpPr>
          <p:cNvPr name="Freeform 4" id="4"/>
          <p:cNvSpPr/>
          <p:nvPr/>
        </p:nvSpPr>
        <p:spPr>
          <a:xfrm flipH="false" flipV="false" rot="0">
            <a:off x="16713285" y="707142"/>
            <a:ext cx="865138" cy="854186"/>
          </a:xfrm>
          <a:custGeom>
            <a:avLst/>
            <a:gdLst/>
            <a:ahLst/>
            <a:cxnLst/>
            <a:rect r="r" b="b" t="t" l="l"/>
            <a:pathLst>
              <a:path h="854186" w="865138">
                <a:moveTo>
                  <a:pt x="0" y="0"/>
                </a:moveTo>
                <a:lnTo>
                  <a:pt x="865138" y="0"/>
                </a:lnTo>
                <a:lnTo>
                  <a:pt x="865138" y="854186"/>
                </a:lnTo>
                <a:lnTo>
                  <a:pt x="0" y="854186"/>
                </a:lnTo>
                <a:lnTo>
                  <a:pt x="0" y="0"/>
                </a:lnTo>
                <a:close/>
              </a:path>
            </a:pathLst>
          </a:custGeom>
          <a:blipFill>
            <a:blip r:embed="rId3"/>
            <a:stretch>
              <a:fillRect l="0" t="0" r="0" b="0"/>
            </a:stretch>
          </a:blipFill>
        </p:spPr>
      </p:sp>
      <p:sp>
        <p:nvSpPr>
          <p:cNvPr name="Freeform 5" id="5"/>
          <p:cNvSpPr/>
          <p:nvPr/>
        </p:nvSpPr>
        <p:spPr>
          <a:xfrm flipH="false" flipV="false" rot="0">
            <a:off x="3543073" y="1727411"/>
            <a:ext cx="11201853" cy="7001158"/>
          </a:xfrm>
          <a:custGeom>
            <a:avLst/>
            <a:gdLst/>
            <a:ahLst/>
            <a:cxnLst/>
            <a:rect r="r" b="b" t="t" l="l"/>
            <a:pathLst>
              <a:path h="7001158" w="11201853">
                <a:moveTo>
                  <a:pt x="0" y="0"/>
                </a:moveTo>
                <a:lnTo>
                  <a:pt x="11201854" y="0"/>
                </a:lnTo>
                <a:lnTo>
                  <a:pt x="11201854" y="7001158"/>
                </a:lnTo>
                <a:lnTo>
                  <a:pt x="0" y="7001158"/>
                </a:lnTo>
                <a:lnTo>
                  <a:pt x="0" y="0"/>
                </a:lnTo>
                <a:close/>
              </a:path>
            </a:pathLst>
          </a:custGeom>
          <a:blipFill>
            <a:blip r:embed="rId4"/>
            <a:stretch>
              <a:fillRect l="0" t="0" r="0" b="0"/>
            </a:stretch>
          </a:blipFill>
        </p:spPr>
      </p:sp>
      <p:sp>
        <p:nvSpPr>
          <p:cNvPr name="TextBox 6" id="6"/>
          <p:cNvSpPr txBox="true"/>
          <p:nvPr/>
        </p:nvSpPr>
        <p:spPr>
          <a:xfrm rot="0">
            <a:off x="763112" y="9369641"/>
            <a:ext cx="12119638" cy="409575"/>
          </a:xfrm>
          <a:prstGeom prst="rect">
            <a:avLst/>
          </a:prstGeom>
        </p:spPr>
        <p:txBody>
          <a:bodyPr anchor="t" rtlCol="false" tIns="0" lIns="0" bIns="0" rIns="0">
            <a:spAutoFit/>
          </a:bodyPr>
          <a:lstStyle/>
          <a:p>
            <a:pPr algn="l" marL="0" indent="0" lvl="0">
              <a:lnSpc>
                <a:spcPts val="3120"/>
              </a:lnSpc>
              <a:spcBef>
                <a:spcPct val="0"/>
              </a:spcBef>
            </a:pPr>
            <a:r>
              <a:rPr lang="en-US" b="true" sz="2600" spc="72" strike="noStrike" u="none">
                <a:solidFill>
                  <a:srgbClr val="00618A"/>
                </a:solidFill>
                <a:latin typeface="Arimo Bold"/>
                <a:ea typeface="Arimo Bold"/>
                <a:cs typeface="Arimo Bold"/>
                <a:sym typeface="Arimo Bold"/>
              </a:rPr>
              <a:t>XÂY DỰNG HỆ THỐNG TẠO VÀ ĐÁNH GIÁ</a:t>
            </a:r>
            <a:r>
              <a:rPr lang="en-US" b="true" sz="2600" spc="72" strike="noStrike" u="none">
                <a:solidFill>
                  <a:srgbClr val="00618A"/>
                </a:solidFill>
                <a:latin typeface="Arimo Bold"/>
                <a:ea typeface="Arimo Bold"/>
                <a:cs typeface="Arimo Bold"/>
                <a:sym typeface="Arimo Bold"/>
              </a:rPr>
              <a:t> HỒ SƠ XIN VIỆC TÍCH HỢP AI</a:t>
            </a:r>
          </a:p>
        </p:txBody>
      </p:sp>
      <p:sp>
        <p:nvSpPr>
          <p:cNvPr name="TextBox 7" id="7"/>
          <p:cNvSpPr txBox="true"/>
          <p:nvPr/>
        </p:nvSpPr>
        <p:spPr>
          <a:xfrm rot="0">
            <a:off x="16976359" y="9369641"/>
            <a:ext cx="528883" cy="409575"/>
          </a:xfrm>
          <a:prstGeom prst="rect">
            <a:avLst/>
          </a:prstGeom>
        </p:spPr>
        <p:txBody>
          <a:bodyPr anchor="t" rtlCol="false" tIns="0" lIns="0" bIns="0" rIns="0">
            <a:spAutoFit/>
          </a:bodyPr>
          <a:lstStyle/>
          <a:p>
            <a:pPr algn="r" marL="0" indent="0" lvl="0">
              <a:lnSpc>
                <a:spcPts val="3120"/>
              </a:lnSpc>
              <a:spcBef>
                <a:spcPct val="0"/>
              </a:spcBef>
            </a:pPr>
            <a:r>
              <a:rPr lang="en-US" b="true" sz="2600" spc="72">
                <a:solidFill>
                  <a:srgbClr val="00618A"/>
                </a:solidFill>
                <a:latin typeface="Arimo Bold"/>
                <a:ea typeface="Arimo Bold"/>
                <a:cs typeface="Arimo Bold"/>
                <a:sym typeface="Arimo Bold"/>
              </a:rPr>
              <a:t>16</a:t>
            </a:r>
          </a:p>
        </p:txBody>
      </p:sp>
      <p:sp>
        <p:nvSpPr>
          <p:cNvPr name="TextBox 8" id="8"/>
          <p:cNvSpPr txBox="true"/>
          <p:nvPr/>
        </p:nvSpPr>
        <p:spPr>
          <a:xfrm rot="0">
            <a:off x="1041536" y="688092"/>
            <a:ext cx="4828383" cy="438150"/>
          </a:xfrm>
          <a:prstGeom prst="rect">
            <a:avLst/>
          </a:prstGeom>
        </p:spPr>
        <p:txBody>
          <a:bodyPr anchor="t" rtlCol="false" tIns="0" lIns="0" bIns="0" rIns="0">
            <a:spAutoFit/>
          </a:bodyPr>
          <a:lstStyle/>
          <a:p>
            <a:pPr algn="l" marL="0" indent="0" lvl="0">
              <a:lnSpc>
                <a:spcPts val="3359"/>
              </a:lnSpc>
              <a:spcBef>
                <a:spcPct val="0"/>
              </a:spcBef>
            </a:pPr>
            <a:r>
              <a:rPr lang="en-US" sz="2799" i="true" spc="77">
                <a:solidFill>
                  <a:srgbClr val="00618A"/>
                </a:solidFill>
                <a:latin typeface="Arimo Italics"/>
                <a:ea typeface="Arimo Italics"/>
                <a:cs typeface="Arimo Italics"/>
                <a:sym typeface="Arimo Italics"/>
              </a:rPr>
              <a:t>3. Hiện thực hoá nghiên cứu</a:t>
            </a:r>
          </a:p>
        </p:txBody>
      </p:sp>
      <p:sp>
        <p:nvSpPr>
          <p:cNvPr name="TextBox 9" id="9"/>
          <p:cNvSpPr txBox="true"/>
          <p:nvPr/>
        </p:nvSpPr>
        <p:spPr>
          <a:xfrm rot="0">
            <a:off x="1041536" y="1078617"/>
            <a:ext cx="6067738" cy="438150"/>
          </a:xfrm>
          <a:prstGeom prst="rect">
            <a:avLst/>
          </a:prstGeom>
        </p:spPr>
        <p:txBody>
          <a:bodyPr anchor="t" rtlCol="false" tIns="0" lIns="0" bIns="0" rIns="0">
            <a:spAutoFit/>
          </a:bodyPr>
          <a:lstStyle/>
          <a:p>
            <a:pPr algn="l" marL="0" indent="0" lvl="0">
              <a:lnSpc>
                <a:spcPts val="3359"/>
              </a:lnSpc>
              <a:spcBef>
                <a:spcPct val="0"/>
              </a:spcBef>
            </a:pPr>
            <a:r>
              <a:rPr lang="en-US" b="true" sz="2799" spc="77">
                <a:solidFill>
                  <a:srgbClr val="00618A"/>
                </a:solidFill>
                <a:latin typeface="Arimo Bold"/>
                <a:ea typeface="Arimo Bold"/>
                <a:cs typeface="Arimo Bold"/>
                <a:sym typeface="Arimo Bold"/>
              </a:rPr>
              <a:t>Sơ đồ use-case</a:t>
            </a:r>
          </a:p>
        </p:txBody>
      </p:sp>
    </p:spTree>
  </p:cSld>
  <p:clrMapOvr>
    <a:masterClrMapping/>
  </p:clrMapOvr>
  <p:transition spd="fast">
    <p:fade/>
  </p:transition>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604641" y="4371975"/>
            <a:ext cx="9078719" cy="1533525"/>
          </a:xfrm>
          <a:prstGeom prst="rect">
            <a:avLst/>
          </a:prstGeom>
        </p:spPr>
        <p:txBody>
          <a:bodyPr anchor="t" rtlCol="false" tIns="0" lIns="0" bIns="0" rIns="0">
            <a:spAutoFit/>
          </a:bodyPr>
          <a:lstStyle/>
          <a:p>
            <a:pPr algn="ctr">
              <a:lnSpc>
                <a:spcPts val="6000"/>
              </a:lnSpc>
            </a:pPr>
            <a:r>
              <a:rPr lang="en-US" b="true" sz="5000" spc="135">
                <a:solidFill>
                  <a:srgbClr val="00618A">
                    <a:alpha val="81961"/>
                  </a:srgbClr>
                </a:solidFill>
                <a:latin typeface="Open Sans Bold"/>
                <a:ea typeface="Open Sans Bold"/>
                <a:cs typeface="Open Sans Bold"/>
                <a:sym typeface="Open Sans Bold"/>
              </a:rPr>
              <a:t>4. CÀI ĐẶT HỆ THỐNG </a:t>
            </a:r>
          </a:p>
          <a:p>
            <a:pPr algn="ctr" marL="0" indent="0" lvl="0">
              <a:lnSpc>
                <a:spcPts val="6000"/>
              </a:lnSpc>
              <a:spcBef>
                <a:spcPct val="0"/>
              </a:spcBef>
            </a:pPr>
            <a:r>
              <a:rPr lang="en-US" b="true" sz="5000" spc="138">
                <a:solidFill>
                  <a:srgbClr val="00618A">
                    <a:alpha val="81961"/>
                  </a:srgbClr>
                </a:solidFill>
                <a:latin typeface="Open Sans Bold"/>
                <a:ea typeface="Open Sans Bold"/>
                <a:cs typeface="Open Sans Bold"/>
                <a:sym typeface="Open Sans Bold"/>
              </a:rPr>
              <a:t>VÀ KẾT QUẢ THỬ NGHIỆM</a:t>
            </a:r>
          </a:p>
        </p:txBody>
      </p:sp>
      <p:sp>
        <p:nvSpPr>
          <p:cNvPr name="AutoShape 3" id="3"/>
          <p:cNvSpPr/>
          <p:nvPr/>
        </p:nvSpPr>
        <p:spPr>
          <a:xfrm>
            <a:off x="1028706" y="1023938"/>
            <a:ext cx="14662846" cy="4762"/>
          </a:xfrm>
          <a:prstGeom prst="line">
            <a:avLst/>
          </a:prstGeom>
          <a:ln cap="rnd" w="19050">
            <a:solidFill>
              <a:srgbClr val="4BADD6"/>
            </a:solidFill>
            <a:prstDash val="solid"/>
            <a:headEnd type="none" len="sm" w="sm"/>
            <a:tailEnd type="none" len="sm" w="sm"/>
          </a:ln>
        </p:spPr>
      </p:sp>
      <p:sp>
        <p:nvSpPr>
          <p:cNvPr name="AutoShape 4" id="4"/>
          <p:cNvSpPr/>
          <p:nvPr/>
        </p:nvSpPr>
        <p:spPr>
          <a:xfrm>
            <a:off x="705967" y="9253538"/>
            <a:ext cx="16872456" cy="4762"/>
          </a:xfrm>
          <a:prstGeom prst="line">
            <a:avLst/>
          </a:prstGeom>
          <a:ln cap="rnd" w="19050">
            <a:solidFill>
              <a:srgbClr val="4BADD6"/>
            </a:solidFill>
            <a:prstDash val="solid"/>
            <a:headEnd type="none" len="sm" w="sm"/>
            <a:tailEnd type="none" len="sm" w="sm"/>
          </a:ln>
        </p:spPr>
      </p:sp>
      <p:sp>
        <p:nvSpPr>
          <p:cNvPr name="TextBox 5" id="5"/>
          <p:cNvSpPr txBox="true"/>
          <p:nvPr/>
        </p:nvSpPr>
        <p:spPr>
          <a:xfrm rot="0">
            <a:off x="763112" y="9369641"/>
            <a:ext cx="12119638" cy="409575"/>
          </a:xfrm>
          <a:prstGeom prst="rect">
            <a:avLst/>
          </a:prstGeom>
        </p:spPr>
        <p:txBody>
          <a:bodyPr anchor="t" rtlCol="false" tIns="0" lIns="0" bIns="0" rIns="0">
            <a:spAutoFit/>
          </a:bodyPr>
          <a:lstStyle/>
          <a:p>
            <a:pPr algn="l" marL="0" indent="0" lvl="0">
              <a:lnSpc>
                <a:spcPts val="3120"/>
              </a:lnSpc>
              <a:spcBef>
                <a:spcPct val="0"/>
              </a:spcBef>
            </a:pPr>
            <a:r>
              <a:rPr lang="en-US" b="true" sz="2600" spc="72" strike="noStrike" u="none">
                <a:solidFill>
                  <a:srgbClr val="00618A"/>
                </a:solidFill>
                <a:latin typeface="Arimo Bold"/>
                <a:ea typeface="Arimo Bold"/>
                <a:cs typeface="Arimo Bold"/>
                <a:sym typeface="Arimo Bold"/>
              </a:rPr>
              <a:t>XÂY DỰNG HỆ THỐNG TẠO VÀ ĐÁNH GIÁ</a:t>
            </a:r>
            <a:r>
              <a:rPr lang="en-US" b="true" sz="2600" spc="72" strike="noStrike" u="none">
                <a:solidFill>
                  <a:srgbClr val="00618A"/>
                </a:solidFill>
                <a:latin typeface="Arimo Bold"/>
                <a:ea typeface="Arimo Bold"/>
                <a:cs typeface="Arimo Bold"/>
                <a:sym typeface="Arimo Bold"/>
              </a:rPr>
              <a:t> HỒ SƠ XIN VIỆC TÍCH HỢP AI</a:t>
            </a:r>
          </a:p>
        </p:txBody>
      </p:sp>
      <p:sp>
        <p:nvSpPr>
          <p:cNvPr name="Freeform 6" id="6"/>
          <p:cNvSpPr/>
          <p:nvPr/>
        </p:nvSpPr>
        <p:spPr>
          <a:xfrm flipH="false" flipV="false" rot="0">
            <a:off x="16713285" y="707142"/>
            <a:ext cx="865138" cy="854186"/>
          </a:xfrm>
          <a:custGeom>
            <a:avLst/>
            <a:gdLst/>
            <a:ahLst/>
            <a:cxnLst/>
            <a:rect r="r" b="b" t="t" l="l"/>
            <a:pathLst>
              <a:path h="854186" w="865138">
                <a:moveTo>
                  <a:pt x="0" y="0"/>
                </a:moveTo>
                <a:lnTo>
                  <a:pt x="865138" y="0"/>
                </a:lnTo>
                <a:lnTo>
                  <a:pt x="865138" y="854186"/>
                </a:lnTo>
                <a:lnTo>
                  <a:pt x="0" y="854186"/>
                </a:lnTo>
                <a:lnTo>
                  <a:pt x="0" y="0"/>
                </a:lnTo>
                <a:close/>
              </a:path>
            </a:pathLst>
          </a:custGeom>
          <a:blipFill>
            <a:blip r:embed="rId2"/>
            <a:stretch>
              <a:fillRect l="0" t="0" r="0" b="0"/>
            </a:stretch>
          </a:blipFill>
        </p:spPr>
      </p:sp>
      <p:sp>
        <p:nvSpPr>
          <p:cNvPr name="TextBox 7" id="7"/>
          <p:cNvSpPr txBox="true"/>
          <p:nvPr/>
        </p:nvSpPr>
        <p:spPr>
          <a:xfrm rot="0">
            <a:off x="16976359" y="9369641"/>
            <a:ext cx="528883" cy="409575"/>
          </a:xfrm>
          <a:prstGeom prst="rect">
            <a:avLst/>
          </a:prstGeom>
        </p:spPr>
        <p:txBody>
          <a:bodyPr anchor="t" rtlCol="false" tIns="0" lIns="0" bIns="0" rIns="0">
            <a:spAutoFit/>
          </a:bodyPr>
          <a:lstStyle/>
          <a:p>
            <a:pPr algn="r" marL="0" indent="0" lvl="0">
              <a:lnSpc>
                <a:spcPts val="3120"/>
              </a:lnSpc>
              <a:spcBef>
                <a:spcPct val="0"/>
              </a:spcBef>
            </a:pPr>
            <a:r>
              <a:rPr lang="en-US" b="true" sz="2600" spc="72">
                <a:solidFill>
                  <a:srgbClr val="00618A"/>
                </a:solidFill>
                <a:latin typeface="Arimo Bold"/>
                <a:ea typeface="Arimo Bold"/>
                <a:cs typeface="Arimo Bold"/>
                <a:sym typeface="Arimo Bold"/>
              </a:rPr>
              <a:t>17</a:t>
            </a:r>
          </a:p>
        </p:txBody>
      </p:sp>
    </p:spTree>
  </p:cSld>
  <p:clrMapOvr>
    <a:masterClrMapping/>
  </p:clrMapOvr>
  <p:transition spd="fast">
    <p:fade/>
  </p:transition>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705967" y="9253538"/>
            <a:ext cx="16872456" cy="4762"/>
          </a:xfrm>
          <a:prstGeom prst="line">
            <a:avLst/>
          </a:prstGeom>
          <a:ln cap="rnd" w="19050">
            <a:solidFill>
              <a:srgbClr val="4BADD6"/>
            </a:solidFill>
            <a:prstDash val="solid"/>
            <a:headEnd type="none" len="sm" w="sm"/>
            <a:tailEnd type="none" len="sm" w="sm"/>
          </a:ln>
        </p:spPr>
      </p:sp>
      <p:sp>
        <p:nvSpPr>
          <p:cNvPr name="AutoShape 3" id="3"/>
          <p:cNvSpPr/>
          <p:nvPr/>
        </p:nvSpPr>
        <p:spPr>
          <a:xfrm flipH="true">
            <a:off x="763112" y="716667"/>
            <a:ext cx="0" cy="771525"/>
          </a:xfrm>
          <a:prstGeom prst="line">
            <a:avLst/>
          </a:prstGeom>
          <a:ln cap="rnd" w="114300">
            <a:solidFill>
              <a:srgbClr val="075985">
                <a:alpha val="46667"/>
              </a:srgbClr>
            </a:solidFill>
            <a:prstDash val="solid"/>
            <a:headEnd type="none" len="sm" w="sm"/>
            <a:tailEnd type="none" len="sm" w="sm"/>
          </a:ln>
        </p:spPr>
      </p:sp>
      <p:sp>
        <p:nvSpPr>
          <p:cNvPr name="Freeform 4" id="4"/>
          <p:cNvSpPr/>
          <p:nvPr/>
        </p:nvSpPr>
        <p:spPr>
          <a:xfrm flipH="false" flipV="false" rot="0">
            <a:off x="16713285" y="707142"/>
            <a:ext cx="865138" cy="854186"/>
          </a:xfrm>
          <a:custGeom>
            <a:avLst/>
            <a:gdLst/>
            <a:ahLst/>
            <a:cxnLst/>
            <a:rect r="r" b="b" t="t" l="l"/>
            <a:pathLst>
              <a:path h="854186" w="865138">
                <a:moveTo>
                  <a:pt x="0" y="0"/>
                </a:moveTo>
                <a:lnTo>
                  <a:pt x="865138" y="0"/>
                </a:lnTo>
                <a:lnTo>
                  <a:pt x="865138" y="854186"/>
                </a:lnTo>
                <a:lnTo>
                  <a:pt x="0" y="854186"/>
                </a:lnTo>
                <a:lnTo>
                  <a:pt x="0" y="0"/>
                </a:lnTo>
                <a:close/>
              </a:path>
            </a:pathLst>
          </a:custGeom>
          <a:blipFill>
            <a:blip r:embed="rId2"/>
            <a:stretch>
              <a:fillRect l="0" t="0" r="0" b="0"/>
            </a:stretch>
          </a:blipFill>
        </p:spPr>
      </p:sp>
      <p:graphicFrame>
        <p:nvGraphicFramePr>
          <p:cNvPr name="Table 5" id="5"/>
          <p:cNvGraphicFramePr>
            <a:graphicFrameLocks noGrp="true"/>
          </p:cNvGraphicFramePr>
          <p:nvPr/>
        </p:nvGraphicFramePr>
        <p:xfrm>
          <a:off x="705967" y="2130027"/>
          <a:ext cx="16799275" cy="6545287"/>
        </p:xfrm>
        <a:graphic>
          <a:graphicData uri="http://schemas.openxmlformats.org/drawingml/2006/table">
            <a:tbl>
              <a:tblPr/>
              <a:tblGrid>
                <a:gridCol w="1092000"/>
                <a:gridCol w="2608920"/>
                <a:gridCol w="4416757"/>
                <a:gridCol w="8681597"/>
              </a:tblGrid>
              <a:tr h="939795">
                <a:tc>
                  <a:txBody>
                    <a:bodyPr anchor="t" rtlCol="false"/>
                    <a:lstStyle/>
                    <a:p>
                      <a:pPr algn="ctr">
                        <a:lnSpc>
                          <a:spcPts val="3359"/>
                        </a:lnSpc>
                        <a:defRPr/>
                      </a:pPr>
                      <a:r>
                        <a:rPr lang="en-US" sz="2400">
                          <a:solidFill>
                            <a:srgbClr val="FFFFFF"/>
                          </a:solidFill>
                          <a:latin typeface="Open Sans"/>
                          <a:ea typeface="Open Sans"/>
                          <a:cs typeface="Open Sans"/>
                          <a:sym typeface="Open Sans"/>
                        </a:rPr>
                        <a:t>#</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2FA9DC"/>
                    </a:solidFill>
                  </a:tcPr>
                </a:tc>
                <a:tc>
                  <a:txBody>
                    <a:bodyPr anchor="t" rtlCol="false"/>
                    <a:lstStyle/>
                    <a:p>
                      <a:pPr algn="ctr">
                        <a:lnSpc>
                          <a:spcPts val="3359"/>
                        </a:lnSpc>
                        <a:defRPr/>
                      </a:pPr>
                      <a:r>
                        <a:rPr lang="en-US" b="true" sz="2400">
                          <a:solidFill>
                            <a:srgbClr val="FFFFFF"/>
                          </a:solidFill>
                          <a:latin typeface="Open Sans Bold"/>
                          <a:ea typeface="Open Sans Bold"/>
                          <a:cs typeface="Open Sans Bold"/>
                          <a:sym typeface="Open Sans Bold"/>
                        </a:rPr>
                        <a:t>Module</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2FA9DC"/>
                    </a:solidFill>
                  </a:tcPr>
                </a:tc>
                <a:tc>
                  <a:txBody>
                    <a:bodyPr anchor="t" rtlCol="false"/>
                    <a:lstStyle/>
                    <a:p>
                      <a:pPr algn="ctr">
                        <a:lnSpc>
                          <a:spcPts val="3359"/>
                        </a:lnSpc>
                        <a:defRPr/>
                      </a:pPr>
                      <a:r>
                        <a:rPr lang="en-US" b="true" sz="2400">
                          <a:solidFill>
                            <a:srgbClr val="FFFFFF"/>
                          </a:solidFill>
                          <a:latin typeface="Open Sans Bold"/>
                          <a:ea typeface="Open Sans Bold"/>
                          <a:cs typeface="Open Sans Bold"/>
                          <a:sym typeface="Open Sans Bold"/>
                        </a:rPr>
                        <a:t>Công nghệ/Giải pháp</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2FA9DC"/>
                    </a:solidFill>
                  </a:tcPr>
                </a:tc>
                <a:tc>
                  <a:txBody>
                    <a:bodyPr anchor="t" rtlCol="false"/>
                    <a:lstStyle/>
                    <a:p>
                      <a:pPr algn="ctr">
                        <a:lnSpc>
                          <a:spcPts val="3359"/>
                        </a:lnSpc>
                        <a:defRPr/>
                      </a:pPr>
                      <a:r>
                        <a:rPr lang="en-US" b="true" sz="2400">
                          <a:solidFill>
                            <a:srgbClr val="FFFFFF"/>
                          </a:solidFill>
                          <a:latin typeface="Open Sans Bold"/>
                          <a:ea typeface="Open Sans Bold"/>
                          <a:cs typeface="Open Sans Bold"/>
                          <a:sym typeface="Open Sans Bold"/>
                        </a:rPr>
                        <a:t>Diễn giải</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2FA9DC"/>
                    </a:solidFill>
                  </a:tcPr>
                </a:tc>
              </a:tr>
              <a:tr h="1306827">
                <a:tc rowSpan="4">
                  <a:txBody>
                    <a:bodyPr anchor="t" rtlCol="false"/>
                    <a:lstStyle/>
                    <a:p>
                      <a:pPr algn="ctr">
                        <a:lnSpc>
                          <a:spcPts val="3359"/>
                        </a:lnSpc>
                        <a:defRPr/>
                      </a:pPr>
                      <a:r>
                        <a:rPr lang="en-US" sz="2400">
                          <a:solidFill>
                            <a:srgbClr val="000000"/>
                          </a:solidFill>
                          <a:latin typeface="Open Sans"/>
                          <a:ea typeface="Open Sans"/>
                          <a:cs typeface="Open Sans"/>
                          <a:sym typeface="Open Sans"/>
                        </a:rPr>
                        <a:t>1</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rowSpan="4">
                  <a:txBody>
                    <a:bodyPr anchor="t" rtlCol="false"/>
                    <a:lstStyle/>
                    <a:p>
                      <a:pPr algn="ctr">
                        <a:lnSpc>
                          <a:spcPts val="3359"/>
                        </a:lnSpc>
                        <a:defRPr/>
                      </a:pPr>
                      <a:r>
                        <a:rPr lang="en-US" sz="2400">
                          <a:solidFill>
                            <a:srgbClr val="000000"/>
                          </a:solidFill>
                          <a:latin typeface="Open Sans"/>
                          <a:ea typeface="Open Sans"/>
                          <a:cs typeface="Open Sans"/>
                          <a:sym typeface="Open Sans"/>
                        </a:rPr>
                        <a:t>Front-end</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3359"/>
                        </a:lnSpc>
                        <a:defRPr/>
                      </a:pPr>
                      <a:r>
                        <a:rPr lang="en-US" sz="2400">
                          <a:solidFill>
                            <a:srgbClr val="000000"/>
                          </a:solidFill>
                          <a:latin typeface="Open Sans"/>
                          <a:ea typeface="Open Sans"/>
                          <a:cs typeface="Open Sans"/>
                          <a:sym typeface="Open Sans"/>
                        </a:rPr>
                        <a:t>Next.js</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359"/>
                        </a:lnSpc>
                        <a:defRPr/>
                      </a:pPr>
                      <a:r>
                        <a:rPr lang="en-US" sz="2400">
                          <a:solidFill>
                            <a:srgbClr val="000000"/>
                          </a:solidFill>
                          <a:latin typeface="Open Sans"/>
                          <a:ea typeface="Open Sans"/>
                          <a:cs typeface="Open Sans"/>
                          <a:sym typeface="Open Sans"/>
                        </a:rPr>
                        <a:t>Framework JavaScript tạo khung giao diện nhanh chóng và mượt mà</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1495283">
                <a:tc vMerge="true">
                  <a:txBody>
                    <a:bodyPr anchor="t" rtlCol="false"/>
                    <a:lstStyle/>
                    <a:p>
                      <a:pPr algn="ctr">
                        <a:lnSpc>
                          <a:spcPts val="3359"/>
                        </a:lnSpc>
                        <a:defRPr/>
                      </a:pPr>
                      <a:r>
                        <a:rPr lang="en-US" sz="2400">
                          <a:solidFill>
                            <a:srgbClr val="000000"/>
                          </a:solidFill>
                          <a:latin typeface="Open Sans"/>
                          <a:ea typeface="Open Sans"/>
                          <a:cs typeface="Open Sans"/>
                          <a:sym typeface="Open Sans"/>
                        </a:rPr>
                        <a:t>1</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vMerge="true">
                  <a:txBody>
                    <a:bodyPr anchor="t" rtlCol="false"/>
                    <a:lstStyle/>
                    <a:p>
                      <a:pPr algn="ctr">
                        <a:lnSpc>
                          <a:spcPts val="3359"/>
                        </a:lnSpc>
                        <a:defRPr/>
                      </a:pPr>
                      <a:r>
                        <a:rPr lang="en-US" sz="2400">
                          <a:solidFill>
                            <a:srgbClr val="000000"/>
                          </a:solidFill>
                          <a:latin typeface="Open Sans"/>
                          <a:ea typeface="Open Sans"/>
                          <a:cs typeface="Open Sans"/>
                          <a:sym typeface="Open Sans"/>
                        </a:rPr>
                        <a:t>Front-end</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3359"/>
                        </a:lnSpc>
                        <a:defRPr/>
                      </a:pPr>
                      <a:r>
                        <a:rPr lang="en-US" sz="2400">
                          <a:solidFill>
                            <a:srgbClr val="000000"/>
                          </a:solidFill>
                          <a:latin typeface="Open Sans"/>
                          <a:ea typeface="Open Sans"/>
                          <a:cs typeface="Open Sans"/>
                          <a:sym typeface="Open Sans"/>
                        </a:rPr>
                        <a:t>TypeScript</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359"/>
                        </a:lnSpc>
                        <a:defRPr/>
                      </a:pPr>
                      <a:r>
                        <a:rPr lang="en-US" sz="2400">
                          <a:solidFill>
                            <a:srgbClr val="000000"/>
                          </a:solidFill>
                          <a:latin typeface="Open Sans"/>
                          <a:ea typeface="Open Sans"/>
                          <a:cs typeface="Open Sans"/>
                          <a:sym typeface="Open Sans"/>
                        </a:rPr>
                        <a:t>Ngôn ngữ lập trình mở rộng từ JavaScript, bổ sung kiểu tĩnh, giúp code rõ ràng, dễ bảo trì và giảm lỗi runtime.</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1370494">
                <a:tc vMerge="true">
                  <a:txBody>
                    <a:bodyPr anchor="t" rtlCol="false"/>
                    <a:lstStyle/>
                    <a:p>
                      <a:pPr algn="ctr">
                        <a:lnSpc>
                          <a:spcPts val="3359"/>
                        </a:lnSpc>
                        <a:defRPr/>
                      </a:pPr>
                      <a:r>
                        <a:rPr lang="en-US" sz="2400">
                          <a:solidFill>
                            <a:srgbClr val="000000"/>
                          </a:solidFill>
                          <a:latin typeface="Open Sans"/>
                          <a:ea typeface="Open Sans"/>
                          <a:cs typeface="Open Sans"/>
                          <a:sym typeface="Open Sans"/>
                        </a:rPr>
                        <a:t>1</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vMerge="true">
                  <a:txBody>
                    <a:bodyPr anchor="t" rtlCol="false"/>
                    <a:lstStyle/>
                    <a:p>
                      <a:pPr algn="ctr">
                        <a:lnSpc>
                          <a:spcPts val="3359"/>
                        </a:lnSpc>
                        <a:defRPr/>
                      </a:pPr>
                      <a:r>
                        <a:rPr lang="en-US" sz="2400">
                          <a:solidFill>
                            <a:srgbClr val="000000"/>
                          </a:solidFill>
                          <a:latin typeface="Open Sans"/>
                          <a:ea typeface="Open Sans"/>
                          <a:cs typeface="Open Sans"/>
                          <a:sym typeface="Open Sans"/>
                        </a:rPr>
                        <a:t>Front-end</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3359"/>
                        </a:lnSpc>
                        <a:defRPr/>
                      </a:pPr>
                      <a:r>
                        <a:rPr lang="en-US" sz="2400">
                          <a:solidFill>
                            <a:srgbClr val="000000"/>
                          </a:solidFill>
                          <a:latin typeface="Open Sans"/>
                          <a:ea typeface="Open Sans"/>
                          <a:cs typeface="Open Sans"/>
                          <a:sym typeface="Open Sans"/>
                        </a:rPr>
                        <a:t>TailwindCSS</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359"/>
                        </a:lnSpc>
                        <a:defRPr/>
                      </a:pPr>
                      <a:r>
                        <a:rPr lang="en-US" sz="2400">
                          <a:solidFill>
                            <a:srgbClr val="000000"/>
                          </a:solidFill>
                          <a:latin typeface="Open Sans"/>
                          <a:ea typeface="Open Sans"/>
                          <a:cs typeface="Open Sans"/>
                          <a:sym typeface="Open Sans"/>
                        </a:rPr>
                        <a:t>Framework CSS tiện lợi, cho phép xây dựng giao diện nhanh chóng thông qua các class tiện ích.</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1432888">
                <a:tc vMerge="true">
                  <a:txBody>
                    <a:bodyPr anchor="t" rtlCol="false"/>
                    <a:lstStyle/>
                    <a:p>
                      <a:pPr algn="ctr">
                        <a:lnSpc>
                          <a:spcPts val="3359"/>
                        </a:lnSpc>
                        <a:defRPr/>
                      </a:pPr>
                      <a:r>
                        <a:rPr lang="en-US" sz="2400">
                          <a:solidFill>
                            <a:srgbClr val="000000"/>
                          </a:solidFill>
                          <a:latin typeface="Open Sans"/>
                          <a:ea typeface="Open Sans"/>
                          <a:cs typeface="Open Sans"/>
                          <a:sym typeface="Open Sans"/>
                        </a:rPr>
                        <a:t>1</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vMerge="true">
                  <a:txBody>
                    <a:bodyPr anchor="t" rtlCol="false"/>
                    <a:lstStyle/>
                    <a:p>
                      <a:pPr algn="ctr">
                        <a:lnSpc>
                          <a:spcPts val="3359"/>
                        </a:lnSpc>
                        <a:defRPr/>
                      </a:pPr>
                      <a:r>
                        <a:rPr lang="en-US" sz="2400">
                          <a:solidFill>
                            <a:srgbClr val="000000"/>
                          </a:solidFill>
                          <a:latin typeface="Open Sans"/>
                          <a:ea typeface="Open Sans"/>
                          <a:cs typeface="Open Sans"/>
                          <a:sym typeface="Open Sans"/>
                        </a:rPr>
                        <a:t>Front-end</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3359"/>
                        </a:lnSpc>
                        <a:defRPr/>
                      </a:pPr>
                      <a:r>
                        <a:rPr lang="en-US" sz="2400">
                          <a:solidFill>
                            <a:srgbClr val="000000"/>
                          </a:solidFill>
                          <a:latin typeface="Open Sans"/>
                          <a:ea typeface="Open Sans"/>
                          <a:cs typeface="Open Sans"/>
                          <a:sym typeface="Open Sans"/>
                        </a:rPr>
                        <a:t>Mantine UI</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359"/>
                        </a:lnSpc>
                        <a:defRPr/>
                      </a:pPr>
                      <a:r>
                        <a:rPr lang="en-US" sz="2400">
                          <a:solidFill>
                            <a:srgbClr val="000000"/>
                          </a:solidFill>
                          <a:latin typeface="Open Sans"/>
                          <a:ea typeface="Open Sans"/>
                          <a:cs typeface="Open Sans"/>
                          <a:sym typeface="Open Sans"/>
                        </a:rPr>
                        <a:t>Bộ thư viện UI React hiện đại với nhiều thành phần có sẵn, hỗ trợ tuỳ biến cao </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bl>
          </a:graphicData>
        </a:graphic>
      </p:graphicFrame>
      <p:sp>
        <p:nvSpPr>
          <p:cNvPr name="TextBox 6" id="6"/>
          <p:cNvSpPr txBox="true"/>
          <p:nvPr/>
        </p:nvSpPr>
        <p:spPr>
          <a:xfrm rot="0">
            <a:off x="763112" y="9369641"/>
            <a:ext cx="12119638" cy="409575"/>
          </a:xfrm>
          <a:prstGeom prst="rect">
            <a:avLst/>
          </a:prstGeom>
        </p:spPr>
        <p:txBody>
          <a:bodyPr anchor="t" rtlCol="false" tIns="0" lIns="0" bIns="0" rIns="0">
            <a:spAutoFit/>
          </a:bodyPr>
          <a:lstStyle/>
          <a:p>
            <a:pPr algn="l" marL="0" indent="0" lvl="0">
              <a:lnSpc>
                <a:spcPts val="3120"/>
              </a:lnSpc>
              <a:spcBef>
                <a:spcPct val="0"/>
              </a:spcBef>
            </a:pPr>
            <a:r>
              <a:rPr lang="en-US" b="true" sz="2600" spc="72" strike="noStrike" u="none">
                <a:solidFill>
                  <a:srgbClr val="00618A"/>
                </a:solidFill>
                <a:latin typeface="Arimo Bold"/>
                <a:ea typeface="Arimo Bold"/>
                <a:cs typeface="Arimo Bold"/>
                <a:sym typeface="Arimo Bold"/>
              </a:rPr>
              <a:t>XÂY DỰNG HỆ THỐNG TẠO VÀ ĐÁNH GIÁ</a:t>
            </a:r>
            <a:r>
              <a:rPr lang="en-US" b="true" sz="2600" spc="72" strike="noStrike" u="none">
                <a:solidFill>
                  <a:srgbClr val="00618A"/>
                </a:solidFill>
                <a:latin typeface="Arimo Bold"/>
                <a:ea typeface="Arimo Bold"/>
                <a:cs typeface="Arimo Bold"/>
                <a:sym typeface="Arimo Bold"/>
              </a:rPr>
              <a:t> HỒ SƠ XIN VIỆC TÍCH HỢP AI</a:t>
            </a:r>
          </a:p>
        </p:txBody>
      </p:sp>
      <p:sp>
        <p:nvSpPr>
          <p:cNvPr name="TextBox 7" id="7"/>
          <p:cNvSpPr txBox="true"/>
          <p:nvPr/>
        </p:nvSpPr>
        <p:spPr>
          <a:xfrm rot="0">
            <a:off x="1041536" y="688092"/>
            <a:ext cx="7195576" cy="438150"/>
          </a:xfrm>
          <a:prstGeom prst="rect">
            <a:avLst/>
          </a:prstGeom>
        </p:spPr>
        <p:txBody>
          <a:bodyPr anchor="t" rtlCol="false" tIns="0" lIns="0" bIns="0" rIns="0">
            <a:spAutoFit/>
          </a:bodyPr>
          <a:lstStyle/>
          <a:p>
            <a:pPr algn="l" marL="0" indent="0" lvl="0">
              <a:lnSpc>
                <a:spcPts val="3359"/>
              </a:lnSpc>
              <a:spcBef>
                <a:spcPct val="0"/>
              </a:spcBef>
            </a:pPr>
            <a:r>
              <a:rPr lang="en-US" sz="2799" i="true" spc="77">
                <a:solidFill>
                  <a:srgbClr val="00618A"/>
                </a:solidFill>
                <a:latin typeface="Arimo Italics"/>
                <a:ea typeface="Arimo Italics"/>
                <a:cs typeface="Arimo Italics"/>
                <a:sym typeface="Arimo Italics"/>
              </a:rPr>
              <a:t>4. Cài đặt hệ thống và kết quả thử nghiệm </a:t>
            </a:r>
          </a:p>
        </p:txBody>
      </p:sp>
      <p:sp>
        <p:nvSpPr>
          <p:cNvPr name="TextBox 8" id="8"/>
          <p:cNvSpPr txBox="true"/>
          <p:nvPr/>
        </p:nvSpPr>
        <p:spPr>
          <a:xfrm rot="0">
            <a:off x="1041536" y="1078617"/>
            <a:ext cx="6067738" cy="438150"/>
          </a:xfrm>
          <a:prstGeom prst="rect">
            <a:avLst/>
          </a:prstGeom>
        </p:spPr>
        <p:txBody>
          <a:bodyPr anchor="t" rtlCol="false" tIns="0" lIns="0" bIns="0" rIns="0">
            <a:spAutoFit/>
          </a:bodyPr>
          <a:lstStyle/>
          <a:p>
            <a:pPr algn="l" marL="0" indent="0" lvl="0">
              <a:lnSpc>
                <a:spcPts val="3359"/>
              </a:lnSpc>
              <a:spcBef>
                <a:spcPct val="0"/>
              </a:spcBef>
            </a:pPr>
            <a:r>
              <a:rPr lang="en-US" b="true" sz="2799" spc="77">
                <a:solidFill>
                  <a:srgbClr val="00618A"/>
                </a:solidFill>
                <a:latin typeface="Arimo Bold"/>
                <a:ea typeface="Arimo Bold"/>
                <a:cs typeface="Arimo Bold"/>
                <a:sym typeface="Arimo Bold"/>
              </a:rPr>
              <a:t>Lựa chọn công nghệ</a:t>
            </a:r>
          </a:p>
        </p:txBody>
      </p:sp>
      <p:sp>
        <p:nvSpPr>
          <p:cNvPr name="TextBox 9" id="9"/>
          <p:cNvSpPr txBox="true"/>
          <p:nvPr/>
        </p:nvSpPr>
        <p:spPr>
          <a:xfrm rot="0">
            <a:off x="16976359" y="9369641"/>
            <a:ext cx="528883" cy="409575"/>
          </a:xfrm>
          <a:prstGeom prst="rect">
            <a:avLst/>
          </a:prstGeom>
        </p:spPr>
        <p:txBody>
          <a:bodyPr anchor="t" rtlCol="false" tIns="0" lIns="0" bIns="0" rIns="0">
            <a:spAutoFit/>
          </a:bodyPr>
          <a:lstStyle/>
          <a:p>
            <a:pPr algn="r" marL="0" indent="0" lvl="0">
              <a:lnSpc>
                <a:spcPts val="3120"/>
              </a:lnSpc>
              <a:spcBef>
                <a:spcPct val="0"/>
              </a:spcBef>
            </a:pPr>
            <a:r>
              <a:rPr lang="en-US" b="true" sz="2600" spc="72">
                <a:solidFill>
                  <a:srgbClr val="00618A"/>
                </a:solidFill>
                <a:latin typeface="Arimo Bold"/>
                <a:ea typeface="Arimo Bold"/>
                <a:cs typeface="Arimo Bold"/>
                <a:sym typeface="Arimo Bold"/>
              </a:rPr>
              <a:t>18</a:t>
            </a:r>
          </a:p>
        </p:txBody>
      </p:sp>
    </p:spTree>
  </p:cSld>
  <p:clrMapOvr>
    <a:masterClrMapping/>
  </p:clrMapOvr>
  <p:transition spd="fast">
    <p:fade/>
  </p:transition>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705967" y="9253538"/>
            <a:ext cx="16872456" cy="4762"/>
          </a:xfrm>
          <a:prstGeom prst="line">
            <a:avLst/>
          </a:prstGeom>
          <a:ln cap="rnd" w="19050">
            <a:solidFill>
              <a:srgbClr val="4BADD6"/>
            </a:solidFill>
            <a:prstDash val="solid"/>
            <a:headEnd type="none" len="sm" w="sm"/>
            <a:tailEnd type="none" len="sm" w="sm"/>
          </a:ln>
        </p:spPr>
      </p:sp>
      <p:sp>
        <p:nvSpPr>
          <p:cNvPr name="AutoShape 3" id="3"/>
          <p:cNvSpPr/>
          <p:nvPr/>
        </p:nvSpPr>
        <p:spPr>
          <a:xfrm flipH="true">
            <a:off x="763112" y="716667"/>
            <a:ext cx="0" cy="771525"/>
          </a:xfrm>
          <a:prstGeom prst="line">
            <a:avLst/>
          </a:prstGeom>
          <a:ln cap="rnd" w="114300">
            <a:solidFill>
              <a:srgbClr val="075985">
                <a:alpha val="46667"/>
              </a:srgbClr>
            </a:solidFill>
            <a:prstDash val="solid"/>
            <a:headEnd type="none" len="sm" w="sm"/>
            <a:tailEnd type="none" len="sm" w="sm"/>
          </a:ln>
        </p:spPr>
      </p:sp>
      <p:sp>
        <p:nvSpPr>
          <p:cNvPr name="Freeform 4" id="4"/>
          <p:cNvSpPr/>
          <p:nvPr/>
        </p:nvSpPr>
        <p:spPr>
          <a:xfrm flipH="false" flipV="false" rot="0">
            <a:off x="16713285" y="707142"/>
            <a:ext cx="865138" cy="854186"/>
          </a:xfrm>
          <a:custGeom>
            <a:avLst/>
            <a:gdLst/>
            <a:ahLst/>
            <a:cxnLst/>
            <a:rect r="r" b="b" t="t" l="l"/>
            <a:pathLst>
              <a:path h="854186" w="865138">
                <a:moveTo>
                  <a:pt x="0" y="0"/>
                </a:moveTo>
                <a:lnTo>
                  <a:pt x="865138" y="0"/>
                </a:lnTo>
                <a:lnTo>
                  <a:pt x="865138" y="854186"/>
                </a:lnTo>
                <a:lnTo>
                  <a:pt x="0" y="854186"/>
                </a:lnTo>
                <a:lnTo>
                  <a:pt x="0" y="0"/>
                </a:lnTo>
                <a:close/>
              </a:path>
            </a:pathLst>
          </a:custGeom>
          <a:blipFill>
            <a:blip r:embed="rId3"/>
            <a:stretch>
              <a:fillRect l="0" t="0" r="0" b="0"/>
            </a:stretch>
          </a:blipFill>
        </p:spPr>
      </p:sp>
      <p:graphicFrame>
        <p:nvGraphicFramePr>
          <p:cNvPr name="Table 5" id="5"/>
          <p:cNvGraphicFramePr>
            <a:graphicFrameLocks noGrp="true"/>
          </p:cNvGraphicFramePr>
          <p:nvPr/>
        </p:nvGraphicFramePr>
        <p:xfrm>
          <a:off x="705967" y="2294271"/>
          <a:ext cx="16799275" cy="5698457"/>
        </p:xfrm>
        <a:graphic>
          <a:graphicData uri="http://schemas.openxmlformats.org/drawingml/2006/table">
            <a:tbl>
              <a:tblPr/>
              <a:tblGrid>
                <a:gridCol w="1092000"/>
                <a:gridCol w="2608920"/>
                <a:gridCol w="4416757"/>
                <a:gridCol w="8681597"/>
              </a:tblGrid>
              <a:tr h="939999">
                <a:tc>
                  <a:txBody>
                    <a:bodyPr anchor="t" rtlCol="false"/>
                    <a:lstStyle/>
                    <a:p>
                      <a:pPr algn="ctr">
                        <a:lnSpc>
                          <a:spcPts val="3359"/>
                        </a:lnSpc>
                        <a:defRPr/>
                      </a:pPr>
                      <a:r>
                        <a:rPr lang="en-US" sz="2400">
                          <a:solidFill>
                            <a:srgbClr val="FFFFFF"/>
                          </a:solidFill>
                          <a:latin typeface="Open Sans"/>
                          <a:ea typeface="Open Sans"/>
                          <a:cs typeface="Open Sans"/>
                          <a:sym typeface="Open Sans"/>
                        </a:rPr>
                        <a:t>#</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2FA9DC"/>
                    </a:solidFill>
                  </a:tcPr>
                </a:tc>
                <a:tc>
                  <a:txBody>
                    <a:bodyPr anchor="t" rtlCol="false"/>
                    <a:lstStyle/>
                    <a:p>
                      <a:pPr algn="ctr">
                        <a:lnSpc>
                          <a:spcPts val="3359"/>
                        </a:lnSpc>
                        <a:defRPr/>
                      </a:pPr>
                      <a:r>
                        <a:rPr lang="en-US" b="true" sz="2400">
                          <a:solidFill>
                            <a:srgbClr val="FFFFFF"/>
                          </a:solidFill>
                          <a:latin typeface="Open Sans Bold"/>
                          <a:ea typeface="Open Sans Bold"/>
                          <a:cs typeface="Open Sans Bold"/>
                          <a:sym typeface="Open Sans Bold"/>
                        </a:rPr>
                        <a:t>Module</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2FA9DC"/>
                    </a:solidFill>
                  </a:tcPr>
                </a:tc>
                <a:tc>
                  <a:txBody>
                    <a:bodyPr anchor="t" rtlCol="false"/>
                    <a:lstStyle/>
                    <a:p>
                      <a:pPr algn="ctr">
                        <a:lnSpc>
                          <a:spcPts val="3359"/>
                        </a:lnSpc>
                        <a:defRPr/>
                      </a:pPr>
                      <a:r>
                        <a:rPr lang="en-US" b="true" sz="2400">
                          <a:solidFill>
                            <a:srgbClr val="FFFFFF"/>
                          </a:solidFill>
                          <a:latin typeface="Open Sans Bold"/>
                          <a:ea typeface="Open Sans Bold"/>
                          <a:cs typeface="Open Sans Bold"/>
                          <a:sym typeface="Open Sans Bold"/>
                        </a:rPr>
                        <a:t>Công nghệ/Giải pháp</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2FA9DC"/>
                    </a:solidFill>
                  </a:tcPr>
                </a:tc>
                <a:tc>
                  <a:txBody>
                    <a:bodyPr anchor="t" rtlCol="false"/>
                    <a:lstStyle/>
                    <a:p>
                      <a:pPr algn="ctr">
                        <a:lnSpc>
                          <a:spcPts val="3359"/>
                        </a:lnSpc>
                        <a:defRPr/>
                      </a:pPr>
                      <a:r>
                        <a:rPr lang="en-US" b="true" sz="2400">
                          <a:solidFill>
                            <a:srgbClr val="FFFFFF"/>
                          </a:solidFill>
                          <a:latin typeface="Open Sans Bold"/>
                          <a:ea typeface="Open Sans Bold"/>
                          <a:cs typeface="Open Sans Bold"/>
                          <a:sym typeface="Open Sans Bold"/>
                        </a:rPr>
                        <a:t>Diễn giải</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2FA9DC"/>
                    </a:solidFill>
                  </a:tcPr>
                </a:tc>
              </a:tr>
              <a:tr h="1307110">
                <a:tc rowSpan="3">
                  <a:txBody>
                    <a:bodyPr anchor="t" rtlCol="false"/>
                    <a:lstStyle/>
                    <a:p>
                      <a:pPr algn="ctr">
                        <a:lnSpc>
                          <a:spcPts val="3359"/>
                        </a:lnSpc>
                        <a:defRPr/>
                      </a:pPr>
                      <a:r>
                        <a:rPr lang="en-US" sz="2400">
                          <a:solidFill>
                            <a:srgbClr val="000000"/>
                          </a:solidFill>
                          <a:latin typeface="Open Sans"/>
                          <a:ea typeface="Open Sans"/>
                          <a:cs typeface="Open Sans"/>
                          <a:sym typeface="Open Sans"/>
                        </a:rPr>
                        <a:t>1</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rowSpan="3">
                  <a:txBody>
                    <a:bodyPr anchor="t" rtlCol="false"/>
                    <a:lstStyle/>
                    <a:p>
                      <a:pPr algn="ctr">
                        <a:lnSpc>
                          <a:spcPts val="3359"/>
                        </a:lnSpc>
                        <a:defRPr/>
                      </a:pPr>
                      <a:r>
                        <a:rPr lang="en-US" sz="2400">
                          <a:solidFill>
                            <a:srgbClr val="000000"/>
                          </a:solidFill>
                          <a:latin typeface="Open Sans"/>
                          <a:ea typeface="Open Sans"/>
                          <a:cs typeface="Open Sans"/>
                          <a:sym typeface="Open Sans"/>
                        </a:rPr>
                        <a:t>Front-end</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3359"/>
                        </a:lnSpc>
                        <a:defRPr/>
                      </a:pPr>
                      <a:r>
                        <a:rPr lang="en-US" sz="2400">
                          <a:solidFill>
                            <a:srgbClr val="000000"/>
                          </a:solidFill>
                          <a:latin typeface="Open Sans"/>
                          <a:ea typeface="Open Sans"/>
                          <a:cs typeface="Open Sans"/>
                          <a:sym typeface="Open Sans"/>
                        </a:rPr>
                        <a:t>TanStack</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359"/>
                        </a:lnSpc>
                        <a:defRPr/>
                      </a:pPr>
                      <a:r>
                        <a:rPr lang="en-US" sz="2400">
                          <a:solidFill>
                            <a:srgbClr val="000000"/>
                          </a:solidFill>
                          <a:latin typeface="Open Sans"/>
                          <a:ea typeface="Open Sans"/>
                          <a:cs typeface="Open Sans"/>
                          <a:sym typeface="Open Sans"/>
                        </a:rPr>
                        <a:t>Thư viện quản lý truy vấn dữ liệu bất đồng bộ trong React, hỗ trợ cache tối ưu số lần gọi API.</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1724437">
                <a:tc vMerge="true">
                  <a:txBody>
                    <a:bodyPr anchor="t" rtlCol="false"/>
                    <a:lstStyle/>
                    <a:p>
                      <a:pPr algn="ctr">
                        <a:lnSpc>
                          <a:spcPts val="3359"/>
                        </a:lnSpc>
                        <a:defRPr/>
                      </a:pPr>
                      <a:r>
                        <a:rPr lang="en-US" sz="2400">
                          <a:solidFill>
                            <a:srgbClr val="000000"/>
                          </a:solidFill>
                          <a:latin typeface="Open Sans"/>
                          <a:ea typeface="Open Sans"/>
                          <a:cs typeface="Open Sans"/>
                          <a:sym typeface="Open Sans"/>
                        </a:rPr>
                        <a:t>1</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vMerge="true">
                  <a:txBody>
                    <a:bodyPr anchor="t" rtlCol="false"/>
                    <a:lstStyle/>
                    <a:p>
                      <a:pPr algn="ctr">
                        <a:lnSpc>
                          <a:spcPts val="3359"/>
                        </a:lnSpc>
                        <a:defRPr/>
                      </a:pPr>
                      <a:r>
                        <a:rPr lang="en-US" sz="2400">
                          <a:solidFill>
                            <a:srgbClr val="000000"/>
                          </a:solidFill>
                          <a:latin typeface="Open Sans"/>
                          <a:ea typeface="Open Sans"/>
                          <a:cs typeface="Open Sans"/>
                          <a:sym typeface="Open Sans"/>
                        </a:rPr>
                        <a:t>Front-end</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3359"/>
                        </a:lnSpc>
                        <a:defRPr/>
                      </a:pPr>
                      <a:r>
                        <a:rPr lang="en-US" sz="2400">
                          <a:solidFill>
                            <a:srgbClr val="000000"/>
                          </a:solidFill>
                          <a:latin typeface="Open Sans"/>
                          <a:ea typeface="Open Sans"/>
                          <a:cs typeface="Open Sans"/>
                          <a:sym typeface="Open Sans"/>
                        </a:rPr>
                        <a:t>Axios</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359"/>
                        </a:lnSpc>
                        <a:defRPr/>
                      </a:pPr>
                      <a:r>
                        <a:rPr lang="en-US" sz="2400">
                          <a:solidFill>
                            <a:srgbClr val="000000"/>
                          </a:solidFill>
                          <a:latin typeface="Open Sans"/>
                          <a:ea typeface="Open Sans"/>
                          <a:cs typeface="Open Sans"/>
                          <a:sym typeface="Open Sans"/>
                        </a:rPr>
                        <a:t>Thư viện JavaScript hỗ trợ gửi yêu cầu HTTP, dễ sử dụng, hỗ trợ Promise </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1726912">
                <a:tc vMerge="true">
                  <a:txBody>
                    <a:bodyPr anchor="t" rtlCol="false"/>
                    <a:lstStyle/>
                    <a:p>
                      <a:pPr algn="ctr">
                        <a:lnSpc>
                          <a:spcPts val="3359"/>
                        </a:lnSpc>
                        <a:defRPr/>
                      </a:pPr>
                      <a:r>
                        <a:rPr lang="en-US" sz="2400">
                          <a:solidFill>
                            <a:srgbClr val="000000"/>
                          </a:solidFill>
                          <a:latin typeface="Open Sans"/>
                          <a:ea typeface="Open Sans"/>
                          <a:cs typeface="Open Sans"/>
                          <a:sym typeface="Open Sans"/>
                        </a:rPr>
                        <a:t>1</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vMerge="true">
                  <a:txBody>
                    <a:bodyPr anchor="t" rtlCol="false"/>
                    <a:lstStyle/>
                    <a:p>
                      <a:pPr algn="ctr">
                        <a:lnSpc>
                          <a:spcPts val="3359"/>
                        </a:lnSpc>
                        <a:defRPr/>
                      </a:pPr>
                      <a:r>
                        <a:rPr lang="en-US" sz="2400">
                          <a:solidFill>
                            <a:srgbClr val="000000"/>
                          </a:solidFill>
                          <a:latin typeface="Open Sans"/>
                          <a:ea typeface="Open Sans"/>
                          <a:cs typeface="Open Sans"/>
                          <a:sym typeface="Open Sans"/>
                        </a:rPr>
                        <a:t>Front-end</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3359"/>
                        </a:lnSpc>
                        <a:defRPr/>
                      </a:pPr>
                      <a:r>
                        <a:rPr lang="en-US" sz="2400">
                          <a:solidFill>
                            <a:srgbClr val="000000"/>
                          </a:solidFill>
                          <a:latin typeface="Open Sans"/>
                          <a:ea typeface="Open Sans"/>
                          <a:cs typeface="Open Sans"/>
                          <a:sym typeface="Open Sans"/>
                        </a:rPr>
                        <a:t>dnd-kit</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359"/>
                        </a:lnSpc>
                        <a:defRPr/>
                      </a:pPr>
                      <a:r>
                        <a:rPr lang="en-US" sz="2400">
                          <a:solidFill>
                            <a:srgbClr val="000000"/>
                          </a:solidFill>
                          <a:latin typeface="Open Sans"/>
                          <a:ea typeface="Open Sans"/>
                          <a:cs typeface="Open Sans"/>
                          <a:sym typeface="Open Sans"/>
                        </a:rPr>
                        <a:t>Thư viện kéo thả (drag-and-drop) cho React, hỗ trợ tương tác trực quan và tùy biến linh hoạt trong giao diện người dùng</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bl>
          </a:graphicData>
        </a:graphic>
      </p:graphicFrame>
      <p:sp>
        <p:nvSpPr>
          <p:cNvPr name="TextBox 6" id="6"/>
          <p:cNvSpPr txBox="true"/>
          <p:nvPr/>
        </p:nvSpPr>
        <p:spPr>
          <a:xfrm rot="0">
            <a:off x="763112" y="9369641"/>
            <a:ext cx="12119638" cy="409575"/>
          </a:xfrm>
          <a:prstGeom prst="rect">
            <a:avLst/>
          </a:prstGeom>
        </p:spPr>
        <p:txBody>
          <a:bodyPr anchor="t" rtlCol="false" tIns="0" lIns="0" bIns="0" rIns="0">
            <a:spAutoFit/>
          </a:bodyPr>
          <a:lstStyle/>
          <a:p>
            <a:pPr algn="l" marL="0" indent="0" lvl="0">
              <a:lnSpc>
                <a:spcPts val="3120"/>
              </a:lnSpc>
              <a:spcBef>
                <a:spcPct val="0"/>
              </a:spcBef>
            </a:pPr>
            <a:r>
              <a:rPr lang="en-US" b="true" sz="2600" spc="72" strike="noStrike" u="none">
                <a:solidFill>
                  <a:srgbClr val="00618A"/>
                </a:solidFill>
                <a:latin typeface="Arimo Bold"/>
                <a:ea typeface="Arimo Bold"/>
                <a:cs typeface="Arimo Bold"/>
                <a:sym typeface="Arimo Bold"/>
              </a:rPr>
              <a:t>XÂY DỰNG HỆ THỐNG TẠO VÀ ĐÁNH GIÁ</a:t>
            </a:r>
            <a:r>
              <a:rPr lang="en-US" b="true" sz="2600" spc="72" strike="noStrike" u="none">
                <a:solidFill>
                  <a:srgbClr val="00618A"/>
                </a:solidFill>
                <a:latin typeface="Arimo Bold"/>
                <a:ea typeface="Arimo Bold"/>
                <a:cs typeface="Arimo Bold"/>
                <a:sym typeface="Arimo Bold"/>
              </a:rPr>
              <a:t> HỒ SƠ XIN VIỆC TÍCH HỢP AI</a:t>
            </a:r>
          </a:p>
        </p:txBody>
      </p:sp>
      <p:sp>
        <p:nvSpPr>
          <p:cNvPr name="TextBox 7" id="7"/>
          <p:cNvSpPr txBox="true"/>
          <p:nvPr/>
        </p:nvSpPr>
        <p:spPr>
          <a:xfrm rot="0">
            <a:off x="1041536" y="688092"/>
            <a:ext cx="7195576" cy="438150"/>
          </a:xfrm>
          <a:prstGeom prst="rect">
            <a:avLst/>
          </a:prstGeom>
        </p:spPr>
        <p:txBody>
          <a:bodyPr anchor="t" rtlCol="false" tIns="0" lIns="0" bIns="0" rIns="0">
            <a:spAutoFit/>
          </a:bodyPr>
          <a:lstStyle/>
          <a:p>
            <a:pPr algn="l" marL="0" indent="0" lvl="0">
              <a:lnSpc>
                <a:spcPts val="3359"/>
              </a:lnSpc>
              <a:spcBef>
                <a:spcPct val="0"/>
              </a:spcBef>
            </a:pPr>
            <a:r>
              <a:rPr lang="en-US" sz="2799" i="true" spc="77">
                <a:solidFill>
                  <a:srgbClr val="00618A"/>
                </a:solidFill>
                <a:latin typeface="Arimo Italics"/>
                <a:ea typeface="Arimo Italics"/>
                <a:cs typeface="Arimo Italics"/>
                <a:sym typeface="Arimo Italics"/>
              </a:rPr>
              <a:t>4. Cài đặt hệ thống và kết quả thử nghiệm </a:t>
            </a:r>
          </a:p>
        </p:txBody>
      </p:sp>
      <p:sp>
        <p:nvSpPr>
          <p:cNvPr name="TextBox 8" id="8"/>
          <p:cNvSpPr txBox="true"/>
          <p:nvPr/>
        </p:nvSpPr>
        <p:spPr>
          <a:xfrm rot="0">
            <a:off x="1041536" y="1078617"/>
            <a:ext cx="6067738" cy="438150"/>
          </a:xfrm>
          <a:prstGeom prst="rect">
            <a:avLst/>
          </a:prstGeom>
        </p:spPr>
        <p:txBody>
          <a:bodyPr anchor="t" rtlCol="false" tIns="0" lIns="0" bIns="0" rIns="0">
            <a:spAutoFit/>
          </a:bodyPr>
          <a:lstStyle/>
          <a:p>
            <a:pPr algn="l" marL="0" indent="0" lvl="0">
              <a:lnSpc>
                <a:spcPts val="3359"/>
              </a:lnSpc>
              <a:spcBef>
                <a:spcPct val="0"/>
              </a:spcBef>
            </a:pPr>
            <a:r>
              <a:rPr lang="en-US" b="true" sz="2799" spc="77">
                <a:solidFill>
                  <a:srgbClr val="00618A"/>
                </a:solidFill>
                <a:latin typeface="Arimo Bold"/>
                <a:ea typeface="Arimo Bold"/>
                <a:cs typeface="Arimo Bold"/>
                <a:sym typeface="Arimo Bold"/>
              </a:rPr>
              <a:t>Lựa chọn công nghệ</a:t>
            </a:r>
          </a:p>
        </p:txBody>
      </p:sp>
      <p:sp>
        <p:nvSpPr>
          <p:cNvPr name="TextBox 9" id="9"/>
          <p:cNvSpPr txBox="true"/>
          <p:nvPr/>
        </p:nvSpPr>
        <p:spPr>
          <a:xfrm rot="0">
            <a:off x="16976359" y="9369641"/>
            <a:ext cx="528883" cy="409575"/>
          </a:xfrm>
          <a:prstGeom prst="rect">
            <a:avLst/>
          </a:prstGeom>
        </p:spPr>
        <p:txBody>
          <a:bodyPr anchor="t" rtlCol="false" tIns="0" lIns="0" bIns="0" rIns="0">
            <a:spAutoFit/>
          </a:bodyPr>
          <a:lstStyle/>
          <a:p>
            <a:pPr algn="r" marL="0" indent="0" lvl="0">
              <a:lnSpc>
                <a:spcPts val="3120"/>
              </a:lnSpc>
              <a:spcBef>
                <a:spcPct val="0"/>
              </a:spcBef>
            </a:pPr>
            <a:r>
              <a:rPr lang="en-US" b="true" sz="2600" spc="72">
                <a:solidFill>
                  <a:srgbClr val="00618A"/>
                </a:solidFill>
                <a:latin typeface="Arimo Bold"/>
                <a:ea typeface="Arimo Bold"/>
                <a:cs typeface="Arimo Bold"/>
                <a:sym typeface="Arimo Bold"/>
              </a:rPr>
              <a:t>19</a:t>
            </a:r>
          </a:p>
        </p:txBody>
      </p:sp>
    </p:spTree>
  </p:cSld>
  <p:clrMapOvr>
    <a:masterClrMapping/>
  </p:clrMapOvr>
  <p:transition spd="fast">
    <p:fade/>
  </p:transition>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705967" y="9253538"/>
            <a:ext cx="16872456" cy="4762"/>
          </a:xfrm>
          <a:prstGeom prst="line">
            <a:avLst/>
          </a:prstGeom>
          <a:ln cap="rnd" w="19050">
            <a:solidFill>
              <a:srgbClr val="4BADD6"/>
            </a:solidFill>
            <a:prstDash val="solid"/>
            <a:headEnd type="none" len="sm" w="sm"/>
            <a:tailEnd type="none" len="sm" w="sm"/>
          </a:ln>
        </p:spPr>
      </p:sp>
      <p:sp>
        <p:nvSpPr>
          <p:cNvPr name="AutoShape 3" id="3"/>
          <p:cNvSpPr/>
          <p:nvPr/>
        </p:nvSpPr>
        <p:spPr>
          <a:xfrm flipH="true">
            <a:off x="763112" y="716667"/>
            <a:ext cx="0" cy="771525"/>
          </a:xfrm>
          <a:prstGeom prst="line">
            <a:avLst/>
          </a:prstGeom>
          <a:ln cap="rnd" w="114300">
            <a:solidFill>
              <a:srgbClr val="075985">
                <a:alpha val="46667"/>
              </a:srgbClr>
            </a:solidFill>
            <a:prstDash val="solid"/>
            <a:headEnd type="none" len="sm" w="sm"/>
            <a:tailEnd type="none" len="sm" w="sm"/>
          </a:ln>
        </p:spPr>
      </p:sp>
      <p:sp>
        <p:nvSpPr>
          <p:cNvPr name="Freeform 4" id="4"/>
          <p:cNvSpPr/>
          <p:nvPr/>
        </p:nvSpPr>
        <p:spPr>
          <a:xfrm flipH="false" flipV="false" rot="0">
            <a:off x="16713285" y="707142"/>
            <a:ext cx="865138" cy="854186"/>
          </a:xfrm>
          <a:custGeom>
            <a:avLst/>
            <a:gdLst/>
            <a:ahLst/>
            <a:cxnLst/>
            <a:rect r="r" b="b" t="t" l="l"/>
            <a:pathLst>
              <a:path h="854186" w="865138">
                <a:moveTo>
                  <a:pt x="0" y="0"/>
                </a:moveTo>
                <a:lnTo>
                  <a:pt x="865138" y="0"/>
                </a:lnTo>
                <a:lnTo>
                  <a:pt x="865138" y="854186"/>
                </a:lnTo>
                <a:lnTo>
                  <a:pt x="0" y="854186"/>
                </a:lnTo>
                <a:lnTo>
                  <a:pt x="0" y="0"/>
                </a:lnTo>
                <a:close/>
              </a:path>
            </a:pathLst>
          </a:custGeom>
          <a:blipFill>
            <a:blip r:embed="rId3"/>
            <a:stretch>
              <a:fillRect l="0" t="0" r="0" b="0"/>
            </a:stretch>
          </a:blipFill>
        </p:spPr>
      </p:sp>
      <p:graphicFrame>
        <p:nvGraphicFramePr>
          <p:cNvPr name="Table 5" id="5"/>
          <p:cNvGraphicFramePr>
            <a:graphicFrameLocks noGrp="true"/>
          </p:cNvGraphicFramePr>
          <p:nvPr/>
        </p:nvGraphicFramePr>
        <p:xfrm>
          <a:off x="705967" y="1877463"/>
          <a:ext cx="16799275" cy="7005853"/>
        </p:xfrm>
        <a:graphic>
          <a:graphicData uri="http://schemas.openxmlformats.org/drawingml/2006/table">
            <a:tbl>
              <a:tblPr/>
              <a:tblGrid>
                <a:gridCol w="1092000"/>
                <a:gridCol w="2608920"/>
                <a:gridCol w="4416757"/>
                <a:gridCol w="8681597"/>
              </a:tblGrid>
              <a:tr h="939705">
                <a:tc>
                  <a:txBody>
                    <a:bodyPr anchor="t" rtlCol="false"/>
                    <a:lstStyle/>
                    <a:p>
                      <a:pPr algn="ctr">
                        <a:lnSpc>
                          <a:spcPts val="3359"/>
                        </a:lnSpc>
                        <a:defRPr/>
                      </a:pPr>
                      <a:r>
                        <a:rPr lang="en-US" sz="2400">
                          <a:solidFill>
                            <a:srgbClr val="FFFFFF"/>
                          </a:solidFill>
                          <a:latin typeface="Open Sans"/>
                          <a:ea typeface="Open Sans"/>
                          <a:cs typeface="Open Sans"/>
                          <a:sym typeface="Open Sans"/>
                        </a:rPr>
                        <a:t>#</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4BADD6"/>
                    </a:solidFill>
                  </a:tcPr>
                </a:tc>
                <a:tc>
                  <a:txBody>
                    <a:bodyPr anchor="t" rtlCol="false"/>
                    <a:lstStyle/>
                    <a:p>
                      <a:pPr algn="ctr">
                        <a:lnSpc>
                          <a:spcPts val="3359"/>
                        </a:lnSpc>
                        <a:defRPr/>
                      </a:pPr>
                      <a:r>
                        <a:rPr lang="en-US" b="true" sz="2400">
                          <a:solidFill>
                            <a:srgbClr val="FFFFFF"/>
                          </a:solidFill>
                          <a:latin typeface="Open Sans Bold"/>
                          <a:ea typeface="Open Sans Bold"/>
                          <a:cs typeface="Open Sans Bold"/>
                          <a:sym typeface="Open Sans Bold"/>
                        </a:rPr>
                        <a:t>Module</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4BADD6"/>
                    </a:solidFill>
                  </a:tcPr>
                </a:tc>
                <a:tc>
                  <a:txBody>
                    <a:bodyPr anchor="t" rtlCol="false"/>
                    <a:lstStyle/>
                    <a:p>
                      <a:pPr algn="ctr">
                        <a:lnSpc>
                          <a:spcPts val="3359"/>
                        </a:lnSpc>
                        <a:defRPr/>
                      </a:pPr>
                      <a:r>
                        <a:rPr lang="en-US" b="true" sz="2400">
                          <a:solidFill>
                            <a:srgbClr val="FFFFFF"/>
                          </a:solidFill>
                          <a:latin typeface="Open Sans Bold"/>
                          <a:ea typeface="Open Sans Bold"/>
                          <a:cs typeface="Open Sans Bold"/>
                          <a:sym typeface="Open Sans Bold"/>
                        </a:rPr>
                        <a:t>Công nghệ/Giải pháp</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4BADD6"/>
                    </a:solidFill>
                  </a:tcPr>
                </a:tc>
                <a:tc>
                  <a:txBody>
                    <a:bodyPr anchor="t" rtlCol="false"/>
                    <a:lstStyle/>
                    <a:p>
                      <a:pPr algn="ctr">
                        <a:lnSpc>
                          <a:spcPts val="3359"/>
                        </a:lnSpc>
                        <a:defRPr/>
                      </a:pPr>
                      <a:r>
                        <a:rPr lang="en-US" b="true" sz="2400">
                          <a:solidFill>
                            <a:srgbClr val="FFFFFF"/>
                          </a:solidFill>
                          <a:latin typeface="Open Sans Bold"/>
                          <a:ea typeface="Open Sans Bold"/>
                          <a:cs typeface="Open Sans Bold"/>
                          <a:sym typeface="Open Sans Bold"/>
                        </a:rPr>
                        <a:t>Diễn giải</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4BADD6"/>
                    </a:solidFill>
                  </a:tcPr>
                </a:tc>
              </a:tr>
              <a:tr h="1726372">
                <a:tc rowSpan="4">
                  <a:txBody>
                    <a:bodyPr anchor="t" rtlCol="false"/>
                    <a:lstStyle/>
                    <a:p>
                      <a:pPr algn="ctr">
                        <a:lnSpc>
                          <a:spcPts val="3359"/>
                        </a:lnSpc>
                        <a:defRPr/>
                      </a:pPr>
                      <a:r>
                        <a:rPr lang="en-US" sz="2400">
                          <a:solidFill>
                            <a:srgbClr val="000000"/>
                          </a:solidFill>
                          <a:latin typeface="Open Sans"/>
                          <a:ea typeface="Open Sans"/>
                          <a:cs typeface="Open Sans"/>
                          <a:sym typeface="Open Sans"/>
                        </a:rPr>
                        <a:t>2</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rowSpan="4">
                  <a:txBody>
                    <a:bodyPr anchor="t" rtlCol="false"/>
                    <a:lstStyle/>
                    <a:p>
                      <a:pPr algn="ctr">
                        <a:lnSpc>
                          <a:spcPts val="3359"/>
                        </a:lnSpc>
                        <a:defRPr/>
                      </a:pPr>
                      <a:r>
                        <a:rPr lang="en-US" sz="2400">
                          <a:solidFill>
                            <a:srgbClr val="000000"/>
                          </a:solidFill>
                          <a:latin typeface="Open Sans"/>
                          <a:ea typeface="Open Sans"/>
                          <a:cs typeface="Open Sans"/>
                          <a:sym typeface="Open Sans"/>
                        </a:rPr>
                        <a:t>Back-end</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3359"/>
                        </a:lnSpc>
                        <a:defRPr/>
                      </a:pPr>
                      <a:r>
                        <a:rPr lang="en-US" sz="2400">
                          <a:solidFill>
                            <a:srgbClr val="000000"/>
                          </a:solidFill>
                          <a:latin typeface="Open Sans"/>
                          <a:ea typeface="Open Sans"/>
                          <a:cs typeface="Open Sans"/>
                          <a:sym typeface="Open Sans"/>
                        </a:rPr>
                        <a:t>ASP.NET Core Web API</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359"/>
                        </a:lnSpc>
                        <a:defRPr/>
                      </a:pPr>
                      <a:r>
                        <a:rPr lang="en-US" sz="2400">
                          <a:solidFill>
                            <a:srgbClr val="000000"/>
                          </a:solidFill>
                          <a:latin typeface="Open Sans"/>
                          <a:ea typeface="Open Sans"/>
                          <a:cs typeface="Open Sans"/>
                          <a:sym typeface="Open Sans"/>
                        </a:rPr>
                        <a:t>Nền tảng phát triển ứng dụng web đa nền tảng của Microsoft, hiệu năng cao, bảo mật tốt, hỗ trợ xây dựng RESTful API </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1306702">
                <a:tc vMerge="true">
                  <a:txBody>
                    <a:bodyPr anchor="t" rtlCol="false"/>
                    <a:lstStyle/>
                    <a:p>
                      <a:pPr algn="ctr">
                        <a:lnSpc>
                          <a:spcPts val="3359"/>
                        </a:lnSpc>
                        <a:defRPr/>
                      </a:pPr>
                      <a:r>
                        <a:rPr lang="en-US" sz="2400">
                          <a:solidFill>
                            <a:srgbClr val="000000"/>
                          </a:solidFill>
                          <a:latin typeface="Open Sans"/>
                          <a:ea typeface="Open Sans"/>
                          <a:cs typeface="Open Sans"/>
                          <a:sym typeface="Open Sans"/>
                        </a:rPr>
                        <a:t>2</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vMerge="true">
                  <a:txBody>
                    <a:bodyPr anchor="t" rtlCol="false"/>
                    <a:lstStyle/>
                    <a:p>
                      <a:pPr algn="ctr">
                        <a:lnSpc>
                          <a:spcPts val="3359"/>
                        </a:lnSpc>
                        <a:defRPr/>
                      </a:pPr>
                      <a:r>
                        <a:rPr lang="en-US" sz="2400">
                          <a:solidFill>
                            <a:srgbClr val="000000"/>
                          </a:solidFill>
                          <a:latin typeface="Open Sans"/>
                          <a:ea typeface="Open Sans"/>
                          <a:cs typeface="Open Sans"/>
                          <a:sym typeface="Open Sans"/>
                        </a:rPr>
                        <a:t>Back-end</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3359"/>
                        </a:lnSpc>
                        <a:defRPr/>
                      </a:pPr>
                      <a:r>
                        <a:rPr lang="en-US" sz="2400">
                          <a:solidFill>
                            <a:srgbClr val="000000"/>
                          </a:solidFill>
                          <a:latin typeface="Open Sans"/>
                          <a:ea typeface="Open Sans"/>
                          <a:cs typeface="Open Sans"/>
                          <a:sym typeface="Open Sans"/>
                        </a:rPr>
                        <a:t>Entity Framework Core</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359"/>
                        </a:lnSpc>
                        <a:defRPr/>
                      </a:pPr>
                      <a:r>
                        <a:rPr lang="en-US" sz="2400">
                          <a:solidFill>
                            <a:srgbClr val="000000"/>
                          </a:solidFill>
                          <a:latin typeface="Open Sans"/>
                          <a:ea typeface="Open Sans"/>
                          <a:cs typeface="Open Sans"/>
                          <a:sym typeface="Open Sans"/>
                        </a:rPr>
                        <a:t>Framework của Microsoft, giúp thao tác cơ sở dữ liệu bằng C# thay vì viết SQL trực tiếp.</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1726372">
                <a:tc vMerge="true">
                  <a:txBody>
                    <a:bodyPr anchor="t" rtlCol="false"/>
                    <a:lstStyle/>
                    <a:p>
                      <a:pPr algn="ctr">
                        <a:lnSpc>
                          <a:spcPts val="3359"/>
                        </a:lnSpc>
                        <a:defRPr/>
                      </a:pPr>
                      <a:r>
                        <a:rPr lang="en-US" sz="2400">
                          <a:solidFill>
                            <a:srgbClr val="000000"/>
                          </a:solidFill>
                          <a:latin typeface="Open Sans"/>
                          <a:ea typeface="Open Sans"/>
                          <a:cs typeface="Open Sans"/>
                          <a:sym typeface="Open Sans"/>
                        </a:rPr>
                        <a:t>2</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vMerge="true">
                  <a:txBody>
                    <a:bodyPr anchor="t" rtlCol="false"/>
                    <a:lstStyle/>
                    <a:p>
                      <a:pPr algn="ctr">
                        <a:lnSpc>
                          <a:spcPts val="3359"/>
                        </a:lnSpc>
                        <a:defRPr/>
                      </a:pPr>
                      <a:r>
                        <a:rPr lang="en-US" sz="2400">
                          <a:solidFill>
                            <a:srgbClr val="000000"/>
                          </a:solidFill>
                          <a:latin typeface="Open Sans"/>
                          <a:ea typeface="Open Sans"/>
                          <a:cs typeface="Open Sans"/>
                          <a:sym typeface="Open Sans"/>
                        </a:rPr>
                        <a:t>Back-end</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3359"/>
                        </a:lnSpc>
                        <a:defRPr/>
                      </a:pPr>
                      <a:r>
                        <a:rPr lang="en-US" sz="2400">
                          <a:solidFill>
                            <a:srgbClr val="000000"/>
                          </a:solidFill>
                          <a:latin typeface="Open Sans"/>
                          <a:ea typeface="Open Sans"/>
                          <a:cs typeface="Open Sans"/>
                          <a:sym typeface="Open Sans"/>
                        </a:rPr>
                        <a:t>MediatR</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359"/>
                        </a:lnSpc>
                        <a:defRPr/>
                      </a:pPr>
                      <a:r>
                        <a:rPr lang="en-US" sz="2400">
                          <a:solidFill>
                            <a:srgbClr val="000000"/>
                          </a:solidFill>
                          <a:latin typeface="Open Sans"/>
                          <a:ea typeface="Open Sans"/>
                          <a:cs typeface="Open Sans"/>
                          <a:sym typeface="Open Sans"/>
                        </a:rPr>
                        <a:t>Thư viện .NET triển khai mẫu thiết kế Mediator Pattern, giúp giảm sự phụ thuộc giữa các thành phần trong ứng dụng và tối ưu luồng xử lý request/response.</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1306702">
                <a:tc vMerge="true">
                  <a:txBody>
                    <a:bodyPr anchor="t" rtlCol="false"/>
                    <a:lstStyle/>
                    <a:p>
                      <a:pPr algn="ctr">
                        <a:lnSpc>
                          <a:spcPts val="3359"/>
                        </a:lnSpc>
                        <a:defRPr/>
                      </a:pPr>
                      <a:r>
                        <a:rPr lang="en-US" sz="2400">
                          <a:solidFill>
                            <a:srgbClr val="000000"/>
                          </a:solidFill>
                          <a:latin typeface="Open Sans"/>
                          <a:ea typeface="Open Sans"/>
                          <a:cs typeface="Open Sans"/>
                          <a:sym typeface="Open Sans"/>
                        </a:rPr>
                        <a:t>2</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vMerge="true">
                  <a:txBody>
                    <a:bodyPr anchor="t" rtlCol="false"/>
                    <a:lstStyle/>
                    <a:p>
                      <a:pPr algn="ctr">
                        <a:lnSpc>
                          <a:spcPts val="3359"/>
                        </a:lnSpc>
                        <a:defRPr/>
                      </a:pPr>
                      <a:r>
                        <a:rPr lang="en-US" sz="2400">
                          <a:solidFill>
                            <a:srgbClr val="000000"/>
                          </a:solidFill>
                          <a:latin typeface="Open Sans"/>
                          <a:ea typeface="Open Sans"/>
                          <a:cs typeface="Open Sans"/>
                          <a:sym typeface="Open Sans"/>
                        </a:rPr>
                        <a:t>Back-end</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3359"/>
                        </a:lnSpc>
                        <a:defRPr/>
                      </a:pPr>
                      <a:r>
                        <a:rPr lang="en-US" sz="2400">
                          <a:solidFill>
                            <a:srgbClr val="000000"/>
                          </a:solidFill>
                          <a:latin typeface="Open Sans"/>
                          <a:ea typeface="Open Sans"/>
                          <a:cs typeface="Open Sans"/>
                          <a:sym typeface="Open Sans"/>
                        </a:rPr>
                        <a:t>JWT</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359"/>
                        </a:lnSpc>
                        <a:defRPr/>
                      </a:pPr>
                      <a:r>
                        <a:rPr lang="en-US" sz="2400">
                          <a:solidFill>
                            <a:srgbClr val="000000"/>
                          </a:solidFill>
                          <a:latin typeface="Open Sans"/>
                          <a:ea typeface="Open Sans"/>
                          <a:cs typeface="Open Sans"/>
                          <a:sym typeface="Open Sans"/>
                        </a:rPr>
                        <a:t>Cơ chế xác thực dựa trên chuẩn JSON Web Token (JWT), giúp bảo mật API bằng cách mã hóa.</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bl>
          </a:graphicData>
        </a:graphic>
      </p:graphicFrame>
      <p:sp>
        <p:nvSpPr>
          <p:cNvPr name="TextBox 6" id="6"/>
          <p:cNvSpPr txBox="true"/>
          <p:nvPr/>
        </p:nvSpPr>
        <p:spPr>
          <a:xfrm rot="0">
            <a:off x="763112" y="9369641"/>
            <a:ext cx="12119638" cy="409575"/>
          </a:xfrm>
          <a:prstGeom prst="rect">
            <a:avLst/>
          </a:prstGeom>
        </p:spPr>
        <p:txBody>
          <a:bodyPr anchor="t" rtlCol="false" tIns="0" lIns="0" bIns="0" rIns="0">
            <a:spAutoFit/>
          </a:bodyPr>
          <a:lstStyle/>
          <a:p>
            <a:pPr algn="l" marL="0" indent="0" lvl="0">
              <a:lnSpc>
                <a:spcPts val="3120"/>
              </a:lnSpc>
              <a:spcBef>
                <a:spcPct val="0"/>
              </a:spcBef>
            </a:pPr>
            <a:r>
              <a:rPr lang="en-US" b="true" sz="2600" spc="72" strike="noStrike" u="none">
                <a:solidFill>
                  <a:srgbClr val="00618A"/>
                </a:solidFill>
                <a:latin typeface="Arimo Bold"/>
                <a:ea typeface="Arimo Bold"/>
                <a:cs typeface="Arimo Bold"/>
                <a:sym typeface="Arimo Bold"/>
              </a:rPr>
              <a:t>XÂY DỰNG HỆ THỐNG TẠO VÀ ĐÁNH GIÁ</a:t>
            </a:r>
            <a:r>
              <a:rPr lang="en-US" b="true" sz="2600" spc="72" strike="noStrike" u="none">
                <a:solidFill>
                  <a:srgbClr val="00618A"/>
                </a:solidFill>
                <a:latin typeface="Arimo Bold"/>
                <a:ea typeface="Arimo Bold"/>
                <a:cs typeface="Arimo Bold"/>
                <a:sym typeface="Arimo Bold"/>
              </a:rPr>
              <a:t> HỒ SƠ XIN VIỆC TÍCH HỢP AI</a:t>
            </a:r>
          </a:p>
        </p:txBody>
      </p:sp>
      <p:sp>
        <p:nvSpPr>
          <p:cNvPr name="TextBox 7" id="7"/>
          <p:cNvSpPr txBox="true"/>
          <p:nvPr/>
        </p:nvSpPr>
        <p:spPr>
          <a:xfrm rot="0">
            <a:off x="1041536" y="688092"/>
            <a:ext cx="7195576" cy="438150"/>
          </a:xfrm>
          <a:prstGeom prst="rect">
            <a:avLst/>
          </a:prstGeom>
        </p:spPr>
        <p:txBody>
          <a:bodyPr anchor="t" rtlCol="false" tIns="0" lIns="0" bIns="0" rIns="0">
            <a:spAutoFit/>
          </a:bodyPr>
          <a:lstStyle/>
          <a:p>
            <a:pPr algn="l" marL="0" indent="0" lvl="0">
              <a:lnSpc>
                <a:spcPts val="3359"/>
              </a:lnSpc>
              <a:spcBef>
                <a:spcPct val="0"/>
              </a:spcBef>
            </a:pPr>
            <a:r>
              <a:rPr lang="en-US" sz="2799" i="true" spc="77">
                <a:solidFill>
                  <a:srgbClr val="00618A"/>
                </a:solidFill>
                <a:latin typeface="Arimo Italics"/>
                <a:ea typeface="Arimo Italics"/>
                <a:cs typeface="Arimo Italics"/>
                <a:sym typeface="Arimo Italics"/>
              </a:rPr>
              <a:t>4. Cài đặt hệ thống và kết quả thử nghiệm </a:t>
            </a:r>
          </a:p>
        </p:txBody>
      </p:sp>
      <p:sp>
        <p:nvSpPr>
          <p:cNvPr name="TextBox 8" id="8"/>
          <p:cNvSpPr txBox="true"/>
          <p:nvPr/>
        </p:nvSpPr>
        <p:spPr>
          <a:xfrm rot="0">
            <a:off x="1041536" y="1078617"/>
            <a:ext cx="6067738" cy="438150"/>
          </a:xfrm>
          <a:prstGeom prst="rect">
            <a:avLst/>
          </a:prstGeom>
        </p:spPr>
        <p:txBody>
          <a:bodyPr anchor="t" rtlCol="false" tIns="0" lIns="0" bIns="0" rIns="0">
            <a:spAutoFit/>
          </a:bodyPr>
          <a:lstStyle/>
          <a:p>
            <a:pPr algn="l" marL="0" indent="0" lvl="0">
              <a:lnSpc>
                <a:spcPts val="3359"/>
              </a:lnSpc>
              <a:spcBef>
                <a:spcPct val="0"/>
              </a:spcBef>
            </a:pPr>
            <a:r>
              <a:rPr lang="en-US" b="true" sz="2799" spc="77">
                <a:solidFill>
                  <a:srgbClr val="00618A"/>
                </a:solidFill>
                <a:latin typeface="Arimo Bold"/>
                <a:ea typeface="Arimo Bold"/>
                <a:cs typeface="Arimo Bold"/>
                <a:sym typeface="Arimo Bold"/>
              </a:rPr>
              <a:t>Lựa chọn công nghệ</a:t>
            </a:r>
          </a:p>
        </p:txBody>
      </p:sp>
      <p:sp>
        <p:nvSpPr>
          <p:cNvPr name="TextBox 9" id="9"/>
          <p:cNvSpPr txBox="true"/>
          <p:nvPr/>
        </p:nvSpPr>
        <p:spPr>
          <a:xfrm rot="0">
            <a:off x="16976359" y="9369641"/>
            <a:ext cx="528883" cy="409575"/>
          </a:xfrm>
          <a:prstGeom prst="rect">
            <a:avLst/>
          </a:prstGeom>
        </p:spPr>
        <p:txBody>
          <a:bodyPr anchor="t" rtlCol="false" tIns="0" lIns="0" bIns="0" rIns="0">
            <a:spAutoFit/>
          </a:bodyPr>
          <a:lstStyle/>
          <a:p>
            <a:pPr algn="r" marL="0" indent="0" lvl="0">
              <a:lnSpc>
                <a:spcPts val="3120"/>
              </a:lnSpc>
              <a:spcBef>
                <a:spcPct val="0"/>
              </a:spcBef>
            </a:pPr>
            <a:r>
              <a:rPr lang="en-US" b="true" sz="2600" spc="72">
                <a:solidFill>
                  <a:srgbClr val="00618A"/>
                </a:solidFill>
                <a:latin typeface="Arimo Bold"/>
                <a:ea typeface="Arimo Bold"/>
                <a:cs typeface="Arimo Bold"/>
                <a:sym typeface="Arimo Bold"/>
              </a:rPr>
              <a:t>20</a:t>
            </a:r>
          </a:p>
        </p:txBody>
      </p:sp>
    </p:spTree>
  </p:cSld>
  <p:clrMapOvr>
    <a:masterClrMapping/>
  </p:clrMapOvr>
  <p:transition spd="fast">
    <p:fade/>
  </p:transition>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705967" y="9253538"/>
            <a:ext cx="16872456" cy="4762"/>
          </a:xfrm>
          <a:prstGeom prst="line">
            <a:avLst/>
          </a:prstGeom>
          <a:ln cap="rnd" w="19050">
            <a:solidFill>
              <a:srgbClr val="4BADD6"/>
            </a:solidFill>
            <a:prstDash val="solid"/>
            <a:headEnd type="none" len="sm" w="sm"/>
            <a:tailEnd type="none" len="sm" w="sm"/>
          </a:ln>
        </p:spPr>
      </p:sp>
      <p:sp>
        <p:nvSpPr>
          <p:cNvPr name="AutoShape 3" id="3"/>
          <p:cNvSpPr/>
          <p:nvPr/>
        </p:nvSpPr>
        <p:spPr>
          <a:xfrm flipH="true">
            <a:off x="763112" y="716667"/>
            <a:ext cx="0" cy="771525"/>
          </a:xfrm>
          <a:prstGeom prst="line">
            <a:avLst/>
          </a:prstGeom>
          <a:ln cap="rnd" w="114300">
            <a:solidFill>
              <a:srgbClr val="075985">
                <a:alpha val="46667"/>
              </a:srgbClr>
            </a:solidFill>
            <a:prstDash val="solid"/>
            <a:headEnd type="none" len="sm" w="sm"/>
            <a:tailEnd type="none" len="sm" w="sm"/>
          </a:ln>
        </p:spPr>
      </p:sp>
      <p:sp>
        <p:nvSpPr>
          <p:cNvPr name="Freeform 4" id="4"/>
          <p:cNvSpPr/>
          <p:nvPr/>
        </p:nvSpPr>
        <p:spPr>
          <a:xfrm flipH="false" flipV="false" rot="0">
            <a:off x="16713285" y="707142"/>
            <a:ext cx="865138" cy="854186"/>
          </a:xfrm>
          <a:custGeom>
            <a:avLst/>
            <a:gdLst/>
            <a:ahLst/>
            <a:cxnLst/>
            <a:rect r="r" b="b" t="t" l="l"/>
            <a:pathLst>
              <a:path h="854186" w="865138">
                <a:moveTo>
                  <a:pt x="0" y="0"/>
                </a:moveTo>
                <a:lnTo>
                  <a:pt x="865138" y="0"/>
                </a:lnTo>
                <a:lnTo>
                  <a:pt x="865138" y="854186"/>
                </a:lnTo>
                <a:lnTo>
                  <a:pt x="0" y="854186"/>
                </a:lnTo>
                <a:lnTo>
                  <a:pt x="0" y="0"/>
                </a:lnTo>
                <a:close/>
              </a:path>
            </a:pathLst>
          </a:custGeom>
          <a:blipFill>
            <a:blip r:embed="rId2"/>
            <a:stretch>
              <a:fillRect l="0" t="0" r="0" b="0"/>
            </a:stretch>
          </a:blipFill>
        </p:spPr>
      </p:sp>
      <p:graphicFrame>
        <p:nvGraphicFramePr>
          <p:cNvPr name="Table 5" id="5"/>
          <p:cNvGraphicFramePr>
            <a:graphicFrameLocks noGrp="true"/>
          </p:cNvGraphicFramePr>
          <p:nvPr/>
        </p:nvGraphicFramePr>
        <p:xfrm>
          <a:off x="763112" y="2946734"/>
          <a:ext cx="16760879" cy="4393532"/>
        </p:xfrm>
        <a:graphic>
          <a:graphicData uri="http://schemas.openxmlformats.org/drawingml/2006/table">
            <a:tbl>
              <a:tblPr/>
              <a:tblGrid>
                <a:gridCol w="1092001"/>
                <a:gridCol w="2608924"/>
                <a:gridCol w="4416763"/>
                <a:gridCol w="8643191"/>
              </a:tblGrid>
              <a:tr h="940467">
                <a:tc>
                  <a:txBody>
                    <a:bodyPr anchor="t" rtlCol="false"/>
                    <a:lstStyle/>
                    <a:p>
                      <a:pPr algn="ctr">
                        <a:lnSpc>
                          <a:spcPts val="3359"/>
                        </a:lnSpc>
                        <a:defRPr/>
                      </a:pPr>
                      <a:r>
                        <a:rPr lang="en-US" sz="2400">
                          <a:solidFill>
                            <a:srgbClr val="FFFFFF"/>
                          </a:solidFill>
                          <a:latin typeface="Open Sans"/>
                          <a:ea typeface="Open Sans"/>
                          <a:cs typeface="Open Sans"/>
                          <a:sym typeface="Open Sans"/>
                        </a:rPr>
                        <a:t>#</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2FA9DC"/>
                    </a:solidFill>
                  </a:tcPr>
                </a:tc>
                <a:tc>
                  <a:txBody>
                    <a:bodyPr anchor="t" rtlCol="false"/>
                    <a:lstStyle/>
                    <a:p>
                      <a:pPr algn="ctr">
                        <a:lnSpc>
                          <a:spcPts val="3359"/>
                        </a:lnSpc>
                        <a:defRPr/>
                      </a:pPr>
                      <a:r>
                        <a:rPr lang="en-US" b="true" sz="2400">
                          <a:solidFill>
                            <a:srgbClr val="FFFFFF"/>
                          </a:solidFill>
                          <a:latin typeface="Open Sans Bold"/>
                          <a:ea typeface="Open Sans Bold"/>
                          <a:cs typeface="Open Sans Bold"/>
                          <a:sym typeface="Open Sans Bold"/>
                        </a:rPr>
                        <a:t>Module</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2FA9DC"/>
                    </a:solidFill>
                  </a:tcPr>
                </a:tc>
                <a:tc>
                  <a:txBody>
                    <a:bodyPr anchor="t" rtlCol="false"/>
                    <a:lstStyle/>
                    <a:p>
                      <a:pPr algn="ctr">
                        <a:lnSpc>
                          <a:spcPts val="3359"/>
                        </a:lnSpc>
                        <a:defRPr/>
                      </a:pPr>
                      <a:r>
                        <a:rPr lang="en-US" b="true" sz="2400">
                          <a:solidFill>
                            <a:srgbClr val="FFFFFF"/>
                          </a:solidFill>
                          <a:latin typeface="Open Sans Bold"/>
                          <a:ea typeface="Open Sans Bold"/>
                          <a:cs typeface="Open Sans Bold"/>
                          <a:sym typeface="Open Sans Bold"/>
                        </a:rPr>
                        <a:t>Công nghệ/Giải pháp</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2FA9DC"/>
                    </a:solidFill>
                  </a:tcPr>
                </a:tc>
                <a:tc>
                  <a:txBody>
                    <a:bodyPr anchor="t" rtlCol="false"/>
                    <a:lstStyle/>
                    <a:p>
                      <a:pPr algn="ctr">
                        <a:lnSpc>
                          <a:spcPts val="3359"/>
                        </a:lnSpc>
                        <a:defRPr/>
                      </a:pPr>
                      <a:r>
                        <a:rPr lang="en-US" b="true" sz="2400">
                          <a:solidFill>
                            <a:srgbClr val="FFFFFF"/>
                          </a:solidFill>
                          <a:latin typeface="Open Sans Bold"/>
                          <a:ea typeface="Open Sans Bold"/>
                          <a:cs typeface="Open Sans Bold"/>
                          <a:sym typeface="Open Sans Bold"/>
                        </a:rPr>
                        <a:t>Diễn giải</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2FA9DC"/>
                    </a:solidFill>
                  </a:tcPr>
                </a:tc>
              </a:tr>
              <a:tr h="1725295">
                <a:tc>
                  <a:txBody>
                    <a:bodyPr anchor="t" rtlCol="false"/>
                    <a:lstStyle/>
                    <a:p>
                      <a:pPr algn="ctr">
                        <a:lnSpc>
                          <a:spcPts val="3359"/>
                        </a:lnSpc>
                        <a:defRPr/>
                      </a:pPr>
                      <a:r>
                        <a:rPr lang="en-US" sz="2400">
                          <a:solidFill>
                            <a:srgbClr val="000000"/>
                          </a:solidFill>
                          <a:latin typeface="Open Sans"/>
                          <a:ea typeface="Open Sans"/>
                          <a:cs typeface="Open Sans"/>
                          <a:sym typeface="Open Sans"/>
                        </a:rPr>
                        <a:t>3</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3359"/>
                        </a:lnSpc>
                        <a:defRPr/>
                      </a:pPr>
                      <a:r>
                        <a:rPr lang="en-US" sz="2400">
                          <a:solidFill>
                            <a:srgbClr val="000000"/>
                          </a:solidFill>
                          <a:latin typeface="Open Sans"/>
                          <a:ea typeface="Open Sans"/>
                          <a:cs typeface="Open Sans"/>
                          <a:sym typeface="Open Sans"/>
                        </a:rPr>
                        <a:t>Database</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3359"/>
                        </a:lnSpc>
                        <a:defRPr/>
                      </a:pPr>
                      <a:r>
                        <a:rPr lang="en-US" sz="2400">
                          <a:solidFill>
                            <a:srgbClr val="000000"/>
                          </a:solidFill>
                          <a:latin typeface="Open Sans"/>
                          <a:ea typeface="Open Sans"/>
                          <a:cs typeface="Open Sans"/>
                          <a:sym typeface="Open Sans"/>
                        </a:rPr>
                        <a:t>MongoDB</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359"/>
                        </a:lnSpc>
                        <a:defRPr/>
                      </a:pPr>
                      <a:r>
                        <a:rPr lang="en-US" sz="2400">
                          <a:solidFill>
                            <a:srgbClr val="000000"/>
                          </a:solidFill>
                          <a:latin typeface="Open Sans"/>
                          <a:ea typeface="Open Sans"/>
                          <a:cs typeface="Open Sans"/>
                          <a:sym typeface="Open Sans"/>
                        </a:rPr>
                        <a:t>Hệ quản trị cơ sở dữ liệu NoSQL dạng tài liệu (document), lưu trữ dữ liệu dưới dạng BSON, linh hoạt và dễ mở rộng.</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1727771">
                <a:tc>
                  <a:txBody>
                    <a:bodyPr anchor="t" rtlCol="false"/>
                    <a:lstStyle/>
                    <a:p>
                      <a:pPr algn="ctr">
                        <a:lnSpc>
                          <a:spcPts val="3359"/>
                        </a:lnSpc>
                        <a:defRPr/>
                      </a:pPr>
                      <a:r>
                        <a:rPr lang="en-US" sz="2400">
                          <a:solidFill>
                            <a:srgbClr val="000000"/>
                          </a:solidFill>
                          <a:latin typeface="Open Sans"/>
                          <a:ea typeface="Open Sans"/>
                          <a:cs typeface="Open Sans"/>
                          <a:sym typeface="Open Sans"/>
                        </a:rPr>
                        <a:t>4</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3359"/>
                        </a:lnSpc>
                        <a:defRPr/>
                      </a:pPr>
                      <a:r>
                        <a:rPr lang="en-US" sz="2400">
                          <a:solidFill>
                            <a:srgbClr val="000000"/>
                          </a:solidFill>
                          <a:latin typeface="Open Sans"/>
                          <a:ea typeface="Open Sans"/>
                          <a:cs typeface="Open Sans"/>
                          <a:sym typeface="Open Sans"/>
                        </a:rPr>
                        <a:t>LLM</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3359"/>
                        </a:lnSpc>
                        <a:defRPr/>
                      </a:pPr>
                      <a:r>
                        <a:rPr lang="en-US" sz="2400">
                          <a:solidFill>
                            <a:srgbClr val="000000"/>
                          </a:solidFill>
                          <a:latin typeface="Open Sans"/>
                          <a:ea typeface="Open Sans"/>
                          <a:cs typeface="Open Sans"/>
                          <a:sym typeface="Open Sans"/>
                        </a:rPr>
                        <a:t>Gemini</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359"/>
                        </a:lnSpc>
                        <a:defRPr/>
                      </a:pPr>
                      <a:r>
                        <a:rPr lang="en-US" sz="2400">
                          <a:solidFill>
                            <a:srgbClr val="000000"/>
                          </a:solidFill>
                          <a:latin typeface="Open Sans"/>
                          <a:ea typeface="Open Sans"/>
                          <a:cs typeface="Open Sans"/>
                          <a:sym typeface="Open Sans"/>
                        </a:rPr>
                        <a:t>Mô hình ngôn ngữ lớn được cung cấp miễn phí bởi Google, cho phép tương tác và tạo sinh thông qua Gemini API</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bl>
          </a:graphicData>
        </a:graphic>
      </p:graphicFrame>
      <p:sp>
        <p:nvSpPr>
          <p:cNvPr name="TextBox 6" id="6"/>
          <p:cNvSpPr txBox="true"/>
          <p:nvPr/>
        </p:nvSpPr>
        <p:spPr>
          <a:xfrm rot="0">
            <a:off x="763112" y="9369641"/>
            <a:ext cx="12119638" cy="409575"/>
          </a:xfrm>
          <a:prstGeom prst="rect">
            <a:avLst/>
          </a:prstGeom>
        </p:spPr>
        <p:txBody>
          <a:bodyPr anchor="t" rtlCol="false" tIns="0" lIns="0" bIns="0" rIns="0">
            <a:spAutoFit/>
          </a:bodyPr>
          <a:lstStyle/>
          <a:p>
            <a:pPr algn="l" marL="0" indent="0" lvl="0">
              <a:lnSpc>
                <a:spcPts val="3120"/>
              </a:lnSpc>
              <a:spcBef>
                <a:spcPct val="0"/>
              </a:spcBef>
            </a:pPr>
            <a:r>
              <a:rPr lang="en-US" b="true" sz="2600" spc="72" strike="noStrike" u="none">
                <a:solidFill>
                  <a:srgbClr val="00618A"/>
                </a:solidFill>
                <a:latin typeface="Arimo Bold"/>
                <a:ea typeface="Arimo Bold"/>
                <a:cs typeface="Arimo Bold"/>
                <a:sym typeface="Arimo Bold"/>
              </a:rPr>
              <a:t>XÂY DỰNG HỆ THỐNG TẠO VÀ ĐÁNH GIÁ</a:t>
            </a:r>
            <a:r>
              <a:rPr lang="en-US" b="true" sz="2600" spc="72" strike="noStrike" u="none">
                <a:solidFill>
                  <a:srgbClr val="00618A"/>
                </a:solidFill>
                <a:latin typeface="Arimo Bold"/>
                <a:ea typeface="Arimo Bold"/>
                <a:cs typeface="Arimo Bold"/>
                <a:sym typeface="Arimo Bold"/>
              </a:rPr>
              <a:t> HỒ SƠ XIN VIỆC TÍCH HỢP AI</a:t>
            </a:r>
          </a:p>
        </p:txBody>
      </p:sp>
      <p:sp>
        <p:nvSpPr>
          <p:cNvPr name="TextBox 7" id="7"/>
          <p:cNvSpPr txBox="true"/>
          <p:nvPr/>
        </p:nvSpPr>
        <p:spPr>
          <a:xfrm rot="0">
            <a:off x="1041536" y="688092"/>
            <a:ext cx="7195576" cy="438150"/>
          </a:xfrm>
          <a:prstGeom prst="rect">
            <a:avLst/>
          </a:prstGeom>
        </p:spPr>
        <p:txBody>
          <a:bodyPr anchor="t" rtlCol="false" tIns="0" lIns="0" bIns="0" rIns="0">
            <a:spAutoFit/>
          </a:bodyPr>
          <a:lstStyle/>
          <a:p>
            <a:pPr algn="l" marL="0" indent="0" lvl="0">
              <a:lnSpc>
                <a:spcPts val="3359"/>
              </a:lnSpc>
              <a:spcBef>
                <a:spcPct val="0"/>
              </a:spcBef>
            </a:pPr>
            <a:r>
              <a:rPr lang="en-US" sz="2799" i="true" spc="77">
                <a:solidFill>
                  <a:srgbClr val="00618A"/>
                </a:solidFill>
                <a:latin typeface="Arimo Italics"/>
                <a:ea typeface="Arimo Italics"/>
                <a:cs typeface="Arimo Italics"/>
                <a:sym typeface="Arimo Italics"/>
              </a:rPr>
              <a:t>4. Cài đặt hệ thống và kết quả thử nghiệm </a:t>
            </a:r>
          </a:p>
        </p:txBody>
      </p:sp>
      <p:sp>
        <p:nvSpPr>
          <p:cNvPr name="TextBox 8" id="8"/>
          <p:cNvSpPr txBox="true"/>
          <p:nvPr/>
        </p:nvSpPr>
        <p:spPr>
          <a:xfrm rot="0">
            <a:off x="1041536" y="1078617"/>
            <a:ext cx="6067738" cy="438150"/>
          </a:xfrm>
          <a:prstGeom prst="rect">
            <a:avLst/>
          </a:prstGeom>
        </p:spPr>
        <p:txBody>
          <a:bodyPr anchor="t" rtlCol="false" tIns="0" lIns="0" bIns="0" rIns="0">
            <a:spAutoFit/>
          </a:bodyPr>
          <a:lstStyle/>
          <a:p>
            <a:pPr algn="l" marL="0" indent="0" lvl="0">
              <a:lnSpc>
                <a:spcPts val="3359"/>
              </a:lnSpc>
              <a:spcBef>
                <a:spcPct val="0"/>
              </a:spcBef>
            </a:pPr>
            <a:r>
              <a:rPr lang="en-US" b="true" sz="2799" spc="77">
                <a:solidFill>
                  <a:srgbClr val="00618A"/>
                </a:solidFill>
                <a:latin typeface="Arimo Bold"/>
                <a:ea typeface="Arimo Bold"/>
                <a:cs typeface="Arimo Bold"/>
                <a:sym typeface="Arimo Bold"/>
              </a:rPr>
              <a:t>Lựa chọn công nghệ</a:t>
            </a:r>
          </a:p>
        </p:txBody>
      </p:sp>
      <p:sp>
        <p:nvSpPr>
          <p:cNvPr name="TextBox 9" id="9"/>
          <p:cNvSpPr txBox="true"/>
          <p:nvPr/>
        </p:nvSpPr>
        <p:spPr>
          <a:xfrm rot="0">
            <a:off x="16976359" y="9369641"/>
            <a:ext cx="528883" cy="409575"/>
          </a:xfrm>
          <a:prstGeom prst="rect">
            <a:avLst/>
          </a:prstGeom>
        </p:spPr>
        <p:txBody>
          <a:bodyPr anchor="t" rtlCol="false" tIns="0" lIns="0" bIns="0" rIns="0">
            <a:spAutoFit/>
          </a:bodyPr>
          <a:lstStyle/>
          <a:p>
            <a:pPr algn="r" marL="0" indent="0" lvl="0">
              <a:lnSpc>
                <a:spcPts val="3120"/>
              </a:lnSpc>
              <a:spcBef>
                <a:spcPct val="0"/>
              </a:spcBef>
            </a:pPr>
            <a:r>
              <a:rPr lang="en-US" b="true" sz="2600" spc="72">
                <a:solidFill>
                  <a:srgbClr val="00618A"/>
                </a:solidFill>
                <a:latin typeface="Arimo Bold"/>
                <a:ea typeface="Arimo Bold"/>
                <a:cs typeface="Arimo Bold"/>
                <a:sym typeface="Arimo Bold"/>
              </a:rPr>
              <a:t>21</a:t>
            </a:r>
          </a:p>
        </p:txBody>
      </p:sp>
    </p:spTree>
  </p:cSld>
  <p:clrMapOvr>
    <a:masterClrMapping/>
  </p:clrMapOvr>
  <p:transition spd="fast">
    <p:fade/>
  </p:transition>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705967" y="9253538"/>
            <a:ext cx="16872456" cy="4762"/>
          </a:xfrm>
          <a:prstGeom prst="line">
            <a:avLst/>
          </a:prstGeom>
          <a:ln cap="rnd" w="19050">
            <a:solidFill>
              <a:srgbClr val="4BADD6"/>
            </a:solidFill>
            <a:prstDash val="solid"/>
            <a:headEnd type="none" len="sm" w="sm"/>
            <a:tailEnd type="none" len="sm" w="sm"/>
          </a:ln>
        </p:spPr>
      </p:sp>
      <p:sp>
        <p:nvSpPr>
          <p:cNvPr name="AutoShape 3" id="3"/>
          <p:cNvSpPr/>
          <p:nvPr/>
        </p:nvSpPr>
        <p:spPr>
          <a:xfrm flipH="true">
            <a:off x="763112" y="716667"/>
            <a:ext cx="0" cy="771525"/>
          </a:xfrm>
          <a:prstGeom prst="line">
            <a:avLst/>
          </a:prstGeom>
          <a:ln cap="rnd" w="114300">
            <a:solidFill>
              <a:srgbClr val="075985">
                <a:alpha val="46667"/>
              </a:srgbClr>
            </a:solidFill>
            <a:prstDash val="solid"/>
            <a:headEnd type="none" len="sm" w="sm"/>
            <a:tailEnd type="none" len="sm" w="sm"/>
          </a:ln>
        </p:spPr>
      </p:sp>
      <p:sp>
        <p:nvSpPr>
          <p:cNvPr name="Freeform 4" id="4"/>
          <p:cNvSpPr/>
          <p:nvPr/>
        </p:nvSpPr>
        <p:spPr>
          <a:xfrm flipH="false" flipV="false" rot="0">
            <a:off x="16713285" y="707142"/>
            <a:ext cx="865138" cy="854186"/>
          </a:xfrm>
          <a:custGeom>
            <a:avLst/>
            <a:gdLst/>
            <a:ahLst/>
            <a:cxnLst/>
            <a:rect r="r" b="b" t="t" l="l"/>
            <a:pathLst>
              <a:path h="854186" w="865138">
                <a:moveTo>
                  <a:pt x="0" y="0"/>
                </a:moveTo>
                <a:lnTo>
                  <a:pt x="865138" y="0"/>
                </a:lnTo>
                <a:lnTo>
                  <a:pt x="865138" y="854186"/>
                </a:lnTo>
                <a:lnTo>
                  <a:pt x="0" y="854186"/>
                </a:lnTo>
                <a:lnTo>
                  <a:pt x="0" y="0"/>
                </a:lnTo>
                <a:close/>
              </a:path>
            </a:pathLst>
          </a:custGeom>
          <a:blipFill>
            <a:blip r:embed="rId2"/>
            <a:stretch>
              <a:fillRect l="0" t="0" r="0" b="0"/>
            </a:stretch>
          </a:blipFill>
        </p:spPr>
      </p:sp>
      <p:sp>
        <p:nvSpPr>
          <p:cNvPr name="Freeform 5" id="5"/>
          <p:cNvSpPr/>
          <p:nvPr/>
        </p:nvSpPr>
        <p:spPr>
          <a:xfrm flipH="false" flipV="false" rot="0">
            <a:off x="1310317" y="2052699"/>
            <a:ext cx="4328697" cy="6264856"/>
          </a:xfrm>
          <a:custGeom>
            <a:avLst/>
            <a:gdLst/>
            <a:ahLst/>
            <a:cxnLst/>
            <a:rect r="r" b="b" t="t" l="l"/>
            <a:pathLst>
              <a:path h="6264856" w="4328697">
                <a:moveTo>
                  <a:pt x="0" y="0"/>
                </a:moveTo>
                <a:lnTo>
                  <a:pt x="4328697" y="0"/>
                </a:lnTo>
                <a:lnTo>
                  <a:pt x="4328697" y="6264856"/>
                </a:lnTo>
                <a:lnTo>
                  <a:pt x="0" y="6264856"/>
                </a:lnTo>
                <a:lnTo>
                  <a:pt x="0" y="0"/>
                </a:lnTo>
                <a:close/>
              </a:path>
            </a:pathLst>
          </a:custGeom>
          <a:blipFill>
            <a:blip r:embed="rId3"/>
            <a:stretch>
              <a:fillRect l="0" t="0" r="0" b="0"/>
            </a:stretch>
          </a:blipFill>
        </p:spPr>
      </p:sp>
      <p:sp>
        <p:nvSpPr>
          <p:cNvPr name="TextBox 6" id="6"/>
          <p:cNvSpPr txBox="true"/>
          <p:nvPr/>
        </p:nvSpPr>
        <p:spPr>
          <a:xfrm rot="0">
            <a:off x="763112" y="9369641"/>
            <a:ext cx="12119638" cy="409575"/>
          </a:xfrm>
          <a:prstGeom prst="rect">
            <a:avLst/>
          </a:prstGeom>
        </p:spPr>
        <p:txBody>
          <a:bodyPr anchor="t" rtlCol="false" tIns="0" lIns="0" bIns="0" rIns="0">
            <a:spAutoFit/>
          </a:bodyPr>
          <a:lstStyle/>
          <a:p>
            <a:pPr algn="l" marL="0" indent="0" lvl="0">
              <a:lnSpc>
                <a:spcPts val="3120"/>
              </a:lnSpc>
              <a:spcBef>
                <a:spcPct val="0"/>
              </a:spcBef>
            </a:pPr>
            <a:r>
              <a:rPr lang="en-US" b="true" sz="2600" spc="72" strike="noStrike" u="none">
                <a:solidFill>
                  <a:srgbClr val="00618A"/>
                </a:solidFill>
                <a:latin typeface="Arimo Bold"/>
                <a:ea typeface="Arimo Bold"/>
                <a:cs typeface="Arimo Bold"/>
                <a:sym typeface="Arimo Bold"/>
              </a:rPr>
              <a:t>XÂY DỰNG HỆ THỐNG TẠO VÀ ĐÁNH GIÁ</a:t>
            </a:r>
            <a:r>
              <a:rPr lang="en-US" b="true" sz="2600" spc="72" strike="noStrike" u="none">
                <a:solidFill>
                  <a:srgbClr val="00618A"/>
                </a:solidFill>
                <a:latin typeface="Arimo Bold"/>
                <a:ea typeface="Arimo Bold"/>
                <a:cs typeface="Arimo Bold"/>
                <a:sym typeface="Arimo Bold"/>
              </a:rPr>
              <a:t> HỒ SƠ XIN VIỆC TÍCH HỢP AI</a:t>
            </a:r>
          </a:p>
        </p:txBody>
      </p:sp>
      <p:sp>
        <p:nvSpPr>
          <p:cNvPr name="TextBox 7" id="7"/>
          <p:cNvSpPr txBox="true"/>
          <p:nvPr/>
        </p:nvSpPr>
        <p:spPr>
          <a:xfrm rot="0">
            <a:off x="1041536" y="688092"/>
            <a:ext cx="7216840" cy="438150"/>
          </a:xfrm>
          <a:prstGeom prst="rect">
            <a:avLst/>
          </a:prstGeom>
        </p:spPr>
        <p:txBody>
          <a:bodyPr anchor="t" rtlCol="false" tIns="0" lIns="0" bIns="0" rIns="0">
            <a:spAutoFit/>
          </a:bodyPr>
          <a:lstStyle/>
          <a:p>
            <a:pPr algn="l" marL="0" indent="0" lvl="0">
              <a:lnSpc>
                <a:spcPts val="3359"/>
              </a:lnSpc>
              <a:spcBef>
                <a:spcPct val="0"/>
              </a:spcBef>
            </a:pPr>
            <a:r>
              <a:rPr lang="en-US" sz="2799" i="true" spc="77">
                <a:solidFill>
                  <a:srgbClr val="00618A"/>
                </a:solidFill>
                <a:latin typeface="Arimo Italics"/>
                <a:ea typeface="Arimo Italics"/>
                <a:cs typeface="Arimo Italics"/>
                <a:sym typeface="Arimo Italics"/>
              </a:rPr>
              <a:t>4. Cài đặt hệ thống và kết quả thử nghiệm </a:t>
            </a:r>
          </a:p>
        </p:txBody>
      </p:sp>
      <p:sp>
        <p:nvSpPr>
          <p:cNvPr name="TextBox 8" id="8"/>
          <p:cNvSpPr txBox="true"/>
          <p:nvPr/>
        </p:nvSpPr>
        <p:spPr>
          <a:xfrm rot="0">
            <a:off x="1041536" y="1078617"/>
            <a:ext cx="6067738" cy="438150"/>
          </a:xfrm>
          <a:prstGeom prst="rect">
            <a:avLst/>
          </a:prstGeom>
        </p:spPr>
        <p:txBody>
          <a:bodyPr anchor="t" rtlCol="false" tIns="0" lIns="0" bIns="0" rIns="0">
            <a:spAutoFit/>
          </a:bodyPr>
          <a:lstStyle/>
          <a:p>
            <a:pPr algn="l" marL="0" indent="0" lvl="0">
              <a:lnSpc>
                <a:spcPts val="3359"/>
              </a:lnSpc>
              <a:spcBef>
                <a:spcPct val="0"/>
              </a:spcBef>
            </a:pPr>
            <a:r>
              <a:rPr lang="en-US" b="true" sz="2799" spc="77">
                <a:solidFill>
                  <a:srgbClr val="00618A"/>
                </a:solidFill>
                <a:latin typeface="Arimo Bold"/>
                <a:ea typeface="Arimo Bold"/>
                <a:cs typeface="Arimo Bold"/>
                <a:sym typeface="Arimo Bold"/>
              </a:rPr>
              <a:t>Xây dựng Frontend</a:t>
            </a:r>
          </a:p>
        </p:txBody>
      </p:sp>
      <p:sp>
        <p:nvSpPr>
          <p:cNvPr name="TextBox 9" id="9"/>
          <p:cNvSpPr txBox="true"/>
          <p:nvPr/>
        </p:nvSpPr>
        <p:spPr>
          <a:xfrm rot="0">
            <a:off x="6056609" y="2589479"/>
            <a:ext cx="9644128" cy="396240"/>
          </a:xfrm>
          <a:prstGeom prst="rect">
            <a:avLst/>
          </a:prstGeom>
        </p:spPr>
        <p:txBody>
          <a:bodyPr anchor="t" rtlCol="false" tIns="0" lIns="0" bIns="0" rIns="0">
            <a:spAutoFit/>
          </a:bodyPr>
          <a:lstStyle/>
          <a:p>
            <a:pPr algn="l">
              <a:lnSpc>
                <a:spcPts val="3359"/>
              </a:lnSpc>
              <a:spcBef>
                <a:spcPct val="0"/>
              </a:spcBef>
            </a:pPr>
            <a:r>
              <a:rPr lang="en-US" b="true" sz="2400">
                <a:solidFill>
                  <a:srgbClr val="000000"/>
                </a:solidFill>
                <a:latin typeface="Open Sans Bold"/>
                <a:ea typeface="Open Sans Bold"/>
                <a:cs typeface="Open Sans Bold"/>
                <a:sym typeface="Open Sans Bold"/>
              </a:rPr>
              <a:t>api </a:t>
            </a:r>
            <a:r>
              <a:rPr lang="en-US" sz="2400">
                <a:solidFill>
                  <a:srgbClr val="000000"/>
                </a:solidFill>
                <a:latin typeface="Open Sans"/>
                <a:ea typeface="Open Sans"/>
                <a:cs typeface="Open Sans"/>
                <a:sym typeface="Open Sans"/>
              </a:rPr>
              <a:t>– Chứa các hàm, service hoặc cấu hình liên quan đến gọi API</a:t>
            </a:r>
          </a:p>
        </p:txBody>
      </p:sp>
      <p:sp>
        <p:nvSpPr>
          <p:cNvPr name="TextBox 10" id="10"/>
          <p:cNvSpPr txBox="true"/>
          <p:nvPr/>
        </p:nvSpPr>
        <p:spPr>
          <a:xfrm rot="0">
            <a:off x="6056609" y="3185332"/>
            <a:ext cx="8174699" cy="396240"/>
          </a:xfrm>
          <a:prstGeom prst="rect">
            <a:avLst/>
          </a:prstGeom>
        </p:spPr>
        <p:txBody>
          <a:bodyPr anchor="t" rtlCol="false" tIns="0" lIns="0" bIns="0" rIns="0">
            <a:spAutoFit/>
          </a:bodyPr>
          <a:lstStyle/>
          <a:p>
            <a:pPr algn="l">
              <a:lnSpc>
                <a:spcPts val="3359"/>
              </a:lnSpc>
              <a:spcBef>
                <a:spcPct val="0"/>
              </a:spcBef>
            </a:pPr>
            <a:r>
              <a:rPr lang="en-US" b="true" sz="2400">
                <a:solidFill>
                  <a:srgbClr val="000000"/>
                </a:solidFill>
                <a:latin typeface="Open Sans Bold"/>
                <a:ea typeface="Open Sans Bold"/>
                <a:cs typeface="Open Sans Bold"/>
                <a:sym typeface="Open Sans Bold"/>
              </a:rPr>
              <a:t>app </a:t>
            </a:r>
            <a:r>
              <a:rPr lang="en-US" sz="2400">
                <a:solidFill>
                  <a:srgbClr val="000000"/>
                </a:solidFill>
                <a:latin typeface="Open Sans"/>
                <a:ea typeface="Open Sans"/>
                <a:cs typeface="Open Sans"/>
                <a:sym typeface="Open Sans"/>
              </a:rPr>
              <a:t>– Cấu hình global, routes, layout chính cho ứng dụng.</a:t>
            </a:r>
          </a:p>
        </p:txBody>
      </p:sp>
      <p:sp>
        <p:nvSpPr>
          <p:cNvPr name="TextBox 11" id="11"/>
          <p:cNvSpPr txBox="true"/>
          <p:nvPr/>
        </p:nvSpPr>
        <p:spPr>
          <a:xfrm rot="0">
            <a:off x="6056609" y="3772072"/>
            <a:ext cx="11031802" cy="396240"/>
          </a:xfrm>
          <a:prstGeom prst="rect">
            <a:avLst/>
          </a:prstGeom>
        </p:spPr>
        <p:txBody>
          <a:bodyPr anchor="t" rtlCol="false" tIns="0" lIns="0" bIns="0" rIns="0">
            <a:spAutoFit/>
          </a:bodyPr>
          <a:lstStyle/>
          <a:p>
            <a:pPr algn="l">
              <a:lnSpc>
                <a:spcPts val="3359"/>
              </a:lnSpc>
              <a:spcBef>
                <a:spcPct val="0"/>
              </a:spcBef>
            </a:pPr>
            <a:r>
              <a:rPr lang="en-US" b="true" sz="2400">
                <a:solidFill>
                  <a:srgbClr val="000000"/>
                </a:solidFill>
                <a:latin typeface="Open Sans Bold"/>
                <a:ea typeface="Open Sans Bold"/>
                <a:cs typeface="Open Sans Bold"/>
                <a:sym typeface="Open Sans Bold"/>
              </a:rPr>
              <a:t>components</a:t>
            </a:r>
            <a:r>
              <a:rPr lang="en-US" sz="2400">
                <a:solidFill>
                  <a:srgbClr val="000000"/>
                </a:solidFill>
                <a:latin typeface="Open Sans"/>
                <a:ea typeface="Open Sans"/>
                <a:cs typeface="Open Sans"/>
                <a:sym typeface="Open Sans"/>
              </a:rPr>
              <a:t> – Các component dùng chung (UI component, button, modal,…).</a:t>
            </a:r>
          </a:p>
        </p:txBody>
      </p:sp>
      <p:sp>
        <p:nvSpPr>
          <p:cNvPr name="TextBox 12" id="12"/>
          <p:cNvSpPr txBox="true"/>
          <p:nvPr/>
        </p:nvSpPr>
        <p:spPr>
          <a:xfrm rot="0">
            <a:off x="6056609" y="4362619"/>
            <a:ext cx="7499482" cy="396240"/>
          </a:xfrm>
          <a:prstGeom prst="rect">
            <a:avLst/>
          </a:prstGeom>
        </p:spPr>
        <p:txBody>
          <a:bodyPr anchor="t" rtlCol="false" tIns="0" lIns="0" bIns="0" rIns="0">
            <a:spAutoFit/>
          </a:bodyPr>
          <a:lstStyle/>
          <a:p>
            <a:pPr algn="l">
              <a:lnSpc>
                <a:spcPts val="3359"/>
              </a:lnSpc>
              <a:spcBef>
                <a:spcPct val="0"/>
              </a:spcBef>
            </a:pPr>
            <a:r>
              <a:rPr lang="en-US" b="true" sz="2400">
                <a:solidFill>
                  <a:srgbClr val="000000"/>
                </a:solidFill>
                <a:latin typeface="Open Sans Bold"/>
                <a:ea typeface="Open Sans Bold"/>
                <a:cs typeface="Open Sans Bold"/>
                <a:sym typeface="Open Sans Bold"/>
              </a:rPr>
              <a:t>hooks</a:t>
            </a:r>
            <a:r>
              <a:rPr lang="en-US" sz="2400">
                <a:solidFill>
                  <a:srgbClr val="000000"/>
                </a:solidFill>
                <a:latin typeface="Open Sans"/>
                <a:ea typeface="Open Sans"/>
                <a:cs typeface="Open Sans"/>
                <a:sym typeface="Open Sans"/>
              </a:rPr>
              <a:t> – Các custom React hooks để tái sử dụng logic</a:t>
            </a:r>
          </a:p>
        </p:txBody>
      </p:sp>
      <p:sp>
        <p:nvSpPr>
          <p:cNvPr name="TextBox 13" id="13"/>
          <p:cNvSpPr txBox="true"/>
          <p:nvPr/>
        </p:nvSpPr>
        <p:spPr>
          <a:xfrm rot="0">
            <a:off x="6056609" y="4905785"/>
            <a:ext cx="9526852" cy="396240"/>
          </a:xfrm>
          <a:prstGeom prst="rect">
            <a:avLst/>
          </a:prstGeom>
        </p:spPr>
        <p:txBody>
          <a:bodyPr anchor="t" rtlCol="false" tIns="0" lIns="0" bIns="0" rIns="0">
            <a:spAutoFit/>
          </a:bodyPr>
          <a:lstStyle/>
          <a:p>
            <a:pPr algn="l">
              <a:lnSpc>
                <a:spcPts val="3359"/>
              </a:lnSpc>
              <a:spcBef>
                <a:spcPct val="0"/>
              </a:spcBef>
            </a:pPr>
            <a:r>
              <a:rPr lang="en-US" b="true" sz="2400">
                <a:solidFill>
                  <a:srgbClr val="000000"/>
                </a:solidFill>
                <a:latin typeface="Open Sans Bold"/>
                <a:ea typeface="Open Sans Bold"/>
                <a:cs typeface="Open Sans Bold"/>
                <a:sym typeface="Open Sans Bold"/>
              </a:rPr>
              <a:t>interface</a:t>
            </a:r>
            <a:r>
              <a:rPr lang="en-US" sz="2400">
                <a:solidFill>
                  <a:srgbClr val="000000"/>
                </a:solidFill>
                <a:latin typeface="Open Sans"/>
                <a:ea typeface="Open Sans"/>
                <a:cs typeface="Open Sans"/>
                <a:sym typeface="Open Sans"/>
              </a:rPr>
              <a:t> – Khai báo interface/type TypeScript cho dữ liệu và props</a:t>
            </a:r>
          </a:p>
        </p:txBody>
      </p:sp>
      <p:sp>
        <p:nvSpPr>
          <p:cNvPr name="TextBox 14" id="14"/>
          <p:cNvSpPr txBox="true"/>
          <p:nvPr/>
        </p:nvSpPr>
        <p:spPr>
          <a:xfrm rot="0">
            <a:off x="6056609" y="5496332"/>
            <a:ext cx="6473786" cy="396240"/>
          </a:xfrm>
          <a:prstGeom prst="rect">
            <a:avLst/>
          </a:prstGeom>
        </p:spPr>
        <p:txBody>
          <a:bodyPr anchor="t" rtlCol="false" tIns="0" lIns="0" bIns="0" rIns="0">
            <a:spAutoFit/>
          </a:bodyPr>
          <a:lstStyle/>
          <a:p>
            <a:pPr algn="l">
              <a:lnSpc>
                <a:spcPts val="3359"/>
              </a:lnSpc>
              <a:spcBef>
                <a:spcPct val="0"/>
              </a:spcBef>
            </a:pPr>
            <a:r>
              <a:rPr lang="en-US" b="true" sz="2400">
                <a:solidFill>
                  <a:srgbClr val="000000"/>
                </a:solidFill>
                <a:latin typeface="Open Sans Bold"/>
                <a:ea typeface="Open Sans Bold"/>
                <a:cs typeface="Open Sans Bold"/>
                <a:sym typeface="Open Sans Bold"/>
              </a:rPr>
              <a:t>lib</a:t>
            </a:r>
            <a:r>
              <a:rPr lang="en-US" sz="2400">
                <a:solidFill>
                  <a:srgbClr val="000000"/>
                </a:solidFill>
                <a:latin typeface="Open Sans"/>
                <a:ea typeface="Open Sans"/>
                <a:cs typeface="Open Sans"/>
                <a:sym typeface="Open Sans"/>
              </a:rPr>
              <a:t> – Các thư viện helper hoặc module hỗ trợ, </a:t>
            </a:r>
          </a:p>
        </p:txBody>
      </p:sp>
      <p:sp>
        <p:nvSpPr>
          <p:cNvPr name="TextBox 15" id="15"/>
          <p:cNvSpPr txBox="true"/>
          <p:nvPr/>
        </p:nvSpPr>
        <p:spPr>
          <a:xfrm rot="0">
            <a:off x="6056609" y="6083072"/>
            <a:ext cx="8775568" cy="396240"/>
          </a:xfrm>
          <a:prstGeom prst="rect">
            <a:avLst/>
          </a:prstGeom>
        </p:spPr>
        <p:txBody>
          <a:bodyPr anchor="t" rtlCol="false" tIns="0" lIns="0" bIns="0" rIns="0">
            <a:spAutoFit/>
          </a:bodyPr>
          <a:lstStyle/>
          <a:p>
            <a:pPr algn="ctr">
              <a:lnSpc>
                <a:spcPts val="3359"/>
              </a:lnSpc>
              <a:spcBef>
                <a:spcPct val="0"/>
              </a:spcBef>
            </a:pPr>
            <a:r>
              <a:rPr lang="en-US" b="true" sz="2400">
                <a:solidFill>
                  <a:srgbClr val="000000"/>
                </a:solidFill>
                <a:latin typeface="Open Sans Bold"/>
                <a:ea typeface="Open Sans Bold"/>
                <a:cs typeface="Open Sans Bold"/>
                <a:sym typeface="Open Sans Bold"/>
              </a:rPr>
              <a:t>modules-features</a:t>
            </a:r>
            <a:r>
              <a:rPr lang="en-US" sz="2400">
                <a:solidFill>
                  <a:srgbClr val="000000"/>
                </a:solidFill>
                <a:latin typeface="Open Sans"/>
                <a:ea typeface="Open Sans"/>
                <a:cs typeface="Open Sans"/>
                <a:sym typeface="Open Sans"/>
              </a:rPr>
              <a:t> – Chứa các tính năng module lớn của app..</a:t>
            </a:r>
          </a:p>
        </p:txBody>
      </p:sp>
      <p:sp>
        <p:nvSpPr>
          <p:cNvPr name="TextBox 16" id="16"/>
          <p:cNvSpPr txBox="true"/>
          <p:nvPr/>
        </p:nvSpPr>
        <p:spPr>
          <a:xfrm rot="0">
            <a:off x="6056609" y="6625994"/>
            <a:ext cx="7949010" cy="396240"/>
          </a:xfrm>
          <a:prstGeom prst="rect">
            <a:avLst/>
          </a:prstGeom>
        </p:spPr>
        <p:txBody>
          <a:bodyPr anchor="t" rtlCol="false" tIns="0" lIns="0" bIns="0" rIns="0">
            <a:spAutoFit/>
          </a:bodyPr>
          <a:lstStyle/>
          <a:p>
            <a:pPr algn="ctr">
              <a:lnSpc>
                <a:spcPts val="3359"/>
              </a:lnSpc>
              <a:spcBef>
                <a:spcPct val="0"/>
              </a:spcBef>
            </a:pPr>
            <a:r>
              <a:rPr lang="en-US" b="true" sz="2400">
                <a:solidFill>
                  <a:srgbClr val="000000"/>
                </a:solidFill>
                <a:latin typeface="Open Sans Bold"/>
                <a:ea typeface="Open Sans Bold"/>
                <a:cs typeface="Open Sans Bold"/>
                <a:sym typeface="Open Sans Bold"/>
              </a:rPr>
              <a:t>providers</a:t>
            </a:r>
            <a:r>
              <a:rPr lang="en-US" sz="2400">
                <a:solidFill>
                  <a:srgbClr val="000000"/>
                </a:solidFill>
                <a:latin typeface="Open Sans"/>
                <a:ea typeface="Open Sans"/>
                <a:cs typeface="Open Sans"/>
                <a:sym typeface="Open Sans"/>
              </a:rPr>
              <a:t> - Để cung cấp dữ liệu/config cho toàn bộ app.</a:t>
            </a:r>
          </a:p>
        </p:txBody>
      </p:sp>
      <p:sp>
        <p:nvSpPr>
          <p:cNvPr name="TextBox 17" id="17"/>
          <p:cNvSpPr txBox="true"/>
          <p:nvPr/>
        </p:nvSpPr>
        <p:spPr>
          <a:xfrm rot="0">
            <a:off x="6056609" y="7216541"/>
            <a:ext cx="7400131" cy="396240"/>
          </a:xfrm>
          <a:prstGeom prst="rect">
            <a:avLst/>
          </a:prstGeom>
        </p:spPr>
        <p:txBody>
          <a:bodyPr anchor="t" rtlCol="false" tIns="0" lIns="0" bIns="0" rIns="0">
            <a:spAutoFit/>
          </a:bodyPr>
          <a:lstStyle/>
          <a:p>
            <a:pPr algn="ctr">
              <a:lnSpc>
                <a:spcPts val="3359"/>
              </a:lnSpc>
              <a:spcBef>
                <a:spcPct val="0"/>
              </a:spcBef>
            </a:pPr>
            <a:r>
              <a:rPr lang="en-US" b="true" sz="2400">
                <a:solidFill>
                  <a:srgbClr val="000000"/>
                </a:solidFill>
                <a:latin typeface="Open Sans Bold"/>
                <a:ea typeface="Open Sans Bold"/>
                <a:cs typeface="Open Sans Bold"/>
                <a:sym typeface="Open Sans Bold"/>
              </a:rPr>
              <a:t>redux</a:t>
            </a:r>
            <a:r>
              <a:rPr lang="en-US" sz="2400">
                <a:solidFill>
                  <a:srgbClr val="000000"/>
                </a:solidFill>
                <a:latin typeface="Open Sans"/>
                <a:ea typeface="Open Sans"/>
                <a:cs typeface="Open Sans"/>
                <a:sym typeface="Open Sans"/>
              </a:rPr>
              <a:t> – Cấu hình store Redux, slice, action, reducer.</a:t>
            </a:r>
          </a:p>
        </p:txBody>
      </p:sp>
      <p:sp>
        <p:nvSpPr>
          <p:cNvPr name="TextBox 18" id="18"/>
          <p:cNvSpPr txBox="true"/>
          <p:nvPr/>
        </p:nvSpPr>
        <p:spPr>
          <a:xfrm rot="0">
            <a:off x="6056603" y="7781521"/>
            <a:ext cx="9234368" cy="396240"/>
          </a:xfrm>
          <a:prstGeom prst="rect">
            <a:avLst/>
          </a:prstGeom>
        </p:spPr>
        <p:txBody>
          <a:bodyPr anchor="t" rtlCol="false" tIns="0" lIns="0" bIns="0" rIns="0">
            <a:spAutoFit/>
          </a:bodyPr>
          <a:lstStyle/>
          <a:p>
            <a:pPr algn="ctr">
              <a:lnSpc>
                <a:spcPts val="3359"/>
              </a:lnSpc>
              <a:spcBef>
                <a:spcPct val="0"/>
              </a:spcBef>
            </a:pPr>
            <a:r>
              <a:rPr lang="en-US" b="true" sz="2400">
                <a:solidFill>
                  <a:srgbClr val="000000"/>
                </a:solidFill>
                <a:latin typeface="Open Sans Bold"/>
                <a:ea typeface="Open Sans Bold"/>
                <a:cs typeface="Open Sans Bold"/>
                <a:sym typeface="Open Sans Bold"/>
              </a:rPr>
              <a:t>utils</a:t>
            </a:r>
            <a:r>
              <a:rPr lang="en-US" sz="2400">
                <a:solidFill>
                  <a:srgbClr val="000000"/>
                </a:solidFill>
                <a:latin typeface="Open Sans"/>
                <a:ea typeface="Open Sans"/>
                <a:cs typeface="Open Sans"/>
                <a:sym typeface="Open Sans"/>
              </a:rPr>
              <a:t> – Các hàm tiện ích (utility functions) dùng chung toàn dự án.</a:t>
            </a:r>
          </a:p>
        </p:txBody>
      </p:sp>
      <p:sp>
        <p:nvSpPr>
          <p:cNvPr name="TextBox 19" id="19"/>
          <p:cNvSpPr txBox="true"/>
          <p:nvPr/>
        </p:nvSpPr>
        <p:spPr>
          <a:xfrm rot="0">
            <a:off x="16976359" y="9369641"/>
            <a:ext cx="528883" cy="409575"/>
          </a:xfrm>
          <a:prstGeom prst="rect">
            <a:avLst/>
          </a:prstGeom>
        </p:spPr>
        <p:txBody>
          <a:bodyPr anchor="t" rtlCol="false" tIns="0" lIns="0" bIns="0" rIns="0">
            <a:spAutoFit/>
          </a:bodyPr>
          <a:lstStyle/>
          <a:p>
            <a:pPr algn="r" marL="0" indent="0" lvl="0">
              <a:lnSpc>
                <a:spcPts val="3120"/>
              </a:lnSpc>
              <a:spcBef>
                <a:spcPct val="0"/>
              </a:spcBef>
            </a:pPr>
            <a:r>
              <a:rPr lang="en-US" b="true" sz="2600" spc="72">
                <a:solidFill>
                  <a:srgbClr val="00618A"/>
                </a:solidFill>
                <a:latin typeface="Arimo Bold"/>
                <a:ea typeface="Arimo Bold"/>
                <a:cs typeface="Arimo Bold"/>
                <a:sym typeface="Arimo Bold"/>
              </a:rPr>
              <a:t>22</a:t>
            </a:r>
          </a:p>
        </p:txBody>
      </p:sp>
    </p:spTree>
  </p:cSld>
  <p:clrMapOvr>
    <a:masterClrMapping/>
  </p:clrMapOvr>
  <p:transition spd="fast">
    <p:fade/>
  </p:transition>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705967" y="9253538"/>
            <a:ext cx="16872456" cy="4762"/>
          </a:xfrm>
          <a:prstGeom prst="line">
            <a:avLst/>
          </a:prstGeom>
          <a:ln cap="rnd" w="19050">
            <a:solidFill>
              <a:srgbClr val="4BADD6"/>
            </a:solidFill>
            <a:prstDash val="solid"/>
            <a:headEnd type="none" len="sm" w="sm"/>
            <a:tailEnd type="none" len="sm" w="sm"/>
          </a:ln>
        </p:spPr>
      </p:sp>
      <p:sp>
        <p:nvSpPr>
          <p:cNvPr name="AutoShape 3" id="3"/>
          <p:cNvSpPr/>
          <p:nvPr/>
        </p:nvSpPr>
        <p:spPr>
          <a:xfrm flipH="true">
            <a:off x="763112" y="716667"/>
            <a:ext cx="0" cy="771525"/>
          </a:xfrm>
          <a:prstGeom prst="line">
            <a:avLst/>
          </a:prstGeom>
          <a:ln cap="rnd" w="114300">
            <a:solidFill>
              <a:srgbClr val="075985">
                <a:alpha val="46667"/>
              </a:srgbClr>
            </a:solidFill>
            <a:prstDash val="solid"/>
            <a:headEnd type="none" len="sm" w="sm"/>
            <a:tailEnd type="none" len="sm" w="sm"/>
          </a:ln>
        </p:spPr>
      </p:sp>
      <p:sp>
        <p:nvSpPr>
          <p:cNvPr name="Freeform 4" id="4"/>
          <p:cNvSpPr/>
          <p:nvPr/>
        </p:nvSpPr>
        <p:spPr>
          <a:xfrm flipH="false" flipV="false" rot="0">
            <a:off x="16713285" y="707142"/>
            <a:ext cx="865138" cy="854186"/>
          </a:xfrm>
          <a:custGeom>
            <a:avLst/>
            <a:gdLst/>
            <a:ahLst/>
            <a:cxnLst/>
            <a:rect r="r" b="b" t="t" l="l"/>
            <a:pathLst>
              <a:path h="854186" w="865138">
                <a:moveTo>
                  <a:pt x="0" y="0"/>
                </a:moveTo>
                <a:lnTo>
                  <a:pt x="865138" y="0"/>
                </a:lnTo>
                <a:lnTo>
                  <a:pt x="865138" y="854186"/>
                </a:lnTo>
                <a:lnTo>
                  <a:pt x="0" y="854186"/>
                </a:lnTo>
                <a:lnTo>
                  <a:pt x="0" y="0"/>
                </a:lnTo>
                <a:close/>
              </a:path>
            </a:pathLst>
          </a:custGeom>
          <a:blipFill>
            <a:blip r:embed="rId3"/>
            <a:stretch>
              <a:fillRect l="0" t="0" r="0" b="0"/>
            </a:stretch>
          </a:blipFill>
        </p:spPr>
      </p:sp>
      <p:sp>
        <p:nvSpPr>
          <p:cNvPr name="Freeform 5" id="5"/>
          <p:cNvSpPr/>
          <p:nvPr/>
        </p:nvSpPr>
        <p:spPr>
          <a:xfrm flipH="false" flipV="false" rot="0">
            <a:off x="851954" y="1719464"/>
            <a:ext cx="3320883" cy="2567303"/>
          </a:xfrm>
          <a:custGeom>
            <a:avLst/>
            <a:gdLst/>
            <a:ahLst/>
            <a:cxnLst/>
            <a:rect r="r" b="b" t="t" l="l"/>
            <a:pathLst>
              <a:path h="2567303" w="3320883">
                <a:moveTo>
                  <a:pt x="0" y="0"/>
                </a:moveTo>
                <a:lnTo>
                  <a:pt x="3320883" y="0"/>
                </a:lnTo>
                <a:lnTo>
                  <a:pt x="3320883" y="2567303"/>
                </a:lnTo>
                <a:lnTo>
                  <a:pt x="0" y="2567303"/>
                </a:lnTo>
                <a:lnTo>
                  <a:pt x="0" y="0"/>
                </a:lnTo>
                <a:close/>
              </a:path>
            </a:pathLst>
          </a:custGeom>
          <a:blipFill>
            <a:blip r:embed="rId4"/>
            <a:stretch>
              <a:fillRect l="0" t="0" r="-36928" b="-299146"/>
            </a:stretch>
          </a:blipFill>
        </p:spPr>
      </p:sp>
      <p:sp>
        <p:nvSpPr>
          <p:cNvPr name="Freeform 6" id="6"/>
          <p:cNvSpPr/>
          <p:nvPr/>
        </p:nvSpPr>
        <p:spPr>
          <a:xfrm flipH="false" flipV="false" rot="0">
            <a:off x="851954" y="4000969"/>
            <a:ext cx="3320883" cy="1900527"/>
          </a:xfrm>
          <a:custGeom>
            <a:avLst/>
            <a:gdLst/>
            <a:ahLst/>
            <a:cxnLst/>
            <a:rect r="r" b="b" t="t" l="l"/>
            <a:pathLst>
              <a:path h="1900527" w="3320883">
                <a:moveTo>
                  <a:pt x="0" y="0"/>
                </a:moveTo>
                <a:lnTo>
                  <a:pt x="3320883" y="0"/>
                </a:lnTo>
                <a:lnTo>
                  <a:pt x="3320883" y="1900527"/>
                </a:lnTo>
                <a:lnTo>
                  <a:pt x="0" y="1900527"/>
                </a:lnTo>
                <a:lnTo>
                  <a:pt x="0" y="0"/>
                </a:lnTo>
                <a:close/>
              </a:path>
            </a:pathLst>
          </a:custGeom>
          <a:blipFill>
            <a:blip r:embed="rId4"/>
            <a:stretch>
              <a:fillRect l="0" t="-237372" r="-37673" b="-205355"/>
            </a:stretch>
          </a:blipFill>
        </p:spPr>
      </p:sp>
      <p:sp>
        <p:nvSpPr>
          <p:cNvPr name="Freeform 7" id="7"/>
          <p:cNvSpPr/>
          <p:nvPr/>
        </p:nvSpPr>
        <p:spPr>
          <a:xfrm flipH="false" flipV="false" rot="0">
            <a:off x="876692" y="5901496"/>
            <a:ext cx="3296145" cy="3197892"/>
          </a:xfrm>
          <a:custGeom>
            <a:avLst/>
            <a:gdLst/>
            <a:ahLst/>
            <a:cxnLst/>
            <a:rect r="r" b="b" t="t" l="l"/>
            <a:pathLst>
              <a:path h="3197892" w="3296145">
                <a:moveTo>
                  <a:pt x="0" y="0"/>
                </a:moveTo>
                <a:lnTo>
                  <a:pt x="3296145" y="0"/>
                </a:lnTo>
                <a:lnTo>
                  <a:pt x="3296145" y="3197892"/>
                </a:lnTo>
                <a:lnTo>
                  <a:pt x="0" y="3197892"/>
                </a:lnTo>
                <a:lnTo>
                  <a:pt x="0" y="0"/>
                </a:lnTo>
                <a:close/>
              </a:path>
            </a:pathLst>
          </a:custGeom>
          <a:blipFill>
            <a:blip r:embed="rId4"/>
            <a:stretch>
              <a:fillRect l="0" t="-220801" r="-37956" b="0"/>
            </a:stretch>
          </a:blipFill>
        </p:spPr>
      </p:sp>
      <p:sp>
        <p:nvSpPr>
          <p:cNvPr name="TextBox 8" id="8"/>
          <p:cNvSpPr txBox="true"/>
          <p:nvPr/>
        </p:nvSpPr>
        <p:spPr>
          <a:xfrm rot="0">
            <a:off x="763112" y="9369641"/>
            <a:ext cx="12119638" cy="409575"/>
          </a:xfrm>
          <a:prstGeom prst="rect">
            <a:avLst/>
          </a:prstGeom>
        </p:spPr>
        <p:txBody>
          <a:bodyPr anchor="t" rtlCol="false" tIns="0" lIns="0" bIns="0" rIns="0">
            <a:spAutoFit/>
          </a:bodyPr>
          <a:lstStyle/>
          <a:p>
            <a:pPr algn="l" marL="0" indent="0" lvl="0">
              <a:lnSpc>
                <a:spcPts val="3120"/>
              </a:lnSpc>
              <a:spcBef>
                <a:spcPct val="0"/>
              </a:spcBef>
            </a:pPr>
            <a:r>
              <a:rPr lang="en-US" b="true" sz="2600" spc="72" strike="noStrike" u="none">
                <a:solidFill>
                  <a:srgbClr val="00618A"/>
                </a:solidFill>
                <a:latin typeface="Arimo Bold"/>
                <a:ea typeface="Arimo Bold"/>
                <a:cs typeface="Arimo Bold"/>
                <a:sym typeface="Arimo Bold"/>
              </a:rPr>
              <a:t>XÂY DỰNG HỆ THỐNG TẠO VÀ ĐÁNH GIÁ</a:t>
            </a:r>
            <a:r>
              <a:rPr lang="en-US" b="true" sz="2600" spc="72" strike="noStrike" u="none">
                <a:solidFill>
                  <a:srgbClr val="00618A"/>
                </a:solidFill>
                <a:latin typeface="Arimo Bold"/>
                <a:ea typeface="Arimo Bold"/>
                <a:cs typeface="Arimo Bold"/>
                <a:sym typeface="Arimo Bold"/>
              </a:rPr>
              <a:t> HỒ SƠ XIN VIỆC TÍCH HỢP AI</a:t>
            </a:r>
          </a:p>
        </p:txBody>
      </p:sp>
      <p:sp>
        <p:nvSpPr>
          <p:cNvPr name="TextBox 9" id="9"/>
          <p:cNvSpPr txBox="true"/>
          <p:nvPr/>
        </p:nvSpPr>
        <p:spPr>
          <a:xfrm rot="0">
            <a:off x="1041536" y="688092"/>
            <a:ext cx="7195576" cy="438150"/>
          </a:xfrm>
          <a:prstGeom prst="rect">
            <a:avLst/>
          </a:prstGeom>
        </p:spPr>
        <p:txBody>
          <a:bodyPr anchor="t" rtlCol="false" tIns="0" lIns="0" bIns="0" rIns="0">
            <a:spAutoFit/>
          </a:bodyPr>
          <a:lstStyle/>
          <a:p>
            <a:pPr algn="l" marL="0" indent="0" lvl="0">
              <a:lnSpc>
                <a:spcPts val="3359"/>
              </a:lnSpc>
              <a:spcBef>
                <a:spcPct val="0"/>
              </a:spcBef>
            </a:pPr>
            <a:r>
              <a:rPr lang="en-US" sz="2799" i="true" spc="77">
                <a:solidFill>
                  <a:srgbClr val="00618A"/>
                </a:solidFill>
                <a:latin typeface="Arimo Italics"/>
                <a:ea typeface="Arimo Italics"/>
                <a:cs typeface="Arimo Italics"/>
                <a:sym typeface="Arimo Italics"/>
              </a:rPr>
              <a:t>4. Cài đặt hệ thống và kết quả thử nghiệm </a:t>
            </a:r>
          </a:p>
        </p:txBody>
      </p:sp>
      <p:sp>
        <p:nvSpPr>
          <p:cNvPr name="TextBox 10" id="10"/>
          <p:cNvSpPr txBox="true"/>
          <p:nvPr/>
        </p:nvSpPr>
        <p:spPr>
          <a:xfrm rot="0">
            <a:off x="1041536" y="1078617"/>
            <a:ext cx="6067738" cy="438150"/>
          </a:xfrm>
          <a:prstGeom prst="rect">
            <a:avLst/>
          </a:prstGeom>
        </p:spPr>
        <p:txBody>
          <a:bodyPr anchor="t" rtlCol="false" tIns="0" lIns="0" bIns="0" rIns="0">
            <a:spAutoFit/>
          </a:bodyPr>
          <a:lstStyle/>
          <a:p>
            <a:pPr algn="l" marL="0" indent="0" lvl="0">
              <a:lnSpc>
                <a:spcPts val="3359"/>
              </a:lnSpc>
              <a:spcBef>
                <a:spcPct val="0"/>
              </a:spcBef>
            </a:pPr>
            <a:r>
              <a:rPr lang="en-US" b="true" sz="2799" spc="77">
                <a:solidFill>
                  <a:srgbClr val="00618A"/>
                </a:solidFill>
                <a:latin typeface="Arimo Bold"/>
                <a:ea typeface="Arimo Bold"/>
                <a:cs typeface="Arimo Bold"/>
                <a:sym typeface="Arimo Bold"/>
              </a:rPr>
              <a:t>Xây dựng Backend</a:t>
            </a:r>
          </a:p>
        </p:txBody>
      </p:sp>
      <p:sp>
        <p:nvSpPr>
          <p:cNvPr name="AutoShape 11" id="11"/>
          <p:cNvSpPr/>
          <p:nvPr/>
        </p:nvSpPr>
        <p:spPr>
          <a:xfrm>
            <a:off x="2525212" y="1865156"/>
            <a:ext cx="1719358" cy="0"/>
          </a:xfrm>
          <a:prstGeom prst="line">
            <a:avLst/>
          </a:prstGeom>
          <a:ln cap="flat" w="19050">
            <a:solidFill>
              <a:srgbClr val="F94543"/>
            </a:solidFill>
            <a:prstDash val="solid"/>
            <a:headEnd type="none" len="sm" w="sm"/>
            <a:tailEnd type="triangle" len="med" w="lg"/>
          </a:ln>
        </p:spPr>
      </p:sp>
      <p:sp>
        <p:nvSpPr>
          <p:cNvPr name="AutoShape 12" id="12"/>
          <p:cNvSpPr/>
          <p:nvPr/>
        </p:nvSpPr>
        <p:spPr>
          <a:xfrm>
            <a:off x="3480409" y="7012582"/>
            <a:ext cx="692428" cy="582853"/>
          </a:xfrm>
          <a:prstGeom prst="line">
            <a:avLst/>
          </a:prstGeom>
          <a:ln cap="flat" w="19050">
            <a:solidFill>
              <a:srgbClr val="F94543"/>
            </a:solidFill>
            <a:prstDash val="solid"/>
            <a:headEnd type="none" len="sm" w="sm"/>
            <a:tailEnd type="triangle" len="med" w="lg"/>
          </a:ln>
        </p:spPr>
      </p:sp>
      <p:sp>
        <p:nvSpPr>
          <p:cNvPr name="AutoShape 13" id="13"/>
          <p:cNvSpPr/>
          <p:nvPr/>
        </p:nvSpPr>
        <p:spPr>
          <a:xfrm flipV="true">
            <a:off x="3174729" y="3911452"/>
            <a:ext cx="998108" cy="167058"/>
          </a:xfrm>
          <a:prstGeom prst="line">
            <a:avLst/>
          </a:prstGeom>
          <a:ln cap="flat" w="19050">
            <a:solidFill>
              <a:srgbClr val="F94543"/>
            </a:solidFill>
            <a:prstDash val="solid"/>
            <a:headEnd type="none" len="sm" w="sm"/>
            <a:tailEnd type="triangle" len="med" w="lg"/>
          </a:ln>
        </p:spPr>
      </p:sp>
      <p:sp>
        <p:nvSpPr>
          <p:cNvPr name="AutoShape 14" id="14"/>
          <p:cNvSpPr/>
          <p:nvPr/>
        </p:nvSpPr>
        <p:spPr>
          <a:xfrm flipV="true">
            <a:off x="2964134" y="5901496"/>
            <a:ext cx="1254263" cy="116469"/>
          </a:xfrm>
          <a:prstGeom prst="line">
            <a:avLst/>
          </a:prstGeom>
          <a:ln cap="flat" w="19050">
            <a:solidFill>
              <a:srgbClr val="F94543"/>
            </a:solidFill>
            <a:prstDash val="solid"/>
            <a:headEnd type="none" len="sm" w="sm"/>
            <a:tailEnd type="triangle" len="med" w="lg"/>
          </a:ln>
        </p:spPr>
      </p:sp>
      <p:sp>
        <p:nvSpPr>
          <p:cNvPr name="TextBox 15" id="15"/>
          <p:cNvSpPr txBox="true"/>
          <p:nvPr/>
        </p:nvSpPr>
        <p:spPr>
          <a:xfrm rot="0">
            <a:off x="4373249" y="5668343"/>
            <a:ext cx="13131993" cy="1189355"/>
          </a:xfrm>
          <a:prstGeom prst="rect">
            <a:avLst/>
          </a:prstGeom>
        </p:spPr>
        <p:txBody>
          <a:bodyPr anchor="t" rtlCol="false" tIns="0" lIns="0" bIns="0" rIns="0">
            <a:spAutoFit/>
          </a:bodyPr>
          <a:lstStyle/>
          <a:p>
            <a:pPr algn="just">
              <a:lnSpc>
                <a:spcPts val="3220"/>
              </a:lnSpc>
              <a:spcBef>
                <a:spcPct val="0"/>
              </a:spcBef>
            </a:pPr>
            <a:r>
              <a:rPr lang="en-US" b="true" sz="2300">
                <a:solidFill>
                  <a:srgbClr val="000000"/>
                </a:solidFill>
                <a:latin typeface="Open Sans Bold"/>
                <a:ea typeface="Open Sans Bold"/>
                <a:cs typeface="Open Sans Bold"/>
                <a:sym typeface="Open Sans Bold"/>
              </a:rPr>
              <a:t>Domain Layer</a:t>
            </a:r>
            <a:r>
              <a:rPr lang="en-US" sz="2300">
                <a:solidFill>
                  <a:srgbClr val="000000"/>
                </a:solidFill>
                <a:latin typeface="Open Sans"/>
                <a:ea typeface="Open Sans"/>
                <a:cs typeface="Open Sans"/>
                <a:sym typeface="Open Sans"/>
              </a:rPr>
              <a:t> </a:t>
            </a:r>
            <a:r>
              <a:rPr lang="en-US" b="true" sz="2300">
                <a:solidFill>
                  <a:srgbClr val="00618A"/>
                </a:solidFill>
                <a:latin typeface="Open Sans Bold"/>
                <a:ea typeface="Open Sans Bold"/>
                <a:cs typeface="Open Sans Bold"/>
                <a:sym typeface="Open Sans Bold"/>
              </a:rPr>
              <a:t>là lớp nội tâm nhất của hệ thống, chứa các thực thể cốt lõi (entities)</a:t>
            </a:r>
            <a:r>
              <a:rPr lang="en-US" sz="2300">
                <a:solidFill>
                  <a:srgbClr val="000000"/>
                </a:solidFill>
                <a:latin typeface="Open Sans"/>
                <a:ea typeface="Open Sans"/>
                <a:cs typeface="Open Sans"/>
                <a:sym typeface="Open Sans"/>
              </a:rPr>
              <a:t>. </a:t>
            </a:r>
            <a:r>
              <a:rPr lang="en-US" sz="2300">
                <a:solidFill>
                  <a:srgbClr val="000000"/>
                </a:solidFill>
                <a:latin typeface="Open Sans"/>
                <a:ea typeface="Open Sans"/>
                <a:cs typeface="Open Sans"/>
                <a:sym typeface="Open Sans"/>
              </a:rPr>
              <a:t>Chịu trách nhiệm định nghĩa cấu trúc dữ liệu và logic nghiệp vụ trung tâm, đảm bảo tính toàn vẹn của các quy tắc nghiệp vụ. Hoàn toàn độc lập, không phụ thuộc vào bất kỳ lớp nào khác</a:t>
            </a:r>
          </a:p>
        </p:txBody>
      </p:sp>
      <p:sp>
        <p:nvSpPr>
          <p:cNvPr name="TextBox 16" id="16"/>
          <p:cNvSpPr txBox="true"/>
          <p:nvPr/>
        </p:nvSpPr>
        <p:spPr>
          <a:xfrm rot="0">
            <a:off x="4373249" y="3650313"/>
            <a:ext cx="13205174" cy="1589405"/>
          </a:xfrm>
          <a:prstGeom prst="rect">
            <a:avLst/>
          </a:prstGeom>
        </p:spPr>
        <p:txBody>
          <a:bodyPr anchor="t" rtlCol="false" tIns="0" lIns="0" bIns="0" rIns="0">
            <a:spAutoFit/>
          </a:bodyPr>
          <a:lstStyle/>
          <a:p>
            <a:pPr algn="just">
              <a:lnSpc>
                <a:spcPts val="3220"/>
              </a:lnSpc>
              <a:spcBef>
                <a:spcPct val="0"/>
              </a:spcBef>
            </a:pPr>
            <a:r>
              <a:rPr lang="en-US" b="true" sz="2300">
                <a:solidFill>
                  <a:srgbClr val="000000"/>
                </a:solidFill>
                <a:latin typeface="Open Sans Bold"/>
                <a:ea typeface="Open Sans Bold"/>
                <a:cs typeface="Open Sans Bold"/>
                <a:sym typeface="Open Sans Bold"/>
              </a:rPr>
              <a:t>Application Layer</a:t>
            </a:r>
            <a:r>
              <a:rPr lang="en-US" sz="2300">
                <a:solidFill>
                  <a:srgbClr val="000000"/>
                </a:solidFill>
                <a:latin typeface="Open Sans"/>
                <a:ea typeface="Open Sans"/>
                <a:cs typeface="Open Sans"/>
                <a:sym typeface="Open Sans"/>
              </a:rPr>
              <a:t> </a:t>
            </a:r>
            <a:r>
              <a:rPr lang="en-US" b="true" sz="2300">
                <a:solidFill>
                  <a:srgbClr val="00618A"/>
                </a:solidFill>
                <a:latin typeface="Open Sans Bold"/>
                <a:ea typeface="Open Sans Bold"/>
                <a:cs typeface="Open Sans Bold"/>
                <a:sym typeface="Open Sans Bold"/>
              </a:rPr>
              <a:t>triển khai các use case của ứng dụng thông qua mô hình CQRS (Commands/Queries)</a:t>
            </a:r>
            <a:r>
              <a:rPr lang="en-US" sz="2300">
                <a:solidFill>
                  <a:srgbClr val="000000"/>
                </a:solidFill>
                <a:latin typeface="Open Sans"/>
                <a:ea typeface="Open Sans"/>
                <a:cs typeface="Open Sans"/>
                <a:sym typeface="Open Sans"/>
              </a:rPr>
              <a:t>. </a:t>
            </a:r>
            <a:r>
              <a:rPr lang="en-US" sz="2300">
                <a:solidFill>
                  <a:srgbClr val="000000"/>
                </a:solidFill>
                <a:latin typeface="Open Sans"/>
                <a:ea typeface="Open Sans"/>
                <a:cs typeface="Open Sans"/>
                <a:sym typeface="Open Sans"/>
              </a:rPr>
              <a:t>Định nghĩa các giao diện (interfaces), DTO, cho repository và service, đồng thời thực hiện xử lý logic nghiệp vụ và kiểm tra dữ liệu (validation). Lớp này chỉ phụ thuộc vào Domain Layer, giúp tách biệt logic nghiệp vụ với các lớp hạ tầng.</a:t>
            </a:r>
          </a:p>
        </p:txBody>
      </p:sp>
      <p:sp>
        <p:nvSpPr>
          <p:cNvPr name="TextBox 17" id="17"/>
          <p:cNvSpPr txBox="true"/>
          <p:nvPr/>
        </p:nvSpPr>
        <p:spPr>
          <a:xfrm rot="0">
            <a:off x="4373249" y="7286323"/>
            <a:ext cx="13205174" cy="1589405"/>
          </a:xfrm>
          <a:prstGeom prst="rect">
            <a:avLst/>
          </a:prstGeom>
        </p:spPr>
        <p:txBody>
          <a:bodyPr anchor="t" rtlCol="false" tIns="0" lIns="0" bIns="0" rIns="0">
            <a:spAutoFit/>
          </a:bodyPr>
          <a:lstStyle/>
          <a:p>
            <a:pPr algn="just">
              <a:lnSpc>
                <a:spcPts val="3220"/>
              </a:lnSpc>
              <a:spcBef>
                <a:spcPct val="0"/>
              </a:spcBef>
            </a:pPr>
            <a:r>
              <a:rPr lang="en-US" b="true" sz="2300">
                <a:solidFill>
                  <a:srgbClr val="000000"/>
                </a:solidFill>
                <a:latin typeface="Open Sans Bold"/>
                <a:ea typeface="Open Sans Bold"/>
                <a:cs typeface="Open Sans Bold"/>
                <a:sym typeface="Open Sans Bold"/>
              </a:rPr>
              <a:t>Infrastructure Layer </a:t>
            </a:r>
            <a:r>
              <a:rPr lang="en-US" b="true" sz="2300">
                <a:solidFill>
                  <a:srgbClr val="00618A"/>
                </a:solidFill>
                <a:latin typeface="Open Sans Bold"/>
                <a:ea typeface="Open Sans Bold"/>
                <a:cs typeface="Open Sans Bold"/>
                <a:sym typeface="Open Sans Bold"/>
              </a:rPr>
              <a:t>lớp hạ tầng, dùng trích xuất dữ liệu, giao tiếp các dịnh vụ bên ngoài triển khai cụ thể các giao diện được định nghĩa trong Application Layer.</a:t>
            </a:r>
            <a:r>
              <a:rPr lang="en-US" sz="2300">
                <a:solidFill>
                  <a:srgbClr val="000000"/>
                </a:solidFill>
                <a:latin typeface="Open Sans"/>
                <a:ea typeface="Open Sans"/>
                <a:cs typeface="Open Sans"/>
                <a:sym typeface="Open Sans"/>
              </a:rPr>
              <a:t> </a:t>
            </a:r>
            <a:r>
              <a:rPr lang="en-US" sz="2300">
                <a:solidFill>
                  <a:srgbClr val="000000"/>
                </a:solidFill>
                <a:latin typeface="Open Sans"/>
                <a:ea typeface="Open Sans"/>
                <a:cs typeface="Open Sans"/>
                <a:sym typeface="Open Sans"/>
              </a:rPr>
              <a:t>Ví dụ như </a:t>
            </a:r>
            <a:r>
              <a:rPr lang="en-US" sz="2300">
                <a:solidFill>
                  <a:srgbClr val="000000"/>
                </a:solidFill>
                <a:latin typeface="Open Sans"/>
                <a:ea typeface="Open Sans"/>
                <a:cs typeface="Open Sans"/>
                <a:sym typeface="Open Sans"/>
              </a:rPr>
              <a:t>cơ sở dữ liệu MongoDB, tích hợp với các dịch vụ bên ngoài như Gemini AI, và xử lý các thao tác với file. Lớp này phụ thuộc Application Layer.</a:t>
            </a:r>
          </a:p>
        </p:txBody>
      </p:sp>
      <p:sp>
        <p:nvSpPr>
          <p:cNvPr name="TextBox 18" id="18"/>
          <p:cNvSpPr txBox="true"/>
          <p:nvPr/>
        </p:nvSpPr>
        <p:spPr>
          <a:xfrm rot="0">
            <a:off x="4373249" y="1632283"/>
            <a:ext cx="13205174" cy="1589405"/>
          </a:xfrm>
          <a:prstGeom prst="rect">
            <a:avLst/>
          </a:prstGeom>
        </p:spPr>
        <p:txBody>
          <a:bodyPr anchor="t" rtlCol="false" tIns="0" lIns="0" bIns="0" rIns="0">
            <a:spAutoFit/>
          </a:bodyPr>
          <a:lstStyle/>
          <a:p>
            <a:pPr algn="just">
              <a:lnSpc>
                <a:spcPts val="3220"/>
              </a:lnSpc>
              <a:spcBef>
                <a:spcPct val="0"/>
              </a:spcBef>
            </a:pPr>
            <a:r>
              <a:rPr lang="en-US" b="true" sz="2300">
                <a:solidFill>
                  <a:srgbClr val="000000"/>
                </a:solidFill>
                <a:latin typeface="Open Sans Bold"/>
                <a:ea typeface="Open Sans Bold"/>
                <a:cs typeface="Open Sans Bold"/>
                <a:sym typeface="Open Sans Bold"/>
              </a:rPr>
              <a:t>Presentation Layer</a:t>
            </a:r>
            <a:r>
              <a:rPr lang="en-US" sz="2300">
                <a:solidFill>
                  <a:srgbClr val="000000"/>
                </a:solidFill>
                <a:latin typeface="Open Sans"/>
                <a:ea typeface="Open Sans"/>
                <a:cs typeface="Open Sans"/>
                <a:sym typeface="Open Sans"/>
              </a:rPr>
              <a:t> </a:t>
            </a:r>
            <a:r>
              <a:rPr lang="en-US" b="true" sz="2300">
                <a:solidFill>
                  <a:srgbClr val="00618A"/>
                </a:solidFill>
                <a:latin typeface="Open Sans Bold"/>
                <a:ea typeface="Open Sans Bold"/>
                <a:cs typeface="Open Sans Bold"/>
                <a:sym typeface="Open Sans Bold"/>
              </a:rPr>
              <a:t>xử lý tương tác với người dùng thông qua Web API.</a:t>
            </a:r>
            <a:r>
              <a:rPr lang="en-US" sz="2300">
                <a:solidFill>
                  <a:srgbClr val="000000"/>
                </a:solidFill>
                <a:latin typeface="Open Sans"/>
                <a:ea typeface="Open Sans"/>
                <a:cs typeface="Open Sans"/>
                <a:sym typeface="Open Sans"/>
              </a:rPr>
              <a:t> </a:t>
            </a:r>
            <a:r>
              <a:rPr lang="en-US" sz="2300">
                <a:solidFill>
                  <a:srgbClr val="000000"/>
                </a:solidFill>
                <a:latin typeface="Open Sans"/>
                <a:ea typeface="Open Sans"/>
                <a:cs typeface="Open Sans"/>
                <a:sym typeface="Open Sans"/>
              </a:rPr>
              <a:t>Cung cấp các endpoint và cấu hình liên quan được xây dựng bằng ASP.NET Core. Lớp này phụ thuộc vào Application Layer và Infrastructure Layer, đảm bảo luồng giao tiếp giữa người dùng và hệ thống được thực hiện trơn tru, bảo mật và hiệu quả.</a:t>
            </a:r>
          </a:p>
        </p:txBody>
      </p:sp>
      <p:sp>
        <p:nvSpPr>
          <p:cNvPr name="TextBox 19" id="19"/>
          <p:cNvSpPr txBox="true"/>
          <p:nvPr/>
        </p:nvSpPr>
        <p:spPr>
          <a:xfrm rot="0">
            <a:off x="16976359" y="9369641"/>
            <a:ext cx="528883" cy="409575"/>
          </a:xfrm>
          <a:prstGeom prst="rect">
            <a:avLst/>
          </a:prstGeom>
        </p:spPr>
        <p:txBody>
          <a:bodyPr anchor="t" rtlCol="false" tIns="0" lIns="0" bIns="0" rIns="0">
            <a:spAutoFit/>
          </a:bodyPr>
          <a:lstStyle/>
          <a:p>
            <a:pPr algn="r" marL="0" indent="0" lvl="0">
              <a:lnSpc>
                <a:spcPts val="3120"/>
              </a:lnSpc>
              <a:spcBef>
                <a:spcPct val="0"/>
              </a:spcBef>
            </a:pPr>
            <a:r>
              <a:rPr lang="en-US" b="true" sz="2600" spc="72">
                <a:solidFill>
                  <a:srgbClr val="00618A"/>
                </a:solidFill>
                <a:latin typeface="Arimo Bold"/>
                <a:ea typeface="Arimo Bold"/>
                <a:cs typeface="Arimo Bold"/>
                <a:sym typeface="Arimo Bold"/>
              </a:rPr>
              <a:t>23</a:t>
            </a:r>
          </a:p>
        </p:txBody>
      </p:sp>
    </p:spTree>
  </p:cSld>
  <p:clrMapOvr>
    <a:masterClrMapping/>
  </p:clrMapOvr>
  <p:transition spd="fast">
    <p:fade/>
  </p:transition>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705967" y="9253538"/>
            <a:ext cx="16872456" cy="4762"/>
          </a:xfrm>
          <a:prstGeom prst="line">
            <a:avLst/>
          </a:prstGeom>
          <a:ln cap="rnd" w="19050">
            <a:solidFill>
              <a:srgbClr val="4BADD6"/>
            </a:solidFill>
            <a:prstDash val="solid"/>
            <a:headEnd type="none" len="sm" w="sm"/>
            <a:tailEnd type="none" len="sm" w="sm"/>
          </a:ln>
        </p:spPr>
      </p:sp>
      <p:sp>
        <p:nvSpPr>
          <p:cNvPr name="AutoShape 3" id="3"/>
          <p:cNvSpPr/>
          <p:nvPr/>
        </p:nvSpPr>
        <p:spPr>
          <a:xfrm flipH="true">
            <a:off x="763112" y="716667"/>
            <a:ext cx="0" cy="771525"/>
          </a:xfrm>
          <a:prstGeom prst="line">
            <a:avLst/>
          </a:prstGeom>
          <a:ln cap="rnd" w="114300">
            <a:solidFill>
              <a:srgbClr val="075985">
                <a:alpha val="46667"/>
              </a:srgbClr>
            </a:solidFill>
            <a:prstDash val="solid"/>
            <a:headEnd type="none" len="sm" w="sm"/>
            <a:tailEnd type="none" len="sm" w="sm"/>
          </a:ln>
        </p:spPr>
      </p:sp>
      <p:sp>
        <p:nvSpPr>
          <p:cNvPr name="Freeform 4" id="4"/>
          <p:cNvSpPr/>
          <p:nvPr/>
        </p:nvSpPr>
        <p:spPr>
          <a:xfrm flipH="false" flipV="false" rot="0">
            <a:off x="16713285" y="707142"/>
            <a:ext cx="865138" cy="854186"/>
          </a:xfrm>
          <a:custGeom>
            <a:avLst/>
            <a:gdLst/>
            <a:ahLst/>
            <a:cxnLst/>
            <a:rect r="r" b="b" t="t" l="l"/>
            <a:pathLst>
              <a:path h="854186" w="865138">
                <a:moveTo>
                  <a:pt x="0" y="0"/>
                </a:moveTo>
                <a:lnTo>
                  <a:pt x="865138" y="0"/>
                </a:lnTo>
                <a:lnTo>
                  <a:pt x="865138" y="854186"/>
                </a:lnTo>
                <a:lnTo>
                  <a:pt x="0" y="854186"/>
                </a:lnTo>
                <a:lnTo>
                  <a:pt x="0" y="0"/>
                </a:lnTo>
                <a:close/>
              </a:path>
            </a:pathLst>
          </a:custGeom>
          <a:blipFill>
            <a:blip r:embed="rId3"/>
            <a:stretch>
              <a:fillRect l="0" t="0" r="0" b="0"/>
            </a:stretch>
          </a:blipFill>
        </p:spPr>
      </p:sp>
      <p:grpSp>
        <p:nvGrpSpPr>
          <p:cNvPr name="Group 5" id="5"/>
          <p:cNvGrpSpPr/>
          <p:nvPr/>
        </p:nvGrpSpPr>
        <p:grpSpPr>
          <a:xfrm rot="0">
            <a:off x="5271465" y="2345099"/>
            <a:ext cx="10664801" cy="6431676"/>
            <a:chOff x="0" y="0"/>
            <a:chExt cx="2725750" cy="1643832"/>
          </a:xfrm>
        </p:grpSpPr>
        <p:sp>
          <p:nvSpPr>
            <p:cNvPr name="Freeform 6" id="6"/>
            <p:cNvSpPr/>
            <p:nvPr/>
          </p:nvSpPr>
          <p:spPr>
            <a:xfrm flipH="false" flipV="false" rot="0">
              <a:off x="0" y="0"/>
              <a:ext cx="2725750" cy="1643832"/>
            </a:xfrm>
            <a:custGeom>
              <a:avLst/>
              <a:gdLst/>
              <a:ahLst/>
              <a:cxnLst/>
              <a:rect r="r" b="b" t="t" l="l"/>
              <a:pathLst>
                <a:path h="1643832" w="2725750">
                  <a:moveTo>
                    <a:pt x="37023" y="0"/>
                  </a:moveTo>
                  <a:lnTo>
                    <a:pt x="2688728" y="0"/>
                  </a:lnTo>
                  <a:cubicBezTo>
                    <a:pt x="2709175" y="0"/>
                    <a:pt x="2725750" y="16576"/>
                    <a:pt x="2725750" y="37023"/>
                  </a:cubicBezTo>
                  <a:lnTo>
                    <a:pt x="2725750" y="1606810"/>
                  </a:lnTo>
                  <a:cubicBezTo>
                    <a:pt x="2725750" y="1627257"/>
                    <a:pt x="2709175" y="1643832"/>
                    <a:pt x="2688728" y="1643832"/>
                  </a:cubicBezTo>
                  <a:lnTo>
                    <a:pt x="37023" y="1643832"/>
                  </a:lnTo>
                  <a:cubicBezTo>
                    <a:pt x="16576" y="1643832"/>
                    <a:pt x="0" y="1627257"/>
                    <a:pt x="0" y="1606810"/>
                  </a:cubicBezTo>
                  <a:lnTo>
                    <a:pt x="0" y="37023"/>
                  </a:lnTo>
                  <a:cubicBezTo>
                    <a:pt x="0" y="16576"/>
                    <a:pt x="16576" y="0"/>
                    <a:pt x="37023" y="0"/>
                  </a:cubicBezTo>
                  <a:close/>
                </a:path>
              </a:pathLst>
            </a:custGeom>
            <a:solidFill>
              <a:srgbClr val="FFFFFF"/>
            </a:solidFill>
            <a:ln w="19050" cap="rnd">
              <a:solidFill>
                <a:srgbClr val="01BEE1"/>
              </a:solidFill>
              <a:prstDash val="solid"/>
              <a:round/>
            </a:ln>
          </p:spPr>
        </p:sp>
        <p:sp>
          <p:nvSpPr>
            <p:cNvPr name="TextBox 7" id="7"/>
            <p:cNvSpPr txBox="true"/>
            <p:nvPr/>
          </p:nvSpPr>
          <p:spPr>
            <a:xfrm>
              <a:off x="0" y="-38100"/>
              <a:ext cx="2725750" cy="1681932"/>
            </a:xfrm>
            <a:prstGeom prst="rect">
              <a:avLst/>
            </a:prstGeom>
          </p:spPr>
          <p:txBody>
            <a:bodyPr anchor="ctr" rtlCol="false" tIns="47356" lIns="47356" bIns="47356" rIns="47356"/>
            <a:lstStyle/>
            <a:p>
              <a:pPr algn="ctr">
                <a:lnSpc>
                  <a:spcPts val="3359"/>
                </a:lnSpc>
              </a:pPr>
            </a:p>
          </p:txBody>
        </p:sp>
      </p:grpSp>
      <p:grpSp>
        <p:nvGrpSpPr>
          <p:cNvPr name="Group 8" id="8"/>
          <p:cNvGrpSpPr/>
          <p:nvPr/>
        </p:nvGrpSpPr>
        <p:grpSpPr>
          <a:xfrm rot="0">
            <a:off x="5909045" y="2851860"/>
            <a:ext cx="9484132" cy="5361717"/>
            <a:chOff x="0" y="0"/>
            <a:chExt cx="2423990" cy="1370368"/>
          </a:xfrm>
        </p:grpSpPr>
        <p:sp>
          <p:nvSpPr>
            <p:cNvPr name="Freeform 9" id="9"/>
            <p:cNvSpPr/>
            <p:nvPr/>
          </p:nvSpPr>
          <p:spPr>
            <a:xfrm flipH="false" flipV="false" rot="0">
              <a:off x="0" y="0"/>
              <a:ext cx="2423990" cy="1370368"/>
            </a:xfrm>
            <a:custGeom>
              <a:avLst/>
              <a:gdLst/>
              <a:ahLst/>
              <a:cxnLst/>
              <a:rect r="r" b="b" t="t" l="l"/>
              <a:pathLst>
                <a:path h="1370368" w="2423990">
                  <a:moveTo>
                    <a:pt x="41631" y="0"/>
                  </a:moveTo>
                  <a:lnTo>
                    <a:pt x="2382359" y="0"/>
                  </a:lnTo>
                  <a:cubicBezTo>
                    <a:pt x="2405351" y="0"/>
                    <a:pt x="2423990" y="18639"/>
                    <a:pt x="2423990" y="41631"/>
                  </a:cubicBezTo>
                  <a:lnTo>
                    <a:pt x="2423990" y="1328737"/>
                  </a:lnTo>
                  <a:cubicBezTo>
                    <a:pt x="2423990" y="1339778"/>
                    <a:pt x="2419604" y="1350367"/>
                    <a:pt x="2411797" y="1358175"/>
                  </a:cubicBezTo>
                  <a:cubicBezTo>
                    <a:pt x="2403990" y="1365982"/>
                    <a:pt x="2393400" y="1370368"/>
                    <a:pt x="2382359" y="1370368"/>
                  </a:cubicBezTo>
                  <a:lnTo>
                    <a:pt x="41631" y="1370368"/>
                  </a:lnTo>
                  <a:cubicBezTo>
                    <a:pt x="18639" y="1370368"/>
                    <a:pt x="0" y="1351729"/>
                    <a:pt x="0" y="1328737"/>
                  </a:cubicBezTo>
                  <a:lnTo>
                    <a:pt x="0" y="41631"/>
                  </a:lnTo>
                  <a:cubicBezTo>
                    <a:pt x="0" y="30590"/>
                    <a:pt x="4386" y="20001"/>
                    <a:pt x="12194" y="12194"/>
                  </a:cubicBezTo>
                  <a:cubicBezTo>
                    <a:pt x="20001" y="4386"/>
                    <a:pt x="30590" y="0"/>
                    <a:pt x="41631" y="0"/>
                  </a:cubicBezTo>
                  <a:close/>
                </a:path>
              </a:pathLst>
            </a:custGeom>
            <a:solidFill>
              <a:srgbClr val="FFFFFF"/>
            </a:solidFill>
            <a:ln w="19050" cap="rnd">
              <a:solidFill>
                <a:srgbClr val="01BEE1"/>
              </a:solidFill>
              <a:prstDash val="lgDash"/>
              <a:round/>
            </a:ln>
          </p:spPr>
        </p:sp>
        <p:sp>
          <p:nvSpPr>
            <p:cNvPr name="TextBox 10" id="10"/>
            <p:cNvSpPr txBox="true"/>
            <p:nvPr/>
          </p:nvSpPr>
          <p:spPr>
            <a:xfrm>
              <a:off x="0" y="-38100"/>
              <a:ext cx="2423990" cy="1408468"/>
            </a:xfrm>
            <a:prstGeom prst="rect">
              <a:avLst/>
            </a:prstGeom>
          </p:spPr>
          <p:txBody>
            <a:bodyPr anchor="ctr" rtlCol="false" tIns="47356" lIns="47356" bIns="47356" rIns="47356"/>
            <a:lstStyle/>
            <a:p>
              <a:pPr algn="ctr">
                <a:lnSpc>
                  <a:spcPts val="3359"/>
                </a:lnSpc>
              </a:pPr>
            </a:p>
          </p:txBody>
        </p:sp>
      </p:grpSp>
      <p:grpSp>
        <p:nvGrpSpPr>
          <p:cNvPr name="Group 11" id="11"/>
          <p:cNvGrpSpPr/>
          <p:nvPr/>
        </p:nvGrpSpPr>
        <p:grpSpPr>
          <a:xfrm rot="-5400000">
            <a:off x="12717259" y="2416578"/>
            <a:ext cx="1200871" cy="3145234"/>
            <a:chOff x="0" y="0"/>
            <a:chExt cx="339279" cy="888614"/>
          </a:xfrm>
        </p:grpSpPr>
        <p:sp>
          <p:nvSpPr>
            <p:cNvPr name="Freeform 12" id="12"/>
            <p:cNvSpPr/>
            <p:nvPr/>
          </p:nvSpPr>
          <p:spPr>
            <a:xfrm flipH="false" flipV="false" rot="0">
              <a:off x="0" y="0"/>
              <a:ext cx="339279" cy="888614"/>
            </a:xfrm>
            <a:custGeom>
              <a:avLst/>
              <a:gdLst/>
              <a:ahLst/>
              <a:cxnLst/>
              <a:rect r="r" b="b" t="t" l="l"/>
              <a:pathLst>
                <a:path h="888614" w="339279">
                  <a:moveTo>
                    <a:pt x="128938" y="0"/>
                  </a:moveTo>
                  <a:lnTo>
                    <a:pt x="210340" y="0"/>
                  </a:lnTo>
                  <a:cubicBezTo>
                    <a:pt x="244537" y="0"/>
                    <a:pt x="277333" y="13585"/>
                    <a:pt x="301513" y="37765"/>
                  </a:cubicBezTo>
                  <a:cubicBezTo>
                    <a:pt x="325694" y="61946"/>
                    <a:pt x="339279" y="94742"/>
                    <a:pt x="339279" y="128938"/>
                  </a:cubicBezTo>
                  <a:lnTo>
                    <a:pt x="339279" y="759676"/>
                  </a:lnTo>
                  <a:cubicBezTo>
                    <a:pt x="339279" y="793872"/>
                    <a:pt x="325694" y="826668"/>
                    <a:pt x="301513" y="850849"/>
                  </a:cubicBezTo>
                  <a:cubicBezTo>
                    <a:pt x="277333" y="875029"/>
                    <a:pt x="244537" y="888614"/>
                    <a:pt x="210340" y="888614"/>
                  </a:cubicBezTo>
                  <a:lnTo>
                    <a:pt x="128938" y="888614"/>
                  </a:lnTo>
                  <a:cubicBezTo>
                    <a:pt x="94742" y="888614"/>
                    <a:pt x="61946" y="875029"/>
                    <a:pt x="37765" y="850849"/>
                  </a:cubicBezTo>
                  <a:cubicBezTo>
                    <a:pt x="13585" y="826668"/>
                    <a:pt x="0" y="793872"/>
                    <a:pt x="0" y="759676"/>
                  </a:cubicBezTo>
                  <a:lnTo>
                    <a:pt x="0" y="128938"/>
                  </a:lnTo>
                  <a:cubicBezTo>
                    <a:pt x="0" y="94742"/>
                    <a:pt x="13585" y="61946"/>
                    <a:pt x="37765" y="37765"/>
                  </a:cubicBezTo>
                  <a:cubicBezTo>
                    <a:pt x="61946" y="13585"/>
                    <a:pt x="94742" y="0"/>
                    <a:pt x="128938" y="0"/>
                  </a:cubicBezTo>
                  <a:close/>
                </a:path>
              </a:pathLst>
            </a:custGeom>
            <a:solidFill>
              <a:srgbClr val="FFDDDD"/>
            </a:solidFill>
          </p:spPr>
        </p:sp>
        <p:sp>
          <p:nvSpPr>
            <p:cNvPr name="TextBox 13" id="13"/>
            <p:cNvSpPr txBox="true"/>
            <p:nvPr/>
          </p:nvSpPr>
          <p:spPr>
            <a:xfrm>
              <a:off x="0" y="-38100"/>
              <a:ext cx="339279" cy="926714"/>
            </a:xfrm>
            <a:prstGeom prst="rect">
              <a:avLst/>
            </a:prstGeom>
          </p:spPr>
          <p:txBody>
            <a:bodyPr anchor="ctr" rtlCol="false" tIns="47356" lIns="47356" bIns="47356" rIns="47356"/>
            <a:lstStyle/>
            <a:p>
              <a:pPr algn="ctr">
                <a:lnSpc>
                  <a:spcPts val="3359"/>
                </a:lnSpc>
              </a:pPr>
            </a:p>
          </p:txBody>
        </p:sp>
      </p:grpSp>
      <p:sp>
        <p:nvSpPr>
          <p:cNvPr name="Freeform 14" id="14"/>
          <p:cNvSpPr/>
          <p:nvPr/>
        </p:nvSpPr>
        <p:spPr>
          <a:xfrm flipH="false" flipV="false" rot="0">
            <a:off x="12098415" y="3512988"/>
            <a:ext cx="840506" cy="952414"/>
          </a:xfrm>
          <a:custGeom>
            <a:avLst/>
            <a:gdLst/>
            <a:ahLst/>
            <a:cxnLst/>
            <a:rect r="r" b="b" t="t" l="l"/>
            <a:pathLst>
              <a:path h="952414" w="840506">
                <a:moveTo>
                  <a:pt x="0" y="0"/>
                </a:moveTo>
                <a:lnTo>
                  <a:pt x="840506" y="0"/>
                </a:lnTo>
                <a:lnTo>
                  <a:pt x="840506" y="952414"/>
                </a:lnTo>
                <a:lnTo>
                  <a:pt x="0" y="9524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5" id="15"/>
          <p:cNvGrpSpPr/>
          <p:nvPr/>
        </p:nvGrpSpPr>
        <p:grpSpPr>
          <a:xfrm rot="-5400000">
            <a:off x="12717259" y="5682458"/>
            <a:ext cx="1200871" cy="3063766"/>
            <a:chOff x="0" y="0"/>
            <a:chExt cx="339279" cy="865597"/>
          </a:xfrm>
        </p:grpSpPr>
        <p:sp>
          <p:nvSpPr>
            <p:cNvPr name="Freeform 16" id="16"/>
            <p:cNvSpPr/>
            <p:nvPr/>
          </p:nvSpPr>
          <p:spPr>
            <a:xfrm flipH="false" flipV="false" rot="0">
              <a:off x="0" y="0"/>
              <a:ext cx="339279" cy="865597"/>
            </a:xfrm>
            <a:custGeom>
              <a:avLst/>
              <a:gdLst/>
              <a:ahLst/>
              <a:cxnLst/>
              <a:rect r="r" b="b" t="t" l="l"/>
              <a:pathLst>
                <a:path h="865597" w="339279">
                  <a:moveTo>
                    <a:pt x="128938" y="0"/>
                  </a:moveTo>
                  <a:lnTo>
                    <a:pt x="210340" y="0"/>
                  </a:lnTo>
                  <a:cubicBezTo>
                    <a:pt x="244537" y="0"/>
                    <a:pt x="277333" y="13585"/>
                    <a:pt x="301513" y="37765"/>
                  </a:cubicBezTo>
                  <a:cubicBezTo>
                    <a:pt x="325694" y="61946"/>
                    <a:pt x="339279" y="94742"/>
                    <a:pt x="339279" y="128938"/>
                  </a:cubicBezTo>
                  <a:lnTo>
                    <a:pt x="339279" y="736659"/>
                  </a:lnTo>
                  <a:cubicBezTo>
                    <a:pt x="339279" y="770855"/>
                    <a:pt x="325694" y="803651"/>
                    <a:pt x="301513" y="827832"/>
                  </a:cubicBezTo>
                  <a:cubicBezTo>
                    <a:pt x="277333" y="852013"/>
                    <a:pt x="244537" y="865597"/>
                    <a:pt x="210340" y="865597"/>
                  </a:cubicBezTo>
                  <a:lnTo>
                    <a:pt x="128938" y="865597"/>
                  </a:lnTo>
                  <a:cubicBezTo>
                    <a:pt x="94742" y="865597"/>
                    <a:pt x="61946" y="852013"/>
                    <a:pt x="37765" y="827832"/>
                  </a:cubicBezTo>
                  <a:cubicBezTo>
                    <a:pt x="13585" y="803651"/>
                    <a:pt x="0" y="770855"/>
                    <a:pt x="0" y="736659"/>
                  </a:cubicBezTo>
                  <a:lnTo>
                    <a:pt x="0" y="128938"/>
                  </a:lnTo>
                  <a:cubicBezTo>
                    <a:pt x="0" y="94742"/>
                    <a:pt x="13585" y="61946"/>
                    <a:pt x="37765" y="37765"/>
                  </a:cubicBezTo>
                  <a:cubicBezTo>
                    <a:pt x="61946" y="13585"/>
                    <a:pt x="94742" y="0"/>
                    <a:pt x="128938" y="0"/>
                  </a:cubicBezTo>
                  <a:close/>
                </a:path>
              </a:pathLst>
            </a:custGeom>
            <a:solidFill>
              <a:srgbClr val="D8F9FF"/>
            </a:solidFill>
          </p:spPr>
        </p:sp>
        <p:sp>
          <p:nvSpPr>
            <p:cNvPr name="TextBox 17" id="17"/>
            <p:cNvSpPr txBox="true"/>
            <p:nvPr/>
          </p:nvSpPr>
          <p:spPr>
            <a:xfrm>
              <a:off x="0" y="-38100"/>
              <a:ext cx="339279" cy="903697"/>
            </a:xfrm>
            <a:prstGeom prst="rect">
              <a:avLst/>
            </a:prstGeom>
          </p:spPr>
          <p:txBody>
            <a:bodyPr anchor="ctr" rtlCol="false" tIns="47356" lIns="47356" bIns="47356" rIns="47356"/>
            <a:lstStyle/>
            <a:p>
              <a:pPr algn="ctr">
                <a:lnSpc>
                  <a:spcPts val="3359"/>
                </a:lnSpc>
              </a:pPr>
            </a:p>
          </p:txBody>
        </p:sp>
      </p:grpSp>
      <p:sp>
        <p:nvSpPr>
          <p:cNvPr name="Freeform 18" id="18"/>
          <p:cNvSpPr/>
          <p:nvPr/>
        </p:nvSpPr>
        <p:spPr>
          <a:xfrm flipH="false" flipV="false" rot="0">
            <a:off x="12160436" y="6850982"/>
            <a:ext cx="946390" cy="735818"/>
          </a:xfrm>
          <a:custGeom>
            <a:avLst/>
            <a:gdLst/>
            <a:ahLst/>
            <a:cxnLst/>
            <a:rect r="r" b="b" t="t" l="l"/>
            <a:pathLst>
              <a:path h="735818" w="946390">
                <a:moveTo>
                  <a:pt x="0" y="0"/>
                </a:moveTo>
                <a:lnTo>
                  <a:pt x="946391" y="0"/>
                </a:lnTo>
                <a:lnTo>
                  <a:pt x="946391" y="735818"/>
                </a:lnTo>
                <a:lnTo>
                  <a:pt x="0" y="735818"/>
                </a:lnTo>
                <a:lnTo>
                  <a:pt x="0" y="0"/>
                </a:lnTo>
                <a:close/>
              </a:path>
            </a:pathLst>
          </a:custGeom>
          <a:blipFill>
            <a:blip r:embed="rId6"/>
            <a:stretch>
              <a:fillRect l="0" t="0" r="0" b="0"/>
            </a:stretch>
          </a:blipFill>
        </p:spPr>
      </p:sp>
      <p:sp>
        <p:nvSpPr>
          <p:cNvPr name="Freeform 19" id="19"/>
          <p:cNvSpPr/>
          <p:nvPr/>
        </p:nvSpPr>
        <p:spPr>
          <a:xfrm flipH="false" flipV="false" rot="0">
            <a:off x="13023163" y="6190886"/>
            <a:ext cx="589061" cy="589061"/>
          </a:xfrm>
          <a:custGeom>
            <a:avLst/>
            <a:gdLst/>
            <a:ahLst/>
            <a:cxnLst/>
            <a:rect r="r" b="b" t="t" l="l"/>
            <a:pathLst>
              <a:path h="589061" w="589061">
                <a:moveTo>
                  <a:pt x="0" y="0"/>
                </a:moveTo>
                <a:lnTo>
                  <a:pt x="589061" y="0"/>
                </a:lnTo>
                <a:lnTo>
                  <a:pt x="589061" y="589062"/>
                </a:lnTo>
                <a:lnTo>
                  <a:pt x="0" y="589062"/>
                </a:lnTo>
                <a:lnTo>
                  <a:pt x="0" y="0"/>
                </a:lnTo>
                <a:close/>
              </a:path>
            </a:pathLst>
          </a:custGeom>
          <a:blipFill>
            <a:blip r:embed="rId7"/>
            <a:stretch>
              <a:fillRect l="0" t="0" r="0" b="0"/>
            </a:stretch>
          </a:blipFill>
        </p:spPr>
      </p:sp>
      <p:sp>
        <p:nvSpPr>
          <p:cNvPr name="Freeform 20" id="20"/>
          <p:cNvSpPr/>
          <p:nvPr/>
        </p:nvSpPr>
        <p:spPr>
          <a:xfrm flipH="false" flipV="false" rot="0">
            <a:off x="13141218" y="2964263"/>
            <a:ext cx="589061" cy="589061"/>
          </a:xfrm>
          <a:custGeom>
            <a:avLst/>
            <a:gdLst/>
            <a:ahLst/>
            <a:cxnLst/>
            <a:rect r="r" b="b" t="t" l="l"/>
            <a:pathLst>
              <a:path h="589061" w="589061">
                <a:moveTo>
                  <a:pt x="0" y="0"/>
                </a:moveTo>
                <a:lnTo>
                  <a:pt x="589061" y="0"/>
                </a:lnTo>
                <a:lnTo>
                  <a:pt x="589061" y="589061"/>
                </a:lnTo>
                <a:lnTo>
                  <a:pt x="0" y="589061"/>
                </a:lnTo>
                <a:lnTo>
                  <a:pt x="0" y="0"/>
                </a:lnTo>
                <a:close/>
              </a:path>
            </a:pathLst>
          </a:custGeom>
          <a:blipFill>
            <a:blip r:embed="rId7"/>
            <a:stretch>
              <a:fillRect l="0" t="0" r="0" b="0"/>
            </a:stretch>
          </a:blipFill>
        </p:spPr>
      </p:sp>
      <p:grpSp>
        <p:nvGrpSpPr>
          <p:cNvPr name="Group 21" id="21"/>
          <p:cNvGrpSpPr/>
          <p:nvPr/>
        </p:nvGrpSpPr>
        <p:grpSpPr>
          <a:xfrm rot="-5400000">
            <a:off x="7095557" y="4197474"/>
            <a:ext cx="1200871" cy="2710311"/>
            <a:chOff x="0" y="0"/>
            <a:chExt cx="339279" cy="765736"/>
          </a:xfrm>
        </p:grpSpPr>
        <p:sp>
          <p:nvSpPr>
            <p:cNvPr name="Freeform 22" id="22"/>
            <p:cNvSpPr/>
            <p:nvPr/>
          </p:nvSpPr>
          <p:spPr>
            <a:xfrm flipH="false" flipV="false" rot="0">
              <a:off x="0" y="0"/>
              <a:ext cx="339279" cy="765736"/>
            </a:xfrm>
            <a:custGeom>
              <a:avLst/>
              <a:gdLst/>
              <a:ahLst/>
              <a:cxnLst/>
              <a:rect r="r" b="b" t="t" l="l"/>
              <a:pathLst>
                <a:path h="765736" w="339279">
                  <a:moveTo>
                    <a:pt x="128938" y="0"/>
                  </a:moveTo>
                  <a:lnTo>
                    <a:pt x="210340" y="0"/>
                  </a:lnTo>
                  <a:cubicBezTo>
                    <a:pt x="244537" y="0"/>
                    <a:pt x="277333" y="13585"/>
                    <a:pt x="301513" y="37765"/>
                  </a:cubicBezTo>
                  <a:cubicBezTo>
                    <a:pt x="325694" y="61946"/>
                    <a:pt x="339279" y="94742"/>
                    <a:pt x="339279" y="128938"/>
                  </a:cubicBezTo>
                  <a:lnTo>
                    <a:pt x="339279" y="636798"/>
                  </a:lnTo>
                  <a:cubicBezTo>
                    <a:pt x="339279" y="670995"/>
                    <a:pt x="325694" y="703791"/>
                    <a:pt x="301513" y="727971"/>
                  </a:cubicBezTo>
                  <a:cubicBezTo>
                    <a:pt x="277333" y="752152"/>
                    <a:pt x="244537" y="765736"/>
                    <a:pt x="210340" y="765736"/>
                  </a:cubicBezTo>
                  <a:lnTo>
                    <a:pt x="128938" y="765736"/>
                  </a:lnTo>
                  <a:cubicBezTo>
                    <a:pt x="94742" y="765736"/>
                    <a:pt x="61946" y="752152"/>
                    <a:pt x="37765" y="727971"/>
                  </a:cubicBezTo>
                  <a:cubicBezTo>
                    <a:pt x="13585" y="703791"/>
                    <a:pt x="0" y="670995"/>
                    <a:pt x="0" y="636798"/>
                  </a:cubicBezTo>
                  <a:lnTo>
                    <a:pt x="0" y="128938"/>
                  </a:lnTo>
                  <a:cubicBezTo>
                    <a:pt x="0" y="94742"/>
                    <a:pt x="13585" y="61946"/>
                    <a:pt x="37765" y="37765"/>
                  </a:cubicBezTo>
                  <a:cubicBezTo>
                    <a:pt x="61946" y="13585"/>
                    <a:pt x="94742" y="0"/>
                    <a:pt x="128938" y="0"/>
                  </a:cubicBezTo>
                  <a:close/>
                </a:path>
              </a:pathLst>
            </a:custGeom>
            <a:solidFill>
              <a:srgbClr val="FFF8DC"/>
            </a:solidFill>
          </p:spPr>
        </p:sp>
        <p:sp>
          <p:nvSpPr>
            <p:cNvPr name="TextBox 23" id="23"/>
            <p:cNvSpPr txBox="true"/>
            <p:nvPr/>
          </p:nvSpPr>
          <p:spPr>
            <a:xfrm>
              <a:off x="0" y="-38100"/>
              <a:ext cx="339279" cy="803836"/>
            </a:xfrm>
            <a:prstGeom prst="rect">
              <a:avLst/>
            </a:prstGeom>
          </p:spPr>
          <p:txBody>
            <a:bodyPr anchor="ctr" rtlCol="false" tIns="47356" lIns="47356" bIns="47356" rIns="47356"/>
            <a:lstStyle/>
            <a:p>
              <a:pPr algn="ctr">
                <a:lnSpc>
                  <a:spcPts val="3359"/>
                </a:lnSpc>
              </a:pPr>
            </a:p>
          </p:txBody>
        </p:sp>
      </p:grpSp>
      <p:sp>
        <p:nvSpPr>
          <p:cNvPr name="Freeform 24" id="24"/>
          <p:cNvSpPr/>
          <p:nvPr/>
        </p:nvSpPr>
        <p:spPr>
          <a:xfrm flipH="false" flipV="false" rot="0">
            <a:off x="7154595" y="4952194"/>
            <a:ext cx="1212846" cy="1212846"/>
          </a:xfrm>
          <a:custGeom>
            <a:avLst/>
            <a:gdLst/>
            <a:ahLst/>
            <a:cxnLst/>
            <a:rect r="r" b="b" t="t" l="l"/>
            <a:pathLst>
              <a:path h="1212846" w="1212846">
                <a:moveTo>
                  <a:pt x="0" y="0"/>
                </a:moveTo>
                <a:lnTo>
                  <a:pt x="1212847" y="0"/>
                </a:lnTo>
                <a:lnTo>
                  <a:pt x="1212847" y="1212846"/>
                </a:lnTo>
                <a:lnTo>
                  <a:pt x="0" y="121284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5" id="25"/>
          <p:cNvSpPr/>
          <p:nvPr/>
        </p:nvSpPr>
        <p:spPr>
          <a:xfrm flipH="false" flipV="false" rot="0">
            <a:off x="7466488" y="4589630"/>
            <a:ext cx="589061" cy="589061"/>
          </a:xfrm>
          <a:custGeom>
            <a:avLst/>
            <a:gdLst/>
            <a:ahLst/>
            <a:cxnLst/>
            <a:rect r="r" b="b" t="t" l="l"/>
            <a:pathLst>
              <a:path h="589061" w="589061">
                <a:moveTo>
                  <a:pt x="0" y="0"/>
                </a:moveTo>
                <a:lnTo>
                  <a:pt x="589061" y="0"/>
                </a:lnTo>
                <a:lnTo>
                  <a:pt x="589061" y="589062"/>
                </a:lnTo>
                <a:lnTo>
                  <a:pt x="0" y="589062"/>
                </a:lnTo>
                <a:lnTo>
                  <a:pt x="0" y="0"/>
                </a:lnTo>
                <a:close/>
              </a:path>
            </a:pathLst>
          </a:custGeom>
          <a:blipFill>
            <a:blip r:embed="rId7"/>
            <a:stretch>
              <a:fillRect l="0" t="0" r="0" b="0"/>
            </a:stretch>
          </a:blipFill>
        </p:spPr>
      </p:sp>
      <p:sp>
        <p:nvSpPr>
          <p:cNvPr name="AutoShape 26" id="26"/>
          <p:cNvSpPr/>
          <p:nvPr/>
        </p:nvSpPr>
        <p:spPr>
          <a:xfrm flipV="true">
            <a:off x="9596288" y="3989195"/>
            <a:ext cx="1721678" cy="1267352"/>
          </a:xfrm>
          <a:prstGeom prst="line">
            <a:avLst/>
          </a:prstGeom>
          <a:ln cap="flat" w="28575">
            <a:solidFill>
              <a:srgbClr val="737373">
                <a:alpha val="77647"/>
              </a:srgbClr>
            </a:solidFill>
            <a:prstDash val="solid"/>
            <a:headEnd type="arrow" len="sm" w="med"/>
            <a:tailEnd type="arrow" len="sm" w="med"/>
          </a:ln>
        </p:spPr>
      </p:sp>
      <p:sp>
        <p:nvSpPr>
          <p:cNvPr name="Freeform 27" id="27"/>
          <p:cNvSpPr/>
          <p:nvPr/>
        </p:nvSpPr>
        <p:spPr>
          <a:xfrm flipH="false" flipV="false" rot="0">
            <a:off x="1464798" y="4589630"/>
            <a:ext cx="1370658" cy="1582289"/>
          </a:xfrm>
          <a:custGeom>
            <a:avLst/>
            <a:gdLst/>
            <a:ahLst/>
            <a:cxnLst/>
            <a:rect r="r" b="b" t="t" l="l"/>
            <a:pathLst>
              <a:path h="1582289" w="1370658">
                <a:moveTo>
                  <a:pt x="0" y="0"/>
                </a:moveTo>
                <a:lnTo>
                  <a:pt x="1370658" y="0"/>
                </a:lnTo>
                <a:lnTo>
                  <a:pt x="1370658" y="1582290"/>
                </a:lnTo>
                <a:lnTo>
                  <a:pt x="0" y="158229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AutoShape 28" id="28"/>
          <p:cNvSpPr/>
          <p:nvPr/>
        </p:nvSpPr>
        <p:spPr>
          <a:xfrm flipV="true">
            <a:off x="3368884" y="5552629"/>
            <a:ext cx="2971952" cy="5988"/>
          </a:xfrm>
          <a:prstGeom prst="line">
            <a:avLst/>
          </a:prstGeom>
          <a:ln cap="flat" w="28575">
            <a:solidFill>
              <a:srgbClr val="737373">
                <a:alpha val="77647"/>
              </a:srgbClr>
            </a:solidFill>
            <a:prstDash val="solid"/>
            <a:headEnd type="arrow" len="sm" w="med"/>
            <a:tailEnd type="arrow" len="sm" w="med"/>
          </a:ln>
        </p:spPr>
      </p:sp>
      <p:sp>
        <p:nvSpPr>
          <p:cNvPr name="Freeform 29" id="29"/>
          <p:cNvSpPr/>
          <p:nvPr/>
        </p:nvSpPr>
        <p:spPr>
          <a:xfrm flipH="false" flipV="false" rot="0">
            <a:off x="6822931" y="7494420"/>
            <a:ext cx="2268224" cy="921953"/>
          </a:xfrm>
          <a:custGeom>
            <a:avLst/>
            <a:gdLst/>
            <a:ahLst/>
            <a:cxnLst/>
            <a:rect r="r" b="b" t="t" l="l"/>
            <a:pathLst>
              <a:path h="921953" w="2268224">
                <a:moveTo>
                  <a:pt x="0" y="0"/>
                </a:moveTo>
                <a:lnTo>
                  <a:pt x="2268223" y="0"/>
                </a:lnTo>
                <a:lnTo>
                  <a:pt x="2268223" y="921953"/>
                </a:lnTo>
                <a:lnTo>
                  <a:pt x="0" y="921953"/>
                </a:lnTo>
                <a:lnTo>
                  <a:pt x="0" y="0"/>
                </a:lnTo>
                <a:close/>
              </a:path>
            </a:pathLst>
          </a:custGeom>
          <a:blipFill>
            <a:blip r:embed="rId12"/>
            <a:stretch>
              <a:fillRect l="0" t="-6310" r="0" b="-11781"/>
            </a:stretch>
          </a:blipFill>
        </p:spPr>
      </p:sp>
      <p:sp>
        <p:nvSpPr>
          <p:cNvPr name="AutoShape 30" id="30"/>
          <p:cNvSpPr/>
          <p:nvPr/>
        </p:nvSpPr>
        <p:spPr>
          <a:xfrm>
            <a:off x="9596288" y="5951800"/>
            <a:ext cx="1721678" cy="1095610"/>
          </a:xfrm>
          <a:prstGeom prst="line">
            <a:avLst/>
          </a:prstGeom>
          <a:ln cap="flat" w="28575">
            <a:solidFill>
              <a:srgbClr val="737373">
                <a:alpha val="77647"/>
              </a:srgbClr>
            </a:solidFill>
            <a:prstDash val="solid"/>
            <a:headEnd type="arrow" len="sm" w="med"/>
            <a:tailEnd type="arrow" len="sm" w="med"/>
          </a:ln>
        </p:spPr>
      </p:sp>
      <p:sp>
        <p:nvSpPr>
          <p:cNvPr name="Freeform 31" id="31"/>
          <p:cNvSpPr/>
          <p:nvPr/>
        </p:nvSpPr>
        <p:spPr>
          <a:xfrm flipH="false" flipV="false" rot="0">
            <a:off x="9144000" y="1239442"/>
            <a:ext cx="1036504" cy="1507643"/>
          </a:xfrm>
          <a:custGeom>
            <a:avLst/>
            <a:gdLst/>
            <a:ahLst/>
            <a:cxnLst/>
            <a:rect r="r" b="b" t="t" l="l"/>
            <a:pathLst>
              <a:path h="1507643" w="1036504">
                <a:moveTo>
                  <a:pt x="0" y="0"/>
                </a:moveTo>
                <a:lnTo>
                  <a:pt x="1036504" y="0"/>
                </a:lnTo>
                <a:lnTo>
                  <a:pt x="1036504" y="1507643"/>
                </a:lnTo>
                <a:lnTo>
                  <a:pt x="0" y="150764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32" id="32"/>
          <p:cNvSpPr txBox="true"/>
          <p:nvPr/>
        </p:nvSpPr>
        <p:spPr>
          <a:xfrm rot="0">
            <a:off x="763112" y="9369641"/>
            <a:ext cx="12119638" cy="409575"/>
          </a:xfrm>
          <a:prstGeom prst="rect">
            <a:avLst/>
          </a:prstGeom>
        </p:spPr>
        <p:txBody>
          <a:bodyPr anchor="t" rtlCol="false" tIns="0" lIns="0" bIns="0" rIns="0">
            <a:spAutoFit/>
          </a:bodyPr>
          <a:lstStyle/>
          <a:p>
            <a:pPr algn="l" marL="0" indent="0" lvl="0">
              <a:lnSpc>
                <a:spcPts val="3120"/>
              </a:lnSpc>
              <a:spcBef>
                <a:spcPct val="0"/>
              </a:spcBef>
            </a:pPr>
            <a:r>
              <a:rPr lang="en-US" b="true" sz="2600" spc="72" strike="noStrike" u="none">
                <a:solidFill>
                  <a:srgbClr val="00618A"/>
                </a:solidFill>
                <a:latin typeface="Arimo Bold"/>
                <a:ea typeface="Arimo Bold"/>
                <a:cs typeface="Arimo Bold"/>
                <a:sym typeface="Arimo Bold"/>
              </a:rPr>
              <a:t>XÂY DỰNG HỆ THỐNG TẠO VÀ ĐÁNH GIÁ</a:t>
            </a:r>
            <a:r>
              <a:rPr lang="en-US" b="true" sz="2600" spc="72" strike="noStrike" u="none">
                <a:solidFill>
                  <a:srgbClr val="00618A"/>
                </a:solidFill>
                <a:latin typeface="Arimo Bold"/>
                <a:ea typeface="Arimo Bold"/>
                <a:cs typeface="Arimo Bold"/>
                <a:sym typeface="Arimo Bold"/>
              </a:rPr>
              <a:t> HỒ SƠ XIN VIỆC TÍCH HỢP AI</a:t>
            </a:r>
          </a:p>
        </p:txBody>
      </p:sp>
      <p:sp>
        <p:nvSpPr>
          <p:cNvPr name="TextBox 33" id="33"/>
          <p:cNvSpPr txBox="true"/>
          <p:nvPr/>
        </p:nvSpPr>
        <p:spPr>
          <a:xfrm rot="0">
            <a:off x="1041536" y="688092"/>
            <a:ext cx="7195576" cy="438150"/>
          </a:xfrm>
          <a:prstGeom prst="rect">
            <a:avLst/>
          </a:prstGeom>
        </p:spPr>
        <p:txBody>
          <a:bodyPr anchor="t" rtlCol="false" tIns="0" lIns="0" bIns="0" rIns="0">
            <a:spAutoFit/>
          </a:bodyPr>
          <a:lstStyle/>
          <a:p>
            <a:pPr algn="l" marL="0" indent="0" lvl="0">
              <a:lnSpc>
                <a:spcPts val="3359"/>
              </a:lnSpc>
              <a:spcBef>
                <a:spcPct val="0"/>
              </a:spcBef>
            </a:pPr>
            <a:r>
              <a:rPr lang="en-US" sz="2799" i="true" spc="77">
                <a:solidFill>
                  <a:srgbClr val="00618A"/>
                </a:solidFill>
                <a:latin typeface="Arimo Italics"/>
                <a:ea typeface="Arimo Italics"/>
                <a:cs typeface="Arimo Italics"/>
                <a:sym typeface="Arimo Italics"/>
              </a:rPr>
              <a:t>4. Cài đặt hệ thống và kết quả thử nghiệm </a:t>
            </a:r>
          </a:p>
        </p:txBody>
      </p:sp>
      <p:sp>
        <p:nvSpPr>
          <p:cNvPr name="TextBox 34" id="34"/>
          <p:cNvSpPr txBox="true"/>
          <p:nvPr/>
        </p:nvSpPr>
        <p:spPr>
          <a:xfrm rot="0">
            <a:off x="1041536" y="1078617"/>
            <a:ext cx="6067738" cy="438150"/>
          </a:xfrm>
          <a:prstGeom prst="rect">
            <a:avLst/>
          </a:prstGeom>
        </p:spPr>
        <p:txBody>
          <a:bodyPr anchor="t" rtlCol="false" tIns="0" lIns="0" bIns="0" rIns="0">
            <a:spAutoFit/>
          </a:bodyPr>
          <a:lstStyle/>
          <a:p>
            <a:pPr algn="l" marL="0" indent="0" lvl="0">
              <a:lnSpc>
                <a:spcPts val="3359"/>
              </a:lnSpc>
              <a:spcBef>
                <a:spcPct val="0"/>
              </a:spcBef>
            </a:pPr>
            <a:r>
              <a:rPr lang="en-US" b="true" sz="2799" spc="77">
                <a:solidFill>
                  <a:srgbClr val="00618A"/>
                </a:solidFill>
                <a:latin typeface="Arimo Bold"/>
                <a:ea typeface="Arimo Bold"/>
                <a:cs typeface="Arimo Bold"/>
                <a:sym typeface="Arimo Bold"/>
              </a:rPr>
              <a:t>Đóng gói triển khai</a:t>
            </a:r>
          </a:p>
        </p:txBody>
      </p:sp>
      <p:sp>
        <p:nvSpPr>
          <p:cNvPr name="TextBox 35" id="35"/>
          <p:cNvSpPr txBox="true"/>
          <p:nvPr/>
        </p:nvSpPr>
        <p:spPr>
          <a:xfrm rot="0">
            <a:off x="13141218" y="3576733"/>
            <a:ext cx="1344871" cy="381486"/>
          </a:xfrm>
          <a:prstGeom prst="rect">
            <a:avLst/>
          </a:prstGeom>
        </p:spPr>
        <p:txBody>
          <a:bodyPr anchor="t" rtlCol="false" tIns="0" lIns="0" bIns="0" rIns="0">
            <a:spAutoFit/>
          </a:bodyPr>
          <a:lstStyle/>
          <a:p>
            <a:pPr algn="ctr">
              <a:lnSpc>
                <a:spcPts val="3132"/>
              </a:lnSpc>
              <a:spcBef>
                <a:spcPct val="0"/>
              </a:spcBef>
            </a:pPr>
            <a:r>
              <a:rPr lang="en-US" b="true" sz="2237">
                <a:solidFill>
                  <a:srgbClr val="FA605E"/>
                </a:solidFill>
                <a:latin typeface="Open Sans Bold"/>
                <a:ea typeface="Open Sans Bold"/>
                <a:cs typeface="Open Sans Bold"/>
                <a:sym typeface="Open Sans Bold"/>
              </a:rPr>
              <a:t>Frontend</a:t>
            </a:r>
          </a:p>
        </p:txBody>
      </p:sp>
      <p:sp>
        <p:nvSpPr>
          <p:cNvPr name="TextBox 36" id="36"/>
          <p:cNvSpPr txBox="true"/>
          <p:nvPr/>
        </p:nvSpPr>
        <p:spPr>
          <a:xfrm rot="0">
            <a:off x="13141218" y="3977415"/>
            <a:ext cx="874733" cy="328803"/>
          </a:xfrm>
          <a:prstGeom prst="rect">
            <a:avLst/>
          </a:prstGeom>
        </p:spPr>
        <p:txBody>
          <a:bodyPr anchor="t" rtlCol="false" tIns="0" lIns="0" bIns="0" rIns="0">
            <a:spAutoFit/>
          </a:bodyPr>
          <a:lstStyle/>
          <a:p>
            <a:pPr algn="ctr">
              <a:lnSpc>
                <a:spcPts val="2610"/>
              </a:lnSpc>
              <a:spcBef>
                <a:spcPct val="0"/>
              </a:spcBef>
            </a:pPr>
            <a:r>
              <a:rPr lang="en-US" sz="1864">
                <a:solidFill>
                  <a:srgbClr val="FA605E"/>
                </a:solidFill>
                <a:latin typeface="Open Sans"/>
                <a:ea typeface="Open Sans"/>
                <a:cs typeface="Open Sans"/>
                <a:sym typeface="Open Sans"/>
              </a:rPr>
              <a:t>Next.js</a:t>
            </a:r>
          </a:p>
        </p:txBody>
      </p:sp>
      <p:sp>
        <p:nvSpPr>
          <p:cNvPr name="TextBox 37" id="37"/>
          <p:cNvSpPr txBox="true"/>
          <p:nvPr/>
        </p:nvSpPr>
        <p:spPr>
          <a:xfrm rot="0">
            <a:off x="13251645" y="6832855"/>
            <a:ext cx="1344871" cy="381486"/>
          </a:xfrm>
          <a:prstGeom prst="rect">
            <a:avLst/>
          </a:prstGeom>
        </p:spPr>
        <p:txBody>
          <a:bodyPr anchor="t" rtlCol="false" tIns="0" lIns="0" bIns="0" rIns="0">
            <a:spAutoFit/>
          </a:bodyPr>
          <a:lstStyle/>
          <a:p>
            <a:pPr algn="ctr">
              <a:lnSpc>
                <a:spcPts val="3132"/>
              </a:lnSpc>
              <a:spcBef>
                <a:spcPct val="0"/>
              </a:spcBef>
            </a:pPr>
            <a:r>
              <a:rPr lang="en-US" b="true" sz="2237">
                <a:solidFill>
                  <a:srgbClr val="01BEE0"/>
                </a:solidFill>
                <a:latin typeface="Open Sans Bold"/>
                <a:ea typeface="Open Sans Bold"/>
                <a:cs typeface="Open Sans Bold"/>
                <a:sym typeface="Open Sans Bold"/>
              </a:rPr>
              <a:t>Backend</a:t>
            </a:r>
          </a:p>
        </p:txBody>
      </p:sp>
      <p:sp>
        <p:nvSpPr>
          <p:cNvPr name="TextBox 38" id="38"/>
          <p:cNvSpPr txBox="true"/>
          <p:nvPr/>
        </p:nvSpPr>
        <p:spPr>
          <a:xfrm rot="0">
            <a:off x="13138373" y="7236395"/>
            <a:ext cx="785707" cy="328803"/>
          </a:xfrm>
          <a:prstGeom prst="rect">
            <a:avLst/>
          </a:prstGeom>
        </p:spPr>
        <p:txBody>
          <a:bodyPr anchor="t" rtlCol="false" tIns="0" lIns="0" bIns="0" rIns="0">
            <a:spAutoFit/>
          </a:bodyPr>
          <a:lstStyle/>
          <a:p>
            <a:pPr algn="ctr">
              <a:lnSpc>
                <a:spcPts val="2610"/>
              </a:lnSpc>
              <a:spcBef>
                <a:spcPct val="0"/>
              </a:spcBef>
            </a:pPr>
            <a:r>
              <a:rPr lang="en-US" sz="1864">
                <a:solidFill>
                  <a:srgbClr val="01BEE0"/>
                </a:solidFill>
                <a:latin typeface="Open Sans"/>
                <a:ea typeface="Open Sans"/>
                <a:cs typeface="Open Sans"/>
                <a:sym typeface="Open Sans"/>
              </a:rPr>
              <a:t>.NET</a:t>
            </a:r>
          </a:p>
        </p:txBody>
      </p:sp>
      <p:sp>
        <p:nvSpPr>
          <p:cNvPr name="TextBox 39" id="39"/>
          <p:cNvSpPr txBox="true"/>
          <p:nvPr/>
        </p:nvSpPr>
        <p:spPr>
          <a:xfrm rot="0">
            <a:off x="3518761" y="5645632"/>
            <a:ext cx="2241126" cy="396877"/>
          </a:xfrm>
          <a:prstGeom prst="rect">
            <a:avLst/>
          </a:prstGeom>
        </p:spPr>
        <p:txBody>
          <a:bodyPr anchor="t" rtlCol="false" tIns="0" lIns="0" bIns="0" rIns="0">
            <a:spAutoFit/>
          </a:bodyPr>
          <a:lstStyle/>
          <a:p>
            <a:pPr algn="ctr">
              <a:lnSpc>
                <a:spcPts val="3262"/>
              </a:lnSpc>
              <a:spcBef>
                <a:spcPct val="0"/>
              </a:spcBef>
            </a:pPr>
            <a:r>
              <a:rPr lang="en-US" sz="2330" i="true">
                <a:solidFill>
                  <a:srgbClr val="000000"/>
                </a:solidFill>
                <a:latin typeface="Open Sans Italics"/>
                <a:ea typeface="Open Sans Italics"/>
                <a:cs typeface="Open Sans Italics"/>
                <a:sym typeface="Open Sans Italics"/>
              </a:rPr>
              <a:t>home_domain</a:t>
            </a:r>
          </a:p>
        </p:txBody>
      </p:sp>
      <p:sp>
        <p:nvSpPr>
          <p:cNvPr name="TextBox 40" id="40"/>
          <p:cNvSpPr txBox="true"/>
          <p:nvPr/>
        </p:nvSpPr>
        <p:spPr>
          <a:xfrm rot="-2214331">
            <a:off x="8930922" y="4226536"/>
            <a:ext cx="2241126" cy="396877"/>
          </a:xfrm>
          <a:prstGeom prst="rect">
            <a:avLst/>
          </a:prstGeom>
        </p:spPr>
        <p:txBody>
          <a:bodyPr anchor="t" rtlCol="false" tIns="0" lIns="0" bIns="0" rIns="0">
            <a:spAutoFit/>
          </a:bodyPr>
          <a:lstStyle/>
          <a:p>
            <a:pPr algn="ctr">
              <a:lnSpc>
                <a:spcPts val="3262"/>
              </a:lnSpc>
              <a:spcBef>
                <a:spcPct val="0"/>
              </a:spcBef>
            </a:pPr>
            <a:r>
              <a:rPr lang="en-US" sz="2330" i="true">
                <a:solidFill>
                  <a:srgbClr val="000000"/>
                </a:solidFill>
                <a:latin typeface="Open Sans Italics"/>
                <a:ea typeface="Open Sans Italics"/>
                <a:cs typeface="Open Sans Italics"/>
                <a:sym typeface="Open Sans Italics"/>
              </a:rPr>
              <a:t>home_domain</a:t>
            </a:r>
          </a:p>
        </p:txBody>
      </p:sp>
      <p:sp>
        <p:nvSpPr>
          <p:cNvPr name="TextBox 41" id="41"/>
          <p:cNvSpPr txBox="true"/>
          <p:nvPr/>
        </p:nvSpPr>
        <p:spPr>
          <a:xfrm rot="1989262">
            <a:off x="8570069" y="6552052"/>
            <a:ext cx="3483704" cy="396877"/>
          </a:xfrm>
          <a:prstGeom prst="rect">
            <a:avLst/>
          </a:prstGeom>
        </p:spPr>
        <p:txBody>
          <a:bodyPr anchor="t" rtlCol="false" tIns="0" lIns="0" bIns="0" rIns="0">
            <a:spAutoFit/>
          </a:bodyPr>
          <a:lstStyle/>
          <a:p>
            <a:pPr algn="ctr">
              <a:lnSpc>
                <a:spcPts val="3262"/>
              </a:lnSpc>
              <a:spcBef>
                <a:spcPct val="0"/>
              </a:spcBef>
            </a:pPr>
            <a:r>
              <a:rPr lang="en-US" sz="2330" i="true">
                <a:solidFill>
                  <a:srgbClr val="000000"/>
                </a:solidFill>
                <a:latin typeface="Open Sans Italics"/>
                <a:ea typeface="Open Sans Italics"/>
                <a:cs typeface="Open Sans Italics"/>
                <a:sym typeface="Open Sans Italics"/>
              </a:rPr>
              <a:t>home_domain / api</a:t>
            </a:r>
          </a:p>
        </p:txBody>
      </p:sp>
      <p:sp>
        <p:nvSpPr>
          <p:cNvPr name="TextBox 42" id="42"/>
          <p:cNvSpPr txBox="true"/>
          <p:nvPr/>
        </p:nvSpPr>
        <p:spPr>
          <a:xfrm rot="0">
            <a:off x="16976359" y="9369641"/>
            <a:ext cx="528883" cy="409575"/>
          </a:xfrm>
          <a:prstGeom prst="rect">
            <a:avLst/>
          </a:prstGeom>
        </p:spPr>
        <p:txBody>
          <a:bodyPr anchor="t" rtlCol="false" tIns="0" lIns="0" bIns="0" rIns="0">
            <a:spAutoFit/>
          </a:bodyPr>
          <a:lstStyle/>
          <a:p>
            <a:pPr algn="r" marL="0" indent="0" lvl="0">
              <a:lnSpc>
                <a:spcPts val="3120"/>
              </a:lnSpc>
              <a:spcBef>
                <a:spcPct val="0"/>
              </a:spcBef>
            </a:pPr>
            <a:r>
              <a:rPr lang="en-US" b="true" sz="2600" spc="72">
                <a:solidFill>
                  <a:srgbClr val="00618A"/>
                </a:solidFill>
                <a:latin typeface="Arimo Bold"/>
                <a:ea typeface="Arimo Bold"/>
                <a:cs typeface="Arimo Bold"/>
                <a:sym typeface="Arimo Bold"/>
              </a:rPr>
              <a:t>24</a:t>
            </a:r>
          </a:p>
        </p:txBody>
      </p:sp>
      <p:sp>
        <p:nvSpPr>
          <p:cNvPr name="TextBox 43" id="43"/>
          <p:cNvSpPr txBox="true"/>
          <p:nvPr/>
        </p:nvSpPr>
        <p:spPr>
          <a:xfrm rot="0">
            <a:off x="10442266" y="1759226"/>
            <a:ext cx="1560899" cy="381486"/>
          </a:xfrm>
          <a:prstGeom prst="rect">
            <a:avLst/>
          </a:prstGeom>
        </p:spPr>
        <p:txBody>
          <a:bodyPr anchor="t" rtlCol="false" tIns="0" lIns="0" bIns="0" rIns="0">
            <a:spAutoFit/>
          </a:bodyPr>
          <a:lstStyle/>
          <a:p>
            <a:pPr algn="ctr">
              <a:lnSpc>
                <a:spcPts val="3132"/>
              </a:lnSpc>
              <a:spcBef>
                <a:spcPct val="0"/>
              </a:spcBef>
            </a:pPr>
            <a:r>
              <a:rPr lang="en-US" b="true" sz="2237">
                <a:solidFill>
                  <a:srgbClr val="00618A"/>
                </a:solidFill>
                <a:latin typeface="Open Sans Bold"/>
                <a:ea typeface="Open Sans Bold"/>
                <a:cs typeface="Open Sans Bold"/>
                <a:sym typeface="Open Sans Bold"/>
              </a:rPr>
              <a:t>Host (VPS)</a:t>
            </a:r>
          </a:p>
        </p:txBody>
      </p:sp>
    </p:spTree>
  </p:cSld>
  <p:clrMapOvr>
    <a:masterClrMapping/>
  </p:clrMapOvr>
  <p:transition spd="fast">
    <p:fade/>
  </p:transition>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705967" y="9253538"/>
            <a:ext cx="16872456" cy="4762"/>
          </a:xfrm>
          <a:prstGeom prst="line">
            <a:avLst/>
          </a:prstGeom>
          <a:ln cap="rnd" w="19050">
            <a:solidFill>
              <a:srgbClr val="4BADD6"/>
            </a:solidFill>
            <a:prstDash val="solid"/>
            <a:headEnd type="none" len="sm" w="sm"/>
            <a:tailEnd type="none" len="sm" w="sm"/>
          </a:ln>
        </p:spPr>
      </p:sp>
      <p:sp>
        <p:nvSpPr>
          <p:cNvPr name="AutoShape 3" id="3"/>
          <p:cNvSpPr/>
          <p:nvPr/>
        </p:nvSpPr>
        <p:spPr>
          <a:xfrm flipH="true">
            <a:off x="763112" y="716667"/>
            <a:ext cx="0" cy="771525"/>
          </a:xfrm>
          <a:prstGeom prst="line">
            <a:avLst/>
          </a:prstGeom>
          <a:ln cap="rnd" w="114300">
            <a:solidFill>
              <a:srgbClr val="075985">
                <a:alpha val="46667"/>
              </a:srgbClr>
            </a:solidFill>
            <a:prstDash val="solid"/>
            <a:headEnd type="none" len="sm" w="sm"/>
            <a:tailEnd type="none" len="sm" w="sm"/>
          </a:ln>
        </p:spPr>
      </p:sp>
      <p:sp>
        <p:nvSpPr>
          <p:cNvPr name="Freeform 4" id="4"/>
          <p:cNvSpPr/>
          <p:nvPr/>
        </p:nvSpPr>
        <p:spPr>
          <a:xfrm flipH="false" flipV="false" rot="0">
            <a:off x="16713285" y="707142"/>
            <a:ext cx="865138" cy="854186"/>
          </a:xfrm>
          <a:custGeom>
            <a:avLst/>
            <a:gdLst/>
            <a:ahLst/>
            <a:cxnLst/>
            <a:rect r="r" b="b" t="t" l="l"/>
            <a:pathLst>
              <a:path h="854186" w="865138">
                <a:moveTo>
                  <a:pt x="0" y="0"/>
                </a:moveTo>
                <a:lnTo>
                  <a:pt x="865138" y="0"/>
                </a:lnTo>
                <a:lnTo>
                  <a:pt x="865138" y="854186"/>
                </a:lnTo>
                <a:lnTo>
                  <a:pt x="0" y="854186"/>
                </a:lnTo>
                <a:lnTo>
                  <a:pt x="0" y="0"/>
                </a:lnTo>
                <a:close/>
              </a:path>
            </a:pathLst>
          </a:custGeom>
          <a:blipFill>
            <a:blip r:embed="rId2"/>
            <a:stretch>
              <a:fillRect l="0" t="0" r="0" b="0"/>
            </a:stretch>
          </a:blipFill>
        </p:spPr>
      </p:sp>
      <p:sp>
        <p:nvSpPr>
          <p:cNvPr name="Freeform 5" id="5"/>
          <p:cNvSpPr/>
          <p:nvPr/>
        </p:nvSpPr>
        <p:spPr>
          <a:xfrm flipH="false" flipV="false" rot="0">
            <a:off x="705967" y="2506986"/>
            <a:ext cx="12176782" cy="5966623"/>
          </a:xfrm>
          <a:custGeom>
            <a:avLst/>
            <a:gdLst/>
            <a:ahLst/>
            <a:cxnLst/>
            <a:rect r="r" b="b" t="t" l="l"/>
            <a:pathLst>
              <a:path h="5966623" w="12176782">
                <a:moveTo>
                  <a:pt x="0" y="0"/>
                </a:moveTo>
                <a:lnTo>
                  <a:pt x="12176783" y="0"/>
                </a:lnTo>
                <a:lnTo>
                  <a:pt x="12176783" y="5966624"/>
                </a:lnTo>
                <a:lnTo>
                  <a:pt x="0" y="5966624"/>
                </a:lnTo>
                <a:lnTo>
                  <a:pt x="0" y="0"/>
                </a:lnTo>
                <a:close/>
              </a:path>
            </a:pathLst>
          </a:custGeom>
          <a:blipFill>
            <a:blip r:embed="rId3"/>
            <a:stretch>
              <a:fillRect l="0" t="0" r="0" b="0"/>
            </a:stretch>
          </a:blipFill>
        </p:spPr>
      </p:sp>
      <p:sp>
        <p:nvSpPr>
          <p:cNvPr name="Freeform 6" id="6"/>
          <p:cNvSpPr/>
          <p:nvPr/>
        </p:nvSpPr>
        <p:spPr>
          <a:xfrm flipH="false" flipV="false" rot="-5400000">
            <a:off x="12004194" y="7084426"/>
            <a:ext cx="2415971" cy="362396"/>
          </a:xfrm>
          <a:custGeom>
            <a:avLst/>
            <a:gdLst/>
            <a:ahLst/>
            <a:cxnLst/>
            <a:rect r="r" b="b" t="t" l="l"/>
            <a:pathLst>
              <a:path h="362396" w="2415971">
                <a:moveTo>
                  <a:pt x="0" y="0"/>
                </a:moveTo>
                <a:lnTo>
                  <a:pt x="2415971" y="0"/>
                </a:lnTo>
                <a:lnTo>
                  <a:pt x="2415971" y="362396"/>
                </a:lnTo>
                <a:lnTo>
                  <a:pt x="0" y="3623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763112" y="9369641"/>
            <a:ext cx="12119638" cy="409575"/>
          </a:xfrm>
          <a:prstGeom prst="rect">
            <a:avLst/>
          </a:prstGeom>
        </p:spPr>
        <p:txBody>
          <a:bodyPr anchor="t" rtlCol="false" tIns="0" lIns="0" bIns="0" rIns="0">
            <a:spAutoFit/>
          </a:bodyPr>
          <a:lstStyle/>
          <a:p>
            <a:pPr algn="l" marL="0" indent="0" lvl="0">
              <a:lnSpc>
                <a:spcPts val="3120"/>
              </a:lnSpc>
              <a:spcBef>
                <a:spcPct val="0"/>
              </a:spcBef>
            </a:pPr>
            <a:r>
              <a:rPr lang="en-US" b="true" sz="2600" spc="72" strike="noStrike" u="none">
                <a:solidFill>
                  <a:srgbClr val="00618A"/>
                </a:solidFill>
                <a:latin typeface="Arimo Bold"/>
                <a:ea typeface="Arimo Bold"/>
                <a:cs typeface="Arimo Bold"/>
                <a:sym typeface="Arimo Bold"/>
              </a:rPr>
              <a:t>XÂY DỰNG HỆ THỐNG TẠO VÀ ĐÁNH GIÁ</a:t>
            </a:r>
            <a:r>
              <a:rPr lang="en-US" b="true" sz="2600" spc="72" strike="noStrike" u="none">
                <a:solidFill>
                  <a:srgbClr val="00618A"/>
                </a:solidFill>
                <a:latin typeface="Arimo Bold"/>
                <a:ea typeface="Arimo Bold"/>
                <a:cs typeface="Arimo Bold"/>
                <a:sym typeface="Arimo Bold"/>
              </a:rPr>
              <a:t> HỒ SƠ XIN VIỆC TÍCH HỢP AI</a:t>
            </a:r>
          </a:p>
        </p:txBody>
      </p:sp>
      <p:sp>
        <p:nvSpPr>
          <p:cNvPr name="TextBox 8" id="8"/>
          <p:cNvSpPr txBox="true"/>
          <p:nvPr/>
        </p:nvSpPr>
        <p:spPr>
          <a:xfrm rot="0">
            <a:off x="1041536" y="688092"/>
            <a:ext cx="7323162" cy="438150"/>
          </a:xfrm>
          <a:prstGeom prst="rect">
            <a:avLst/>
          </a:prstGeom>
        </p:spPr>
        <p:txBody>
          <a:bodyPr anchor="t" rtlCol="false" tIns="0" lIns="0" bIns="0" rIns="0">
            <a:spAutoFit/>
          </a:bodyPr>
          <a:lstStyle/>
          <a:p>
            <a:pPr algn="l" marL="0" indent="0" lvl="0">
              <a:lnSpc>
                <a:spcPts val="3359"/>
              </a:lnSpc>
              <a:spcBef>
                <a:spcPct val="0"/>
              </a:spcBef>
            </a:pPr>
            <a:r>
              <a:rPr lang="en-US" sz="2799" i="true" spc="77">
                <a:solidFill>
                  <a:srgbClr val="00618A"/>
                </a:solidFill>
                <a:latin typeface="Arimo Italics"/>
                <a:ea typeface="Arimo Italics"/>
                <a:cs typeface="Arimo Italics"/>
                <a:sym typeface="Arimo Italics"/>
              </a:rPr>
              <a:t>4. Cài đặt hệ thống và kết quả thử nghiệm </a:t>
            </a:r>
          </a:p>
        </p:txBody>
      </p:sp>
      <p:sp>
        <p:nvSpPr>
          <p:cNvPr name="TextBox 9" id="9"/>
          <p:cNvSpPr txBox="true"/>
          <p:nvPr/>
        </p:nvSpPr>
        <p:spPr>
          <a:xfrm rot="0">
            <a:off x="1041536" y="1078617"/>
            <a:ext cx="6067738" cy="438150"/>
          </a:xfrm>
          <a:prstGeom prst="rect">
            <a:avLst/>
          </a:prstGeom>
        </p:spPr>
        <p:txBody>
          <a:bodyPr anchor="t" rtlCol="false" tIns="0" lIns="0" bIns="0" rIns="0">
            <a:spAutoFit/>
          </a:bodyPr>
          <a:lstStyle/>
          <a:p>
            <a:pPr algn="l" marL="0" indent="0" lvl="0">
              <a:lnSpc>
                <a:spcPts val="3359"/>
              </a:lnSpc>
              <a:spcBef>
                <a:spcPct val="0"/>
              </a:spcBef>
            </a:pPr>
            <a:r>
              <a:rPr lang="en-US" b="true" sz="2799" spc="77">
                <a:solidFill>
                  <a:srgbClr val="00618A"/>
                </a:solidFill>
                <a:latin typeface="Arimo Bold"/>
                <a:ea typeface="Arimo Bold"/>
                <a:cs typeface="Arimo Bold"/>
                <a:sym typeface="Arimo Bold"/>
              </a:rPr>
              <a:t>Kết quả thử nghiệm API</a:t>
            </a:r>
          </a:p>
        </p:txBody>
      </p:sp>
      <p:sp>
        <p:nvSpPr>
          <p:cNvPr name="TextBox 10" id="10"/>
          <p:cNvSpPr txBox="true"/>
          <p:nvPr/>
        </p:nvSpPr>
        <p:spPr>
          <a:xfrm rot="0">
            <a:off x="763112" y="2003431"/>
            <a:ext cx="8564698" cy="396240"/>
          </a:xfrm>
          <a:prstGeom prst="rect">
            <a:avLst/>
          </a:prstGeom>
        </p:spPr>
        <p:txBody>
          <a:bodyPr anchor="t" rtlCol="false" tIns="0" lIns="0" bIns="0" rIns="0">
            <a:spAutoFit/>
          </a:bodyPr>
          <a:lstStyle/>
          <a:p>
            <a:pPr algn="just">
              <a:lnSpc>
                <a:spcPts val="3359"/>
              </a:lnSpc>
              <a:spcBef>
                <a:spcPct val="0"/>
              </a:spcBef>
            </a:pPr>
            <a:r>
              <a:rPr lang="en-US" sz="2400">
                <a:solidFill>
                  <a:srgbClr val="000000"/>
                </a:solidFill>
                <a:latin typeface="Open Sans"/>
                <a:ea typeface="Open Sans"/>
                <a:cs typeface="Open Sans"/>
                <a:sym typeface="Open Sans"/>
              </a:rPr>
              <a:t>Ví dụ một số API đã triển khai được hiển thị bằng swagger: </a:t>
            </a:r>
          </a:p>
        </p:txBody>
      </p:sp>
      <p:sp>
        <p:nvSpPr>
          <p:cNvPr name="Freeform 11" id="11"/>
          <p:cNvSpPr/>
          <p:nvPr/>
        </p:nvSpPr>
        <p:spPr>
          <a:xfrm flipH="false" flipV="false" rot="-5400000">
            <a:off x="12004194" y="3533774"/>
            <a:ext cx="2415971" cy="362396"/>
          </a:xfrm>
          <a:custGeom>
            <a:avLst/>
            <a:gdLst/>
            <a:ahLst/>
            <a:cxnLst/>
            <a:rect r="r" b="b" t="t" l="l"/>
            <a:pathLst>
              <a:path h="362396" w="2415971">
                <a:moveTo>
                  <a:pt x="0" y="0"/>
                </a:moveTo>
                <a:lnTo>
                  <a:pt x="2415971" y="0"/>
                </a:lnTo>
                <a:lnTo>
                  <a:pt x="2415971" y="362395"/>
                </a:lnTo>
                <a:lnTo>
                  <a:pt x="0" y="3623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12" id="12"/>
          <p:cNvSpPr/>
          <p:nvPr/>
        </p:nvSpPr>
        <p:spPr>
          <a:xfrm>
            <a:off x="13393377" y="3714971"/>
            <a:ext cx="702626" cy="0"/>
          </a:xfrm>
          <a:prstGeom prst="line">
            <a:avLst/>
          </a:prstGeom>
          <a:ln cap="flat" w="19050">
            <a:solidFill>
              <a:srgbClr val="4BADD6"/>
            </a:solidFill>
            <a:prstDash val="solid"/>
            <a:headEnd type="none" len="sm" w="sm"/>
            <a:tailEnd type="triangle" len="med" w="lg"/>
          </a:ln>
        </p:spPr>
      </p:sp>
      <p:sp>
        <p:nvSpPr>
          <p:cNvPr name="AutoShape 13" id="13"/>
          <p:cNvSpPr/>
          <p:nvPr/>
        </p:nvSpPr>
        <p:spPr>
          <a:xfrm>
            <a:off x="13030982" y="5471248"/>
            <a:ext cx="1065022" cy="0"/>
          </a:xfrm>
          <a:prstGeom prst="line">
            <a:avLst/>
          </a:prstGeom>
          <a:ln cap="flat" w="19050">
            <a:solidFill>
              <a:srgbClr val="4BADD6"/>
            </a:solidFill>
            <a:prstDash val="solid"/>
            <a:headEnd type="none" len="sm" w="sm"/>
            <a:tailEnd type="triangle" len="med" w="lg"/>
          </a:ln>
        </p:spPr>
      </p:sp>
      <p:sp>
        <p:nvSpPr>
          <p:cNvPr name="AutoShape 14" id="14"/>
          <p:cNvSpPr/>
          <p:nvPr/>
        </p:nvSpPr>
        <p:spPr>
          <a:xfrm>
            <a:off x="13393377" y="7246574"/>
            <a:ext cx="702626" cy="0"/>
          </a:xfrm>
          <a:prstGeom prst="line">
            <a:avLst/>
          </a:prstGeom>
          <a:ln cap="flat" w="19050">
            <a:solidFill>
              <a:srgbClr val="4BADD6"/>
            </a:solidFill>
            <a:prstDash val="solid"/>
            <a:headEnd type="none" len="sm" w="sm"/>
            <a:tailEnd type="triangle" len="med" w="lg"/>
          </a:ln>
        </p:spPr>
      </p:sp>
      <p:sp>
        <p:nvSpPr>
          <p:cNvPr name="TextBox 15" id="15"/>
          <p:cNvSpPr txBox="true"/>
          <p:nvPr/>
        </p:nvSpPr>
        <p:spPr>
          <a:xfrm rot="0">
            <a:off x="14469393" y="3306031"/>
            <a:ext cx="2243892" cy="815340"/>
          </a:xfrm>
          <a:prstGeom prst="rect">
            <a:avLst/>
          </a:prstGeom>
        </p:spPr>
        <p:txBody>
          <a:bodyPr anchor="t" rtlCol="false" tIns="0" lIns="0" bIns="0" rIns="0">
            <a:spAutoFit/>
          </a:bodyPr>
          <a:lstStyle/>
          <a:p>
            <a:pPr algn="just">
              <a:lnSpc>
                <a:spcPts val="3359"/>
              </a:lnSpc>
            </a:pPr>
            <a:r>
              <a:rPr lang="en-US" sz="2400">
                <a:solidFill>
                  <a:srgbClr val="000000"/>
                </a:solidFill>
                <a:latin typeface="Open Sans"/>
                <a:ea typeface="Open Sans"/>
                <a:cs typeface="Open Sans"/>
                <a:sym typeface="Open Sans"/>
              </a:rPr>
              <a:t>API liên quan</a:t>
            </a:r>
          </a:p>
          <a:p>
            <a:pPr algn="just">
              <a:lnSpc>
                <a:spcPts val="3359"/>
              </a:lnSpc>
              <a:spcBef>
                <a:spcPct val="0"/>
              </a:spcBef>
            </a:pPr>
            <a:r>
              <a:rPr lang="en-US" sz="2400">
                <a:solidFill>
                  <a:srgbClr val="000000"/>
                </a:solidFill>
                <a:latin typeface="Open Sans"/>
                <a:ea typeface="Open Sans"/>
                <a:cs typeface="Open Sans"/>
                <a:sym typeface="Open Sans"/>
              </a:rPr>
              <a:t>đến xác thực</a:t>
            </a:r>
          </a:p>
        </p:txBody>
      </p:sp>
      <p:sp>
        <p:nvSpPr>
          <p:cNvPr name="TextBox 16" id="16"/>
          <p:cNvSpPr txBox="true"/>
          <p:nvPr/>
        </p:nvSpPr>
        <p:spPr>
          <a:xfrm rot="0">
            <a:off x="14469393" y="5105400"/>
            <a:ext cx="2789907" cy="815340"/>
          </a:xfrm>
          <a:prstGeom prst="rect">
            <a:avLst/>
          </a:prstGeom>
        </p:spPr>
        <p:txBody>
          <a:bodyPr anchor="t" rtlCol="false" tIns="0" lIns="0" bIns="0" rIns="0">
            <a:spAutoFit/>
          </a:bodyPr>
          <a:lstStyle/>
          <a:p>
            <a:pPr algn="just">
              <a:lnSpc>
                <a:spcPts val="3359"/>
              </a:lnSpc>
            </a:pPr>
            <a:r>
              <a:rPr lang="en-US" sz="2400">
                <a:solidFill>
                  <a:srgbClr val="000000"/>
                </a:solidFill>
                <a:latin typeface="Open Sans"/>
                <a:ea typeface="Open Sans"/>
                <a:cs typeface="Open Sans"/>
                <a:sym typeface="Open Sans"/>
              </a:rPr>
              <a:t>API liên quan</a:t>
            </a:r>
          </a:p>
          <a:p>
            <a:pPr algn="just">
              <a:lnSpc>
                <a:spcPts val="3359"/>
              </a:lnSpc>
              <a:spcBef>
                <a:spcPct val="0"/>
              </a:spcBef>
            </a:pPr>
            <a:r>
              <a:rPr lang="en-US" sz="2400">
                <a:solidFill>
                  <a:srgbClr val="000000"/>
                </a:solidFill>
                <a:latin typeface="Open Sans"/>
                <a:ea typeface="Open Sans"/>
                <a:cs typeface="Open Sans"/>
                <a:sym typeface="Open Sans"/>
              </a:rPr>
              <a:t>đến upload avatar</a:t>
            </a:r>
          </a:p>
        </p:txBody>
      </p:sp>
      <p:sp>
        <p:nvSpPr>
          <p:cNvPr name="TextBox 17" id="17"/>
          <p:cNvSpPr txBox="true"/>
          <p:nvPr/>
        </p:nvSpPr>
        <p:spPr>
          <a:xfrm rot="0">
            <a:off x="14469393" y="6837634"/>
            <a:ext cx="2243892" cy="815340"/>
          </a:xfrm>
          <a:prstGeom prst="rect">
            <a:avLst/>
          </a:prstGeom>
        </p:spPr>
        <p:txBody>
          <a:bodyPr anchor="t" rtlCol="false" tIns="0" lIns="0" bIns="0" rIns="0">
            <a:spAutoFit/>
          </a:bodyPr>
          <a:lstStyle/>
          <a:p>
            <a:pPr algn="just">
              <a:lnSpc>
                <a:spcPts val="3359"/>
              </a:lnSpc>
            </a:pPr>
            <a:r>
              <a:rPr lang="en-US" sz="2400">
                <a:solidFill>
                  <a:srgbClr val="000000"/>
                </a:solidFill>
                <a:latin typeface="Open Sans"/>
                <a:ea typeface="Open Sans"/>
                <a:cs typeface="Open Sans"/>
                <a:sym typeface="Open Sans"/>
              </a:rPr>
              <a:t>API liên quan</a:t>
            </a:r>
          </a:p>
          <a:p>
            <a:pPr algn="just">
              <a:lnSpc>
                <a:spcPts val="3359"/>
              </a:lnSpc>
              <a:spcBef>
                <a:spcPct val="0"/>
              </a:spcBef>
            </a:pPr>
            <a:r>
              <a:rPr lang="en-US" sz="2400">
                <a:solidFill>
                  <a:srgbClr val="000000"/>
                </a:solidFill>
                <a:latin typeface="Open Sans"/>
                <a:ea typeface="Open Sans"/>
                <a:cs typeface="Open Sans"/>
                <a:sym typeface="Open Sans"/>
              </a:rPr>
              <a:t>đến CRUD CV</a:t>
            </a:r>
          </a:p>
        </p:txBody>
      </p:sp>
      <p:sp>
        <p:nvSpPr>
          <p:cNvPr name="TextBox 18" id="18"/>
          <p:cNvSpPr txBox="true"/>
          <p:nvPr/>
        </p:nvSpPr>
        <p:spPr>
          <a:xfrm rot="0">
            <a:off x="1028700" y="8540285"/>
            <a:ext cx="4487784" cy="481330"/>
          </a:xfrm>
          <a:prstGeom prst="rect">
            <a:avLst/>
          </a:prstGeom>
        </p:spPr>
        <p:txBody>
          <a:bodyPr anchor="t" rtlCol="false" tIns="0" lIns="0" bIns="0" rIns="0">
            <a:spAutoFit/>
          </a:bodyPr>
          <a:lstStyle/>
          <a:p>
            <a:pPr algn="just">
              <a:lnSpc>
                <a:spcPts val="3919"/>
              </a:lnSpc>
              <a:spcBef>
                <a:spcPct val="0"/>
              </a:spcBef>
            </a:pPr>
            <a:r>
              <a:rPr lang="en-US" sz="2799">
                <a:solidFill>
                  <a:srgbClr val="000000"/>
                </a:solidFill>
                <a:latin typeface="Open Sans"/>
                <a:ea typeface="Open Sans"/>
                <a:cs typeface="Open Sans"/>
                <a:sym typeface="Open Sans"/>
              </a:rPr>
              <a:t>......</a:t>
            </a:r>
          </a:p>
        </p:txBody>
      </p:sp>
      <p:sp>
        <p:nvSpPr>
          <p:cNvPr name="TextBox 19" id="19"/>
          <p:cNvSpPr txBox="true"/>
          <p:nvPr/>
        </p:nvSpPr>
        <p:spPr>
          <a:xfrm rot="0">
            <a:off x="16976359" y="9369641"/>
            <a:ext cx="528883" cy="409575"/>
          </a:xfrm>
          <a:prstGeom prst="rect">
            <a:avLst/>
          </a:prstGeom>
        </p:spPr>
        <p:txBody>
          <a:bodyPr anchor="t" rtlCol="false" tIns="0" lIns="0" bIns="0" rIns="0">
            <a:spAutoFit/>
          </a:bodyPr>
          <a:lstStyle/>
          <a:p>
            <a:pPr algn="r" marL="0" indent="0" lvl="0">
              <a:lnSpc>
                <a:spcPts val="3120"/>
              </a:lnSpc>
              <a:spcBef>
                <a:spcPct val="0"/>
              </a:spcBef>
            </a:pPr>
            <a:r>
              <a:rPr lang="en-US" b="true" sz="2600" spc="72">
                <a:solidFill>
                  <a:srgbClr val="00618A"/>
                </a:solidFill>
                <a:latin typeface="Arimo Bold"/>
                <a:ea typeface="Arimo Bold"/>
                <a:cs typeface="Arimo Bold"/>
                <a:sym typeface="Arimo Bold"/>
              </a:rPr>
              <a:t>25</a:t>
            </a:r>
          </a:p>
        </p:txBody>
      </p:sp>
    </p:spTree>
  </p:cSld>
  <p:clrMapOvr>
    <a:masterClrMapping/>
  </p:clrMapOvr>
  <p:transition spd="fast">
    <p:fade/>
  </p:transition>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705967" y="9253538"/>
            <a:ext cx="16872456" cy="4762"/>
          </a:xfrm>
          <a:prstGeom prst="line">
            <a:avLst/>
          </a:prstGeom>
          <a:ln cap="rnd" w="19050">
            <a:solidFill>
              <a:srgbClr val="4BADD6"/>
            </a:solidFill>
            <a:prstDash val="solid"/>
            <a:headEnd type="none" len="sm" w="sm"/>
            <a:tailEnd type="none" len="sm" w="sm"/>
          </a:ln>
        </p:spPr>
      </p:sp>
      <p:sp>
        <p:nvSpPr>
          <p:cNvPr name="AutoShape 3" id="3"/>
          <p:cNvSpPr/>
          <p:nvPr/>
        </p:nvSpPr>
        <p:spPr>
          <a:xfrm flipH="true">
            <a:off x="763112" y="716667"/>
            <a:ext cx="0" cy="771525"/>
          </a:xfrm>
          <a:prstGeom prst="line">
            <a:avLst/>
          </a:prstGeom>
          <a:ln cap="rnd" w="114300">
            <a:solidFill>
              <a:srgbClr val="075985">
                <a:alpha val="46667"/>
              </a:srgbClr>
            </a:solidFill>
            <a:prstDash val="solid"/>
            <a:headEnd type="none" len="sm" w="sm"/>
            <a:tailEnd type="none" len="sm" w="sm"/>
          </a:ln>
        </p:spPr>
      </p:sp>
      <p:sp>
        <p:nvSpPr>
          <p:cNvPr name="Freeform 4" id="4"/>
          <p:cNvSpPr/>
          <p:nvPr/>
        </p:nvSpPr>
        <p:spPr>
          <a:xfrm flipH="false" flipV="false" rot="0">
            <a:off x="16713285" y="707142"/>
            <a:ext cx="865138" cy="854186"/>
          </a:xfrm>
          <a:custGeom>
            <a:avLst/>
            <a:gdLst/>
            <a:ahLst/>
            <a:cxnLst/>
            <a:rect r="r" b="b" t="t" l="l"/>
            <a:pathLst>
              <a:path h="854186" w="865138">
                <a:moveTo>
                  <a:pt x="0" y="0"/>
                </a:moveTo>
                <a:lnTo>
                  <a:pt x="865138" y="0"/>
                </a:lnTo>
                <a:lnTo>
                  <a:pt x="865138" y="854186"/>
                </a:lnTo>
                <a:lnTo>
                  <a:pt x="0" y="854186"/>
                </a:lnTo>
                <a:lnTo>
                  <a:pt x="0" y="0"/>
                </a:lnTo>
                <a:close/>
              </a:path>
            </a:pathLst>
          </a:custGeom>
          <a:blipFill>
            <a:blip r:embed="rId2"/>
            <a:stretch>
              <a:fillRect l="0" t="0" r="0" b="0"/>
            </a:stretch>
          </a:blipFill>
        </p:spPr>
      </p:sp>
      <p:sp>
        <p:nvSpPr>
          <p:cNvPr name="TextBox 5" id="5"/>
          <p:cNvSpPr txBox="true"/>
          <p:nvPr/>
        </p:nvSpPr>
        <p:spPr>
          <a:xfrm rot="0">
            <a:off x="763112" y="9369641"/>
            <a:ext cx="12119638" cy="409575"/>
          </a:xfrm>
          <a:prstGeom prst="rect">
            <a:avLst/>
          </a:prstGeom>
        </p:spPr>
        <p:txBody>
          <a:bodyPr anchor="t" rtlCol="false" tIns="0" lIns="0" bIns="0" rIns="0">
            <a:spAutoFit/>
          </a:bodyPr>
          <a:lstStyle/>
          <a:p>
            <a:pPr algn="l" marL="0" indent="0" lvl="0">
              <a:lnSpc>
                <a:spcPts val="3120"/>
              </a:lnSpc>
              <a:spcBef>
                <a:spcPct val="0"/>
              </a:spcBef>
            </a:pPr>
            <a:r>
              <a:rPr lang="en-US" b="true" sz="2600" spc="72" strike="noStrike" u="none">
                <a:solidFill>
                  <a:srgbClr val="00618A"/>
                </a:solidFill>
                <a:latin typeface="Arimo Bold"/>
                <a:ea typeface="Arimo Bold"/>
                <a:cs typeface="Arimo Bold"/>
                <a:sym typeface="Arimo Bold"/>
              </a:rPr>
              <a:t>XÂY DỰNG HỆ THỐNG TẠO VÀ ĐÁNH GIÁ</a:t>
            </a:r>
            <a:r>
              <a:rPr lang="en-US" b="true" sz="2600" spc="72" strike="noStrike" u="none">
                <a:solidFill>
                  <a:srgbClr val="00618A"/>
                </a:solidFill>
                <a:latin typeface="Arimo Bold"/>
                <a:ea typeface="Arimo Bold"/>
                <a:cs typeface="Arimo Bold"/>
                <a:sym typeface="Arimo Bold"/>
              </a:rPr>
              <a:t> HỒ SƠ XIN VIỆC TÍCH HỢP AI</a:t>
            </a:r>
          </a:p>
        </p:txBody>
      </p:sp>
      <p:sp>
        <p:nvSpPr>
          <p:cNvPr name="TextBox 6" id="6"/>
          <p:cNvSpPr txBox="true"/>
          <p:nvPr/>
        </p:nvSpPr>
        <p:spPr>
          <a:xfrm rot="0">
            <a:off x="1041536" y="688092"/>
            <a:ext cx="7323162" cy="438150"/>
          </a:xfrm>
          <a:prstGeom prst="rect">
            <a:avLst/>
          </a:prstGeom>
        </p:spPr>
        <p:txBody>
          <a:bodyPr anchor="t" rtlCol="false" tIns="0" lIns="0" bIns="0" rIns="0">
            <a:spAutoFit/>
          </a:bodyPr>
          <a:lstStyle/>
          <a:p>
            <a:pPr algn="l" marL="0" indent="0" lvl="0">
              <a:lnSpc>
                <a:spcPts val="3359"/>
              </a:lnSpc>
              <a:spcBef>
                <a:spcPct val="0"/>
              </a:spcBef>
            </a:pPr>
            <a:r>
              <a:rPr lang="en-US" sz="2799" i="true" spc="77">
                <a:solidFill>
                  <a:srgbClr val="00618A"/>
                </a:solidFill>
                <a:latin typeface="Arimo Italics"/>
                <a:ea typeface="Arimo Italics"/>
                <a:cs typeface="Arimo Italics"/>
                <a:sym typeface="Arimo Italics"/>
              </a:rPr>
              <a:t>4. Cài đặt hệ thống và kết quả thử nghiệm </a:t>
            </a:r>
          </a:p>
        </p:txBody>
      </p:sp>
      <p:sp>
        <p:nvSpPr>
          <p:cNvPr name="TextBox 7" id="7"/>
          <p:cNvSpPr txBox="true"/>
          <p:nvPr/>
        </p:nvSpPr>
        <p:spPr>
          <a:xfrm rot="0">
            <a:off x="1041536" y="1078617"/>
            <a:ext cx="6067738" cy="438150"/>
          </a:xfrm>
          <a:prstGeom prst="rect">
            <a:avLst/>
          </a:prstGeom>
        </p:spPr>
        <p:txBody>
          <a:bodyPr anchor="t" rtlCol="false" tIns="0" lIns="0" bIns="0" rIns="0">
            <a:spAutoFit/>
          </a:bodyPr>
          <a:lstStyle/>
          <a:p>
            <a:pPr algn="l" marL="0" indent="0" lvl="0">
              <a:lnSpc>
                <a:spcPts val="3359"/>
              </a:lnSpc>
              <a:spcBef>
                <a:spcPct val="0"/>
              </a:spcBef>
            </a:pPr>
            <a:r>
              <a:rPr lang="en-US" b="true" sz="2799" spc="77">
                <a:solidFill>
                  <a:srgbClr val="00618A"/>
                </a:solidFill>
                <a:latin typeface="Arimo Bold"/>
                <a:ea typeface="Arimo Bold"/>
                <a:cs typeface="Arimo Bold"/>
                <a:sym typeface="Arimo Bold"/>
              </a:rPr>
              <a:t>Kết quả thử nghiệm chức năng</a:t>
            </a:r>
          </a:p>
        </p:txBody>
      </p:sp>
      <p:sp>
        <p:nvSpPr>
          <p:cNvPr name="TextBox 8" id="8"/>
          <p:cNvSpPr txBox="true"/>
          <p:nvPr/>
        </p:nvSpPr>
        <p:spPr>
          <a:xfrm rot="0">
            <a:off x="6756721" y="1789060"/>
            <a:ext cx="4774558" cy="481330"/>
          </a:xfrm>
          <a:prstGeom prst="rect">
            <a:avLst/>
          </a:prstGeom>
        </p:spPr>
        <p:txBody>
          <a:bodyPr anchor="t" rtlCol="false" tIns="0" lIns="0" bIns="0" rIns="0">
            <a:spAutoFit/>
          </a:bodyPr>
          <a:lstStyle/>
          <a:p>
            <a:pPr algn="ctr">
              <a:lnSpc>
                <a:spcPts val="3919"/>
              </a:lnSpc>
              <a:spcBef>
                <a:spcPct val="0"/>
              </a:spcBef>
            </a:pPr>
            <a:r>
              <a:rPr lang="en-US" sz="2799" i="true">
                <a:solidFill>
                  <a:srgbClr val="000000"/>
                </a:solidFill>
                <a:latin typeface="Open Sans Italics"/>
                <a:ea typeface="Open Sans Italics"/>
                <a:cs typeface="Open Sans Italics"/>
                <a:sym typeface="Open Sans Italics"/>
              </a:rPr>
              <a:t>Giao diện trang giới thiệu</a:t>
            </a:r>
          </a:p>
        </p:txBody>
      </p:sp>
      <p:sp>
        <p:nvSpPr>
          <p:cNvPr name="Freeform 9" id="9"/>
          <p:cNvSpPr/>
          <p:nvPr/>
        </p:nvSpPr>
        <p:spPr>
          <a:xfrm flipH="false" flipV="false" rot="0">
            <a:off x="2466702" y="2456058"/>
            <a:ext cx="13354597" cy="6343434"/>
          </a:xfrm>
          <a:custGeom>
            <a:avLst/>
            <a:gdLst/>
            <a:ahLst/>
            <a:cxnLst/>
            <a:rect r="r" b="b" t="t" l="l"/>
            <a:pathLst>
              <a:path h="6343434" w="13354597">
                <a:moveTo>
                  <a:pt x="0" y="0"/>
                </a:moveTo>
                <a:lnTo>
                  <a:pt x="13354596" y="0"/>
                </a:lnTo>
                <a:lnTo>
                  <a:pt x="13354596" y="6343434"/>
                </a:lnTo>
                <a:lnTo>
                  <a:pt x="0" y="6343434"/>
                </a:lnTo>
                <a:lnTo>
                  <a:pt x="0" y="0"/>
                </a:lnTo>
                <a:close/>
              </a:path>
            </a:pathLst>
          </a:custGeom>
          <a:blipFill>
            <a:blip r:embed="rId3"/>
            <a:stretch>
              <a:fillRect l="0" t="0" r="0" b="0"/>
            </a:stretch>
          </a:blipFill>
          <a:ln w="19050" cap="sq">
            <a:solidFill>
              <a:srgbClr val="00618A"/>
            </a:solidFill>
            <a:prstDash val="solid"/>
            <a:miter/>
          </a:ln>
        </p:spPr>
      </p:sp>
      <p:sp>
        <p:nvSpPr>
          <p:cNvPr name="TextBox 10" id="10"/>
          <p:cNvSpPr txBox="true"/>
          <p:nvPr/>
        </p:nvSpPr>
        <p:spPr>
          <a:xfrm rot="0">
            <a:off x="16976359" y="9369641"/>
            <a:ext cx="528883" cy="409575"/>
          </a:xfrm>
          <a:prstGeom prst="rect">
            <a:avLst/>
          </a:prstGeom>
        </p:spPr>
        <p:txBody>
          <a:bodyPr anchor="t" rtlCol="false" tIns="0" lIns="0" bIns="0" rIns="0">
            <a:spAutoFit/>
          </a:bodyPr>
          <a:lstStyle/>
          <a:p>
            <a:pPr algn="r" marL="0" indent="0" lvl="0">
              <a:lnSpc>
                <a:spcPts val="3120"/>
              </a:lnSpc>
              <a:spcBef>
                <a:spcPct val="0"/>
              </a:spcBef>
            </a:pPr>
            <a:r>
              <a:rPr lang="en-US" b="true" sz="2600" spc="72">
                <a:solidFill>
                  <a:srgbClr val="00618A"/>
                </a:solidFill>
                <a:latin typeface="Arimo Bold"/>
                <a:ea typeface="Arimo Bold"/>
                <a:cs typeface="Arimo Bold"/>
                <a:sym typeface="Arimo Bold"/>
              </a:rPr>
              <a:t>26</a:t>
            </a:r>
          </a:p>
        </p:txBody>
      </p:sp>
    </p:spTree>
  </p:cSld>
  <p:clrMapOvr>
    <a:masterClrMapping/>
  </p:clrMapOvr>
  <p:transition spd="fast">
    <p:fade/>
  </p:transition>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705967" y="9253538"/>
            <a:ext cx="16872456" cy="4762"/>
          </a:xfrm>
          <a:prstGeom prst="line">
            <a:avLst/>
          </a:prstGeom>
          <a:ln cap="rnd" w="19050">
            <a:solidFill>
              <a:srgbClr val="4BADD6"/>
            </a:solidFill>
            <a:prstDash val="solid"/>
            <a:headEnd type="none" len="sm" w="sm"/>
            <a:tailEnd type="none" len="sm" w="sm"/>
          </a:ln>
        </p:spPr>
      </p:sp>
      <p:sp>
        <p:nvSpPr>
          <p:cNvPr name="AutoShape 3" id="3"/>
          <p:cNvSpPr/>
          <p:nvPr/>
        </p:nvSpPr>
        <p:spPr>
          <a:xfrm flipH="true">
            <a:off x="763112" y="716667"/>
            <a:ext cx="0" cy="771525"/>
          </a:xfrm>
          <a:prstGeom prst="line">
            <a:avLst/>
          </a:prstGeom>
          <a:ln cap="rnd" w="114300">
            <a:solidFill>
              <a:srgbClr val="075985">
                <a:alpha val="46667"/>
              </a:srgbClr>
            </a:solidFill>
            <a:prstDash val="solid"/>
            <a:headEnd type="none" len="sm" w="sm"/>
            <a:tailEnd type="none" len="sm" w="sm"/>
          </a:ln>
        </p:spPr>
      </p:sp>
      <p:sp>
        <p:nvSpPr>
          <p:cNvPr name="Freeform 4" id="4"/>
          <p:cNvSpPr/>
          <p:nvPr/>
        </p:nvSpPr>
        <p:spPr>
          <a:xfrm flipH="false" flipV="false" rot="0">
            <a:off x="16713285" y="707142"/>
            <a:ext cx="865138" cy="854186"/>
          </a:xfrm>
          <a:custGeom>
            <a:avLst/>
            <a:gdLst/>
            <a:ahLst/>
            <a:cxnLst/>
            <a:rect r="r" b="b" t="t" l="l"/>
            <a:pathLst>
              <a:path h="854186" w="865138">
                <a:moveTo>
                  <a:pt x="0" y="0"/>
                </a:moveTo>
                <a:lnTo>
                  <a:pt x="865138" y="0"/>
                </a:lnTo>
                <a:lnTo>
                  <a:pt x="865138" y="854186"/>
                </a:lnTo>
                <a:lnTo>
                  <a:pt x="0" y="854186"/>
                </a:lnTo>
                <a:lnTo>
                  <a:pt x="0" y="0"/>
                </a:lnTo>
                <a:close/>
              </a:path>
            </a:pathLst>
          </a:custGeom>
          <a:blipFill>
            <a:blip r:embed="rId2"/>
            <a:stretch>
              <a:fillRect l="0" t="0" r="0" b="0"/>
            </a:stretch>
          </a:blipFill>
        </p:spPr>
      </p:sp>
      <p:sp>
        <p:nvSpPr>
          <p:cNvPr name="Freeform 5" id="5"/>
          <p:cNvSpPr/>
          <p:nvPr/>
        </p:nvSpPr>
        <p:spPr>
          <a:xfrm flipH="false" flipV="false" rot="0">
            <a:off x="2935922" y="2527565"/>
            <a:ext cx="12416156" cy="6270159"/>
          </a:xfrm>
          <a:custGeom>
            <a:avLst/>
            <a:gdLst/>
            <a:ahLst/>
            <a:cxnLst/>
            <a:rect r="r" b="b" t="t" l="l"/>
            <a:pathLst>
              <a:path h="6270159" w="12416156">
                <a:moveTo>
                  <a:pt x="0" y="0"/>
                </a:moveTo>
                <a:lnTo>
                  <a:pt x="12416156" y="0"/>
                </a:lnTo>
                <a:lnTo>
                  <a:pt x="12416156" y="6270159"/>
                </a:lnTo>
                <a:lnTo>
                  <a:pt x="0" y="6270159"/>
                </a:lnTo>
                <a:lnTo>
                  <a:pt x="0" y="0"/>
                </a:lnTo>
                <a:close/>
              </a:path>
            </a:pathLst>
          </a:custGeom>
          <a:blipFill>
            <a:blip r:embed="rId3"/>
            <a:stretch>
              <a:fillRect l="0" t="0" r="0" b="0"/>
            </a:stretch>
          </a:blipFill>
          <a:ln w="19050" cap="sq">
            <a:solidFill>
              <a:srgbClr val="00618A"/>
            </a:solidFill>
            <a:prstDash val="solid"/>
            <a:miter/>
          </a:ln>
        </p:spPr>
      </p:sp>
      <p:sp>
        <p:nvSpPr>
          <p:cNvPr name="TextBox 6" id="6"/>
          <p:cNvSpPr txBox="true"/>
          <p:nvPr/>
        </p:nvSpPr>
        <p:spPr>
          <a:xfrm rot="0">
            <a:off x="763112" y="9369641"/>
            <a:ext cx="12119638" cy="409575"/>
          </a:xfrm>
          <a:prstGeom prst="rect">
            <a:avLst/>
          </a:prstGeom>
        </p:spPr>
        <p:txBody>
          <a:bodyPr anchor="t" rtlCol="false" tIns="0" lIns="0" bIns="0" rIns="0">
            <a:spAutoFit/>
          </a:bodyPr>
          <a:lstStyle/>
          <a:p>
            <a:pPr algn="l" marL="0" indent="0" lvl="0">
              <a:lnSpc>
                <a:spcPts val="3120"/>
              </a:lnSpc>
              <a:spcBef>
                <a:spcPct val="0"/>
              </a:spcBef>
            </a:pPr>
            <a:r>
              <a:rPr lang="en-US" b="true" sz="2600" spc="72" strike="noStrike" u="none">
                <a:solidFill>
                  <a:srgbClr val="00618A"/>
                </a:solidFill>
                <a:latin typeface="Arimo Bold"/>
                <a:ea typeface="Arimo Bold"/>
                <a:cs typeface="Arimo Bold"/>
                <a:sym typeface="Arimo Bold"/>
              </a:rPr>
              <a:t>XÂY DỰNG HỆ THỐNG TẠO VÀ ĐÁNH GIÁ</a:t>
            </a:r>
            <a:r>
              <a:rPr lang="en-US" b="true" sz="2600" spc="72" strike="noStrike" u="none">
                <a:solidFill>
                  <a:srgbClr val="00618A"/>
                </a:solidFill>
                <a:latin typeface="Arimo Bold"/>
                <a:ea typeface="Arimo Bold"/>
                <a:cs typeface="Arimo Bold"/>
                <a:sym typeface="Arimo Bold"/>
              </a:rPr>
              <a:t> HỒ SƠ XIN VIỆC TÍCH HỢP AI</a:t>
            </a:r>
          </a:p>
        </p:txBody>
      </p:sp>
      <p:sp>
        <p:nvSpPr>
          <p:cNvPr name="TextBox 7" id="7"/>
          <p:cNvSpPr txBox="true"/>
          <p:nvPr/>
        </p:nvSpPr>
        <p:spPr>
          <a:xfrm rot="0">
            <a:off x="1041536" y="688092"/>
            <a:ext cx="7323162" cy="438150"/>
          </a:xfrm>
          <a:prstGeom prst="rect">
            <a:avLst/>
          </a:prstGeom>
        </p:spPr>
        <p:txBody>
          <a:bodyPr anchor="t" rtlCol="false" tIns="0" lIns="0" bIns="0" rIns="0">
            <a:spAutoFit/>
          </a:bodyPr>
          <a:lstStyle/>
          <a:p>
            <a:pPr algn="l" marL="0" indent="0" lvl="0">
              <a:lnSpc>
                <a:spcPts val="3359"/>
              </a:lnSpc>
              <a:spcBef>
                <a:spcPct val="0"/>
              </a:spcBef>
            </a:pPr>
            <a:r>
              <a:rPr lang="en-US" sz="2799" i="true" spc="77">
                <a:solidFill>
                  <a:srgbClr val="00618A"/>
                </a:solidFill>
                <a:latin typeface="Arimo Italics"/>
                <a:ea typeface="Arimo Italics"/>
                <a:cs typeface="Arimo Italics"/>
                <a:sym typeface="Arimo Italics"/>
              </a:rPr>
              <a:t>4. Cài đặt hệ thống và kết quả thử nghiệm </a:t>
            </a:r>
          </a:p>
        </p:txBody>
      </p:sp>
      <p:sp>
        <p:nvSpPr>
          <p:cNvPr name="TextBox 8" id="8"/>
          <p:cNvSpPr txBox="true"/>
          <p:nvPr/>
        </p:nvSpPr>
        <p:spPr>
          <a:xfrm rot="0">
            <a:off x="1041536" y="1078617"/>
            <a:ext cx="6067738" cy="438150"/>
          </a:xfrm>
          <a:prstGeom prst="rect">
            <a:avLst/>
          </a:prstGeom>
        </p:spPr>
        <p:txBody>
          <a:bodyPr anchor="t" rtlCol="false" tIns="0" lIns="0" bIns="0" rIns="0">
            <a:spAutoFit/>
          </a:bodyPr>
          <a:lstStyle/>
          <a:p>
            <a:pPr algn="l" marL="0" indent="0" lvl="0">
              <a:lnSpc>
                <a:spcPts val="3359"/>
              </a:lnSpc>
              <a:spcBef>
                <a:spcPct val="0"/>
              </a:spcBef>
            </a:pPr>
            <a:r>
              <a:rPr lang="en-US" b="true" sz="2799" spc="77">
                <a:solidFill>
                  <a:srgbClr val="00618A"/>
                </a:solidFill>
                <a:latin typeface="Arimo Bold"/>
                <a:ea typeface="Arimo Bold"/>
                <a:cs typeface="Arimo Bold"/>
                <a:sym typeface="Arimo Bold"/>
              </a:rPr>
              <a:t>Kết quả thử nghiệm chức năng</a:t>
            </a:r>
          </a:p>
        </p:txBody>
      </p:sp>
      <p:sp>
        <p:nvSpPr>
          <p:cNvPr name="TextBox 9" id="9"/>
          <p:cNvSpPr txBox="true"/>
          <p:nvPr/>
        </p:nvSpPr>
        <p:spPr>
          <a:xfrm rot="0">
            <a:off x="6080986" y="1838651"/>
            <a:ext cx="6126029" cy="481330"/>
          </a:xfrm>
          <a:prstGeom prst="rect">
            <a:avLst/>
          </a:prstGeom>
        </p:spPr>
        <p:txBody>
          <a:bodyPr anchor="t" rtlCol="false" tIns="0" lIns="0" bIns="0" rIns="0">
            <a:spAutoFit/>
          </a:bodyPr>
          <a:lstStyle/>
          <a:p>
            <a:pPr algn="ctr">
              <a:lnSpc>
                <a:spcPts val="3919"/>
              </a:lnSpc>
              <a:spcBef>
                <a:spcPct val="0"/>
              </a:spcBef>
            </a:pPr>
            <a:r>
              <a:rPr lang="en-US" sz="2799" i="true">
                <a:solidFill>
                  <a:srgbClr val="000000"/>
                </a:solidFill>
                <a:latin typeface="Open Sans Italics"/>
                <a:ea typeface="Open Sans Italics"/>
                <a:cs typeface="Open Sans Italics"/>
                <a:sym typeface="Open Sans Italics"/>
              </a:rPr>
              <a:t>Giao diện trang quản lý hồ sơ xin việc</a:t>
            </a:r>
          </a:p>
        </p:txBody>
      </p:sp>
      <p:sp>
        <p:nvSpPr>
          <p:cNvPr name="TextBox 10" id="10"/>
          <p:cNvSpPr txBox="true"/>
          <p:nvPr/>
        </p:nvSpPr>
        <p:spPr>
          <a:xfrm rot="0">
            <a:off x="16976359" y="9369641"/>
            <a:ext cx="528883" cy="409575"/>
          </a:xfrm>
          <a:prstGeom prst="rect">
            <a:avLst/>
          </a:prstGeom>
        </p:spPr>
        <p:txBody>
          <a:bodyPr anchor="t" rtlCol="false" tIns="0" lIns="0" bIns="0" rIns="0">
            <a:spAutoFit/>
          </a:bodyPr>
          <a:lstStyle/>
          <a:p>
            <a:pPr algn="r" marL="0" indent="0" lvl="0">
              <a:lnSpc>
                <a:spcPts val="3120"/>
              </a:lnSpc>
              <a:spcBef>
                <a:spcPct val="0"/>
              </a:spcBef>
            </a:pPr>
            <a:r>
              <a:rPr lang="en-US" b="true" sz="2600" spc="72">
                <a:solidFill>
                  <a:srgbClr val="00618A"/>
                </a:solidFill>
                <a:latin typeface="Arimo Bold"/>
                <a:ea typeface="Arimo Bold"/>
                <a:cs typeface="Arimo Bold"/>
                <a:sym typeface="Arimo Bold"/>
              </a:rPr>
              <a:t>27</a:t>
            </a:r>
          </a:p>
        </p:txBody>
      </p:sp>
    </p:spTree>
  </p:cSld>
  <p:clrMapOvr>
    <a:masterClrMapping/>
  </p:clrMapOvr>
  <p:transition spd="fast">
    <p:fade/>
  </p:transition>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705967" y="9253538"/>
            <a:ext cx="16872456" cy="4762"/>
          </a:xfrm>
          <a:prstGeom prst="line">
            <a:avLst/>
          </a:prstGeom>
          <a:ln cap="rnd" w="19050">
            <a:solidFill>
              <a:srgbClr val="4BADD6"/>
            </a:solidFill>
            <a:prstDash val="solid"/>
            <a:headEnd type="none" len="sm" w="sm"/>
            <a:tailEnd type="none" len="sm" w="sm"/>
          </a:ln>
        </p:spPr>
      </p:sp>
      <p:sp>
        <p:nvSpPr>
          <p:cNvPr name="AutoShape 3" id="3"/>
          <p:cNvSpPr/>
          <p:nvPr/>
        </p:nvSpPr>
        <p:spPr>
          <a:xfrm flipH="true">
            <a:off x="763112" y="716667"/>
            <a:ext cx="0" cy="771525"/>
          </a:xfrm>
          <a:prstGeom prst="line">
            <a:avLst/>
          </a:prstGeom>
          <a:ln cap="rnd" w="114300">
            <a:solidFill>
              <a:srgbClr val="075985">
                <a:alpha val="46667"/>
              </a:srgbClr>
            </a:solidFill>
            <a:prstDash val="solid"/>
            <a:headEnd type="none" len="sm" w="sm"/>
            <a:tailEnd type="none" len="sm" w="sm"/>
          </a:ln>
        </p:spPr>
      </p:sp>
      <p:sp>
        <p:nvSpPr>
          <p:cNvPr name="Freeform 4" id="4"/>
          <p:cNvSpPr/>
          <p:nvPr/>
        </p:nvSpPr>
        <p:spPr>
          <a:xfrm flipH="false" flipV="false" rot="0">
            <a:off x="16713285" y="707142"/>
            <a:ext cx="865138" cy="854186"/>
          </a:xfrm>
          <a:custGeom>
            <a:avLst/>
            <a:gdLst/>
            <a:ahLst/>
            <a:cxnLst/>
            <a:rect r="r" b="b" t="t" l="l"/>
            <a:pathLst>
              <a:path h="854186" w="865138">
                <a:moveTo>
                  <a:pt x="0" y="0"/>
                </a:moveTo>
                <a:lnTo>
                  <a:pt x="865138" y="0"/>
                </a:lnTo>
                <a:lnTo>
                  <a:pt x="865138" y="854186"/>
                </a:lnTo>
                <a:lnTo>
                  <a:pt x="0" y="854186"/>
                </a:lnTo>
                <a:lnTo>
                  <a:pt x="0" y="0"/>
                </a:lnTo>
                <a:close/>
              </a:path>
            </a:pathLst>
          </a:custGeom>
          <a:blipFill>
            <a:blip r:embed="rId2"/>
            <a:stretch>
              <a:fillRect l="0" t="0" r="0" b="0"/>
            </a:stretch>
          </a:blipFill>
        </p:spPr>
      </p:sp>
      <p:sp>
        <p:nvSpPr>
          <p:cNvPr name="Freeform 5" id="5"/>
          <p:cNvSpPr/>
          <p:nvPr/>
        </p:nvSpPr>
        <p:spPr>
          <a:xfrm flipH="false" flipV="false" rot="0">
            <a:off x="2286432" y="2517028"/>
            <a:ext cx="13715136" cy="6377538"/>
          </a:xfrm>
          <a:custGeom>
            <a:avLst/>
            <a:gdLst/>
            <a:ahLst/>
            <a:cxnLst/>
            <a:rect r="r" b="b" t="t" l="l"/>
            <a:pathLst>
              <a:path h="6377538" w="13715136">
                <a:moveTo>
                  <a:pt x="0" y="0"/>
                </a:moveTo>
                <a:lnTo>
                  <a:pt x="13715136" y="0"/>
                </a:lnTo>
                <a:lnTo>
                  <a:pt x="13715136" y="6377538"/>
                </a:lnTo>
                <a:lnTo>
                  <a:pt x="0" y="6377538"/>
                </a:lnTo>
                <a:lnTo>
                  <a:pt x="0" y="0"/>
                </a:lnTo>
                <a:close/>
              </a:path>
            </a:pathLst>
          </a:custGeom>
          <a:blipFill>
            <a:blip r:embed="rId3"/>
            <a:stretch>
              <a:fillRect l="0" t="0" r="0" b="0"/>
            </a:stretch>
          </a:blipFill>
          <a:ln w="19050" cap="sq">
            <a:solidFill>
              <a:srgbClr val="00618A"/>
            </a:solidFill>
            <a:prstDash val="solid"/>
            <a:miter/>
          </a:ln>
        </p:spPr>
      </p:sp>
      <p:sp>
        <p:nvSpPr>
          <p:cNvPr name="TextBox 6" id="6"/>
          <p:cNvSpPr txBox="true"/>
          <p:nvPr/>
        </p:nvSpPr>
        <p:spPr>
          <a:xfrm rot="0">
            <a:off x="763112" y="9369641"/>
            <a:ext cx="12119638" cy="409575"/>
          </a:xfrm>
          <a:prstGeom prst="rect">
            <a:avLst/>
          </a:prstGeom>
        </p:spPr>
        <p:txBody>
          <a:bodyPr anchor="t" rtlCol="false" tIns="0" lIns="0" bIns="0" rIns="0">
            <a:spAutoFit/>
          </a:bodyPr>
          <a:lstStyle/>
          <a:p>
            <a:pPr algn="l" marL="0" indent="0" lvl="0">
              <a:lnSpc>
                <a:spcPts val="3120"/>
              </a:lnSpc>
              <a:spcBef>
                <a:spcPct val="0"/>
              </a:spcBef>
            </a:pPr>
            <a:r>
              <a:rPr lang="en-US" b="true" sz="2600" spc="72" strike="noStrike" u="none">
                <a:solidFill>
                  <a:srgbClr val="00618A"/>
                </a:solidFill>
                <a:latin typeface="Arimo Bold"/>
                <a:ea typeface="Arimo Bold"/>
                <a:cs typeface="Arimo Bold"/>
                <a:sym typeface="Arimo Bold"/>
              </a:rPr>
              <a:t>XÂY DỰNG HỆ THỐNG TẠO VÀ ĐÁNH GIÁ</a:t>
            </a:r>
            <a:r>
              <a:rPr lang="en-US" b="true" sz="2600" spc="72" strike="noStrike" u="none">
                <a:solidFill>
                  <a:srgbClr val="00618A"/>
                </a:solidFill>
                <a:latin typeface="Arimo Bold"/>
                <a:ea typeface="Arimo Bold"/>
                <a:cs typeface="Arimo Bold"/>
                <a:sym typeface="Arimo Bold"/>
              </a:rPr>
              <a:t> HỒ SƠ XIN VIỆC TÍCH HỢP AI</a:t>
            </a:r>
          </a:p>
        </p:txBody>
      </p:sp>
      <p:sp>
        <p:nvSpPr>
          <p:cNvPr name="TextBox 7" id="7"/>
          <p:cNvSpPr txBox="true"/>
          <p:nvPr/>
        </p:nvSpPr>
        <p:spPr>
          <a:xfrm rot="0">
            <a:off x="1041536" y="688092"/>
            <a:ext cx="7323162" cy="438150"/>
          </a:xfrm>
          <a:prstGeom prst="rect">
            <a:avLst/>
          </a:prstGeom>
        </p:spPr>
        <p:txBody>
          <a:bodyPr anchor="t" rtlCol="false" tIns="0" lIns="0" bIns="0" rIns="0">
            <a:spAutoFit/>
          </a:bodyPr>
          <a:lstStyle/>
          <a:p>
            <a:pPr algn="l" marL="0" indent="0" lvl="0">
              <a:lnSpc>
                <a:spcPts val="3359"/>
              </a:lnSpc>
              <a:spcBef>
                <a:spcPct val="0"/>
              </a:spcBef>
            </a:pPr>
            <a:r>
              <a:rPr lang="en-US" sz="2799" i="true" spc="77">
                <a:solidFill>
                  <a:srgbClr val="00618A"/>
                </a:solidFill>
                <a:latin typeface="Arimo Italics"/>
                <a:ea typeface="Arimo Italics"/>
                <a:cs typeface="Arimo Italics"/>
                <a:sym typeface="Arimo Italics"/>
              </a:rPr>
              <a:t>4. Cài đặt hệ thống và kết quả thử nghiệm </a:t>
            </a:r>
          </a:p>
        </p:txBody>
      </p:sp>
      <p:sp>
        <p:nvSpPr>
          <p:cNvPr name="TextBox 8" id="8"/>
          <p:cNvSpPr txBox="true"/>
          <p:nvPr/>
        </p:nvSpPr>
        <p:spPr>
          <a:xfrm rot="0">
            <a:off x="1041536" y="1078617"/>
            <a:ext cx="6067738" cy="438150"/>
          </a:xfrm>
          <a:prstGeom prst="rect">
            <a:avLst/>
          </a:prstGeom>
        </p:spPr>
        <p:txBody>
          <a:bodyPr anchor="t" rtlCol="false" tIns="0" lIns="0" bIns="0" rIns="0">
            <a:spAutoFit/>
          </a:bodyPr>
          <a:lstStyle/>
          <a:p>
            <a:pPr algn="l" marL="0" indent="0" lvl="0">
              <a:lnSpc>
                <a:spcPts val="3359"/>
              </a:lnSpc>
              <a:spcBef>
                <a:spcPct val="0"/>
              </a:spcBef>
            </a:pPr>
            <a:r>
              <a:rPr lang="en-US" b="true" sz="2799" spc="77">
                <a:solidFill>
                  <a:srgbClr val="00618A"/>
                </a:solidFill>
                <a:latin typeface="Arimo Bold"/>
                <a:ea typeface="Arimo Bold"/>
                <a:cs typeface="Arimo Bold"/>
                <a:sym typeface="Arimo Bold"/>
              </a:rPr>
              <a:t>Kết quả thử nghiệm chức năng</a:t>
            </a:r>
          </a:p>
        </p:txBody>
      </p:sp>
      <p:sp>
        <p:nvSpPr>
          <p:cNvPr name="TextBox 9" id="9"/>
          <p:cNvSpPr txBox="true"/>
          <p:nvPr/>
        </p:nvSpPr>
        <p:spPr>
          <a:xfrm rot="0">
            <a:off x="5822120" y="1835673"/>
            <a:ext cx="6643760" cy="481330"/>
          </a:xfrm>
          <a:prstGeom prst="rect">
            <a:avLst/>
          </a:prstGeom>
        </p:spPr>
        <p:txBody>
          <a:bodyPr anchor="t" rtlCol="false" tIns="0" lIns="0" bIns="0" rIns="0">
            <a:spAutoFit/>
          </a:bodyPr>
          <a:lstStyle/>
          <a:p>
            <a:pPr algn="ctr">
              <a:lnSpc>
                <a:spcPts val="3919"/>
              </a:lnSpc>
              <a:spcBef>
                <a:spcPct val="0"/>
              </a:spcBef>
            </a:pPr>
            <a:r>
              <a:rPr lang="en-US" sz="2799" i="true">
                <a:solidFill>
                  <a:srgbClr val="000000"/>
                </a:solidFill>
                <a:latin typeface="Open Sans Italics"/>
                <a:ea typeface="Open Sans Italics"/>
                <a:cs typeface="Open Sans Italics"/>
                <a:sym typeface="Open Sans Italics"/>
              </a:rPr>
              <a:t>Giao diện trang chỉnh sửa hồ sơ xin việc</a:t>
            </a:r>
          </a:p>
        </p:txBody>
      </p:sp>
      <p:sp>
        <p:nvSpPr>
          <p:cNvPr name="TextBox 10" id="10"/>
          <p:cNvSpPr txBox="true"/>
          <p:nvPr/>
        </p:nvSpPr>
        <p:spPr>
          <a:xfrm rot="0">
            <a:off x="16976359" y="9369641"/>
            <a:ext cx="528883" cy="409575"/>
          </a:xfrm>
          <a:prstGeom prst="rect">
            <a:avLst/>
          </a:prstGeom>
        </p:spPr>
        <p:txBody>
          <a:bodyPr anchor="t" rtlCol="false" tIns="0" lIns="0" bIns="0" rIns="0">
            <a:spAutoFit/>
          </a:bodyPr>
          <a:lstStyle/>
          <a:p>
            <a:pPr algn="r" marL="0" indent="0" lvl="0">
              <a:lnSpc>
                <a:spcPts val="3120"/>
              </a:lnSpc>
              <a:spcBef>
                <a:spcPct val="0"/>
              </a:spcBef>
            </a:pPr>
            <a:r>
              <a:rPr lang="en-US" b="true" sz="2600" spc="72">
                <a:solidFill>
                  <a:srgbClr val="00618A"/>
                </a:solidFill>
                <a:latin typeface="Arimo Bold"/>
                <a:ea typeface="Arimo Bold"/>
                <a:cs typeface="Arimo Bold"/>
                <a:sym typeface="Arimo Bold"/>
              </a:rPr>
              <a:t>28</a:t>
            </a:r>
          </a:p>
        </p:txBody>
      </p:sp>
    </p:spTree>
  </p:cSld>
  <p:clrMapOvr>
    <a:masterClrMapping/>
  </p:clrMapOvr>
  <p:transition spd="fast">
    <p:fade/>
  </p:transition>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705967" y="9253538"/>
            <a:ext cx="16872456" cy="4762"/>
          </a:xfrm>
          <a:prstGeom prst="line">
            <a:avLst/>
          </a:prstGeom>
          <a:ln cap="rnd" w="19050">
            <a:solidFill>
              <a:srgbClr val="4BADD6"/>
            </a:solidFill>
            <a:prstDash val="solid"/>
            <a:headEnd type="none" len="sm" w="sm"/>
            <a:tailEnd type="none" len="sm" w="sm"/>
          </a:ln>
        </p:spPr>
      </p:sp>
      <p:sp>
        <p:nvSpPr>
          <p:cNvPr name="AutoShape 3" id="3"/>
          <p:cNvSpPr/>
          <p:nvPr/>
        </p:nvSpPr>
        <p:spPr>
          <a:xfrm flipH="true">
            <a:off x="763112" y="716667"/>
            <a:ext cx="0" cy="771525"/>
          </a:xfrm>
          <a:prstGeom prst="line">
            <a:avLst/>
          </a:prstGeom>
          <a:ln cap="rnd" w="114300">
            <a:solidFill>
              <a:srgbClr val="075985">
                <a:alpha val="46667"/>
              </a:srgbClr>
            </a:solidFill>
            <a:prstDash val="solid"/>
            <a:headEnd type="none" len="sm" w="sm"/>
            <a:tailEnd type="none" len="sm" w="sm"/>
          </a:ln>
        </p:spPr>
      </p:sp>
      <p:sp>
        <p:nvSpPr>
          <p:cNvPr name="Freeform 4" id="4"/>
          <p:cNvSpPr/>
          <p:nvPr/>
        </p:nvSpPr>
        <p:spPr>
          <a:xfrm flipH="false" flipV="false" rot="0">
            <a:off x="16713285" y="707142"/>
            <a:ext cx="865138" cy="854186"/>
          </a:xfrm>
          <a:custGeom>
            <a:avLst/>
            <a:gdLst/>
            <a:ahLst/>
            <a:cxnLst/>
            <a:rect r="r" b="b" t="t" l="l"/>
            <a:pathLst>
              <a:path h="854186" w="865138">
                <a:moveTo>
                  <a:pt x="0" y="0"/>
                </a:moveTo>
                <a:lnTo>
                  <a:pt x="865138" y="0"/>
                </a:lnTo>
                <a:lnTo>
                  <a:pt x="865138" y="854186"/>
                </a:lnTo>
                <a:lnTo>
                  <a:pt x="0" y="854186"/>
                </a:lnTo>
                <a:lnTo>
                  <a:pt x="0" y="0"/>
                </a:lnTo>
                <a:close/>
              </a:path>
            </a:pathLst>
          </a:custGeom>
          <a:blipFill>
            <a:blip r:embed="rId2"/>
            <a:stretch>
              <a:fillRect l="0" t="0" r="0" b="0"/>
            </a:stretch>
          </a:blipFill>
        </p:spPr>
      </p:sp>
      <p:sp>
        <p:nvSpPr>
          <p:cNvPr name="Freeform 5" id="5"/>
          <p:cNvSpPr/>
          <p:nvPr/>
        </p:nvSpPr>
        <p:spPr>
          <a:xfrm flipH="false" flipV="false" rot="0">
            <a:off x="2317758" y="2546576"/>
            <a:ext cx="13652484" cy="6467864"/>
          </a:xfrm>
          <a:custGeom>
            <a:avLst/>
            <a:gdLst/>
            <a:ahLst/>
            <a:cxnLst/>
            <a:rect r="r" b="b" t="t" l="l"/>
            <a:pathLst>
              <a:path h="6467864" w="13652484">
                <a:moveTo>
                  <a:pt x="0" y="0"/>
                </a:moveTo>
                <a:lnTo>
                  <a:pt x="13652484" y="0"/>
                </a:lnTo>
                <a:lnTo>
                  <a:pt x="13652484" y="6467864"/>
                </a:lnTo>
                <a:lnTo>
                  <a:pt x="0" y="6467864"/>
                </a:lnTo>
                <a:lnTo>
                  <a:pt x="0" y="0"/>
                </a:lnTo>
                <a:close/>
              </a:path>
            </a:pathLst>
          </a:custGeom>
          <a:blipFill>
            <a:blip r:embed="rId3"/>
            <a:stretch>
              <a:fillRect l="0" t="0" r="0" b="0"/>
            </a:stretch>
          </a:blipFill>
          <a:ln w="19050" cap="sq">
            <a:solidFill>
              <a:srgbClr val="00618A"/>
            </a:solidFill>
            <a:prstDash val="solid"/>
            <a:miter/>
          </a:ln>
        </p:spPr>
      </p:sp>
      <p:sp>
        <p:nvSpPr>
          <p:cNvPr name="TextBox 6" id="6"/>
          <p:cNvSpPr txBox="true"/>
          <p:nvPr/>
        </p:nvSpPr>
        <p:spPr>
          <a:xfrm rot="0">
            <a:off x="763112" y="9369641"/>
            <a:ext cx="12119638" cy="409575"/>
          </a:xfrm>
          <a:prstGeom prst="rect">
            <a:avLst/>
          </a:prstGeom>
        </p:spPr>
        <p:txBody>
          <a:bodyPr anchor="t" rtlCol="false" tIns="0" lIns="0" bIns="0" rIns="0">
            <a:spAutoFit/>
          </a:bodyPr>
          <a:lstStyle/>
          <a:p>
            <a:pPr algn="l" marL="0" indent="0" lvl="0">
              <a:lnSpc>
                <a:spcPts val="3120"/>
              </a:lnSpc>
              <a:spcBef>
                <a:spcPct val="0"/>
              </a:spcBef>
            </a:pPr>
            <a:r>
              <a:rPr lang="en-US" b="true" sz="2600" spc="72" strike="noStrike" u="none">
                <a:solidFill>
                  <a:srgbClr val="00618A"/>
                </a:solidFill>
                <a:latin typeface="Arimo Bold"/>
                <a:ea typeface="Arimo Bold"/>
                <a:cs typeface="Arimo Bold"/>
                <a:sym typeface="Arimo Bold"/>
              </a:rPr>
              <a:t>XÂY DỰNG HỆ THỐNG TẠO VÀ ĐÁNH GIÁ</a:t>
            </a:r>
            <a:r>
              <a:rPr lang="en-US" b="true" sz="2600" spc="72" strike="noStrike" u="none">
                <a:solidFill>
                  <a:srgbClr val="00618A"/>
                </a:solidFill>
                <a:latin typeface="Arimo Bold"/>
                <a:ea typeface="Arimo Bold"/>
                <a:cs typeface="Arimo Bold"/>
                <a:sym typeface="Arimo Bold"/>
              </a:rPr>
              <a:t> HỒ SƠ XIN VIỆC TÍCH HỢP AI</a:t>
            </a:r>
          </a:p>
        </p:txBody>
      </p:sp>
      <p:sp>
        <p:nvSpPr>
          <p:cNvPr name="TextBox 7" id="7"/>
          <p:cNvSpPr txBox="true"/>
          <p:nvPr/>
        </p:nvSpPr>
        <p:spPr>
          <a:xfrm rot="0">
            <a:off x="1041536" y="688092"/>
            <a:ext cx="7323162" cy="438150"/>
          </a:xfrm>
          <a:prstGeom prst="rect">
            <a:avLst/>
          </a:prstGeom>
        </p:spPr>
        <p:txBody>
          <a:bodyPr anchor="t" rtlCol="false" tIns="0" lIns="0" bIns="0" rIns="0">
            <a:spAutoFit/>
          </a:bodyPr>
          <a:lstStyle/>
          <a:p>
            <a:pPr algn="l" marL="0" indent="0" lvl="0">
              <a:lnSpc>
                <a:spcPts val="3359"/>
              </a:lnSpc>
              <a:spcBef>
                <a:spcPct val="0"/>
              </a:spcBef>
            </a:pPr>
            <a:r>
              <a:rPr lang="en-US" sz="2799" i="true" spc="77">
                <a:solidFill>
                  <a:srgbClr val="00618A"/>
                </a:solidFill>
                <a:latin typeface="Arimo Italics"/>
                <a:ea typeface="Arimo Italics"/>
                <a:cs typeface="Arimo Italics"/>
                <a:sym typeface="Arimo Italics"/>
              </a:rPr>
              <a:t>4. Cài đặt hệ thống và kết quả thử nghiệm </a:t>
            </a:r>
          </a:p>
        </p:txBody>
      </p:sp>
      <p:sp>
        <p:nvSpPr>
          <p:cNvPr name="TextBox 8" id="8"/>
          <p:cNvSpPr txBox="true"/>
          <p:nvPr/>
        </p:nvSpPr>
        <p:spPr>
          <a:xfrm rot="0">
            <a:off x="1041536" y="1078617"/>
            <a:ext cx="6067738" cy="438150"/>
          </a:xfrm>
          <a:prstGeom prst="rect">
            <a:avLst/>
          </a:prstGeom>
        </p:spPr>
        <p:txBody>
          <a:bodyPr anchor="t" rtlCol="false" tIns="0" lIns="0" bIns="0" rIns="0">
            <a:spAutoFit/>
          </a:bodyPr>
          <a:lstStyle/>
          <a:p>
            <a:pPr algn="l" marL="0" indent="0" lvl="0">
              <a:lnSpc>
                <a:spcPts val="3359"/>
              </a:lnSpc>
              <a:spcBef>
                <a:spcPct val="0"/>
              </a:spcBef>
            </a:pPr>
            <a:r>
              <a:rPr lang="en-US" b="true" sz="2799" spc="77">
                <a:solidFill>
                  <a:srgbClr val="00618A"/>
                </a:solidFill>
                <a:latin typeface="Arimo Bold"/>
                <a:ea typeface="Arimo Bold"/>
                <a:cs typeface="Arimo Bold"/>
                <a:sym typeface="Arimo Bold"/>
              </a:rPr>
              <a:t>Kết quả thử nghiệm chức năng</a:t>
            </a:r>
          </a:p>
        </p:txBody>
      </p:sp>
      <p:sp>
        <p:nvSpPr>
          <p:cNvPr name="TextBox 9" id="9"/>
          <p:cNvSpPr txBox="true"/>
          <p:nvPr/>
        </p:nvSpPr>
        <p:spPr>
          <a:xfrm rot="0">
            <a:off x="5822120" y="1836645"/>
            <a:ext cx="6643760" cy="481330"/>
          </a:xfrm>
          <a:prstGeom prst="rect">
            <a:avLst/>
          </a:prstGeom>
        </p:spPr>
        <p:txBody>
          <a:bodyPr anchor="t" rtlCol="false" tIns="0" lIns="0" bIns="0" rIns="0">
            <a:spAutoFit/>
          </a:bodyPr>
          <a:lstStyle/>
          <a:p>
            <a:pPr algn="ctr">
              <a:lnSpc>
                <a:spcPts val="3919"/>
              </a:lnSpc>
              <a:spcBef>
                <a:spcPct val="0"/>
              </a:spcBef>
            </a:pPr>
            <a:r>
              <a:rPr lang="en-US" sz="2799" i="true">
                <a:solidFill>
                  <a:srgbClr val="000000"/>
                </a:solidFill>
                <a:latin typeface="Open Sans Italics"/>
                <a:ea typeface="Open Sans Italics"/>
                <a:cs typeface="Open Sans Italics"/>
                <a:sym typeface="Open Sans Italics"/>
              </a:rPr>
              <a:t>Giao diện trang hồ sơ xin việc công khai</a:t>
            </a:r>
          </a:p>
        </p:txBody>
      </p:sp>
      <p:sp>
        <p:nvSpPr>
          <p:cNvPr name="TextBox 10" id="10"/>
          <p:cNvSpPr txBox="true"/>
          <p:nvPr/>
        </p:nvSpPr>
        <p:spPr>
          <a:xfrm rot="0">
            <a:off x="16976359" y="9369641"/>
            <a:ext cx="528883" cy="409575"/>
          </a:xfrm>
          <a:prstGeom prst="rect">
            <a:avLst/>
          </a:prstGeom>
        </p:spPr>
        <p:txBody>
          <a:bodyPr anchor="t" rtlCol="false" tIns="0" lIns="0" bIns="0" rIns="0">
            <a:spAutoFit/>
          </a:bodyPr>
          <a:lstStyle/>
          <a:p>
            <a:pPr algn="r" marL="0" indent="0" lvl="0">
              <a:lnSpc>
                <a:spcPts val="3120"/>
              </a:lnSpc>
              <a:spcBef>
                <a:spcPct val="0"/>
              </a:spcBef>
            </a:pPr>
            <a:r>
              <a:rPr lang="en-US" b="true" sz="2600" spc="72">
                <a:solidFill>
                  <a:srgbClr val="00618A"/>
                </a:solidFill>
                <a:latin typeface="Arimo Bold"/>
                <a:ea typeface="Arimo Bold"/>
                <a:cs typeface="Arimo Bold"/>
                <a:sym typeface="Arimo Bold"/>
              </a:rPr>
              <a:t>29</a:t>
            </a:r>
          </a:p>
        </p:txBody>
      </p:sp>
    </p:spTree>
  </p:cSld>
  <p:clrMapOvr>
    <a:masterClrMapping/>
  </p:clrMapOvr>
  <p:transition spd="fast">
    <p:fade/>
  </p:transition>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604641" y="4371975"/>
            <a:ext cx="9078719" cy="1533525"/>
          </a:xfrm>
          <a:prstGeom prst="rect">
            <a:avLst/>
          </a:prstGeom>
        </p:spPr>
        <p:txBody>
          <a:bodyPr anchor="t" rtlCol="false" tIns="0" lIns="0" bIns="0" rIns="0">
            <a:spAutoFit/>
          </a:bodyPr>
          <a:lstStyle/>
          <a:p>
            <a:pPr algn="ctr">
              <a:lnSpc>
                <a:spcPts val="6000"/>
              </a:lnSpc>
            </a:pPr>
            <a:r>
              <a:rPr lang="en-US" b="true" sz="5000" spc="135">
                <a:solidFill>
                  <a:srgbClr val="00618A">
                    <a:alpha val="81961"/>
                  </a:srgbClr>
                </a:solidFill>
                <a:latin typeface="Open Sans Bold"/>
                <a:ea typeface="Open Sans Bold"/>
                <a:cs typeface="Open Sans Bold"/>
                <a:sym typeface="Open Sans Bold"/>
              </a:rPr>
              <a:t>5. KẾT LUẬN </a:t>
            </a:r>
          </a:p>
          <a:p>
            <a:pPr algn="ctr" marL="0" indent="0" lvl="0">
              <a:lnSpc>
                <a:spcPts val="6000"/>
              </a:lnSpc>
              <a:spcBef>
                <a:spcPct val="0"/>
              </a:spcBef>
            </a:pPr>
            <a:r>
              <a:rPr lang="en-US" b="true" sz="5000" spc="138">
                <a:solidFill>
                  <a:srgbClr val="00618A">
                    <a:alpha val="81961"/>
                  </a:srgbClr>
                </a:solidFill>
                <a:latin typeface="Open Sans Bold"/>
                <a:ea typeface="Open Sans Bold"/>
                <a:cs typeface="Open Sans Bold"/>
                <a:sym typeface="Open Sans Bold"/>
              </a:rPr>
              <a:t>VÀ HƯỚNG PHÁT TRIỂN</a:t>
            </a:r>
          </a:p>
        </p:txBody>
      </p:sp>
      <p:sp>
        <p:nvSpPr>
          <p:cNvPr name="AutoShape 3" id="3"/>
          <p:cNvSpPr/>
          <p:nvPr/>
        </p:nvSpPr>
        <p:spPr>
          <a:xfrm>
            <a:off x="763112" y="1028700"/>
            <a:ext cx="14928440" cy="0"/>
          </a:xfrm>
          <a:prstGeom prst="line">
            <a:avLst/>
          </a:prstGeom>
          <a:ln cap="rnd" w="19050">
            <a:solidFill>
              <a:srgbClr val="4BADD6"/>
            </a:solidFill>
            <a:prstDash val="solid"/>
            <a:headEnd type="none" len="sm" w="sm"/>
            <a:tailEnd type="none" len="sm" w="sm"/>
          </a:ln>
        </p:spPr>
      </p:sp>
      <p:sp>
        <p:nvSpPr>
          <p:cNvPr name="AutoShape 4" id="4"/>
          <p:cNvSpPr/>
          <p:nvPr/>
        </p:nvSpPr>
        <p:spPr>
          <a:xfrm>
            <a:off x="705967" y="9253538"/>
            <a:ext cx="16872456" cy="4762"/>
          </a:xfrm>
          <a:prstGeom prst="line">
            <a:avLst/>
          </a:prstGeom>
          <a:ln cap="rnd" w="19050">
            <a:solidFill>
              <a:srgbClr val="4BADD6"/>
            </a:solidFill>
            <a:prstDash val="solid"/>
            <a:headEnd type="none" len="sm" w="sm"/>
            <a:tailEnd type="none" len="sm" w="sm"/>
          </a:ln>
        </p:spPr>
      </p:sp>
      <p:sp>
        <p:nvSpPr>
          <p:cNvPr name="TextBox 5" id="5"/>
          <p:cNvSpPr txBox="true"/>
          <p:nvPr/>
        </p:nvSpPr>
        <p:spPr>
          <a:xfrm rot="0">
            <a:off x="763112" y="9369641"/>
            <a:ext cx="12119638" cy="409575"/>
          </a:xfrm>
          <a:prstGeom prst="rect">
            <a:avLst/>
          </a:prstGeom>
        </p:spPr>
        <p:txBody>
          <a:bodyPr anchor="t" rtlCol="false" tIns="0" lIns="0" bIns="0" rIns="0">
            <a:spAutoFit/>
          </a:bodyPr>
          <a:lstStyle/>
          <a:p>
            <a:pPr algn="l" marL="0" indent="0" lvl="0">
              <a:lnSpc>
                <a:spcPts val="3120"/>
              </a:lnSpc>
              <a:spcBef>
                <a:spcPct val="0"/>
              </a:spcBef>
            </a:pPr>
            <a:r>
              <a:rPr lang="en-US" b="true" sz="2600" spc="72" strike="noStrike" u="none">
                <a:solidFill>
                  <a:srgbClr val="00618A"/>
                </a:solidFill>
                <a:latin typeface="Arimo Bold"/>
                <a:ea typeface="Arimo Bold"/>
                <a:cs typeface="Arimo Bold"/>
                <a:sym typeface="Arimo Bold"/>
              </a:rPr>
              <a:t>XÂY DỰNG HỆ THỐNG TẠO VÀ ĐÁNH GIÁ</a:t>
            </a:r>
            <a:r>
              <a:rPr lang="en-US" b="true" sz="2600" spc="72" strike="noStrike" u="none">
                <a:solidFill>
                  <a:srgbClr val="00618A"/>
                </a:solidFill>
                <a:latin typeface="Arimo Bold"/>
                <a:ea typeface="Arimo Bold"/>
                <a:cs typeface="Arimo Bold"/>
                <a:sym typeface="Arimo Bold"/>
              </a:rPr>
              <a:t> HỒ SƠ XIN VIỆC TÍCH HỢP AI</a:t>
            </a:r>
          </a:p>
        </p:txBody>
      </p:sp>
      <p:sp>
        <p:nvSpPr>
          <p:cNvPr name="TextBox 6" id="6"/>
          <p:cNvSpPr txBox="true"/>
          <p:nvPr/>
        </p:nvSpPr>
        <p:spPr>
          <a:xfrm rot="0">
            <a:off x="16976359" y="9369641"/>
            <a:ext cx="528883" cy="409575"/>
          </a:xfrm>
          <a:prstGeom prst="rect">
            <a:avLst/>
          </a:prstGeom>
        </p:spPr>
        <p:txBody>
          <a:bodyPr anchor="t" rtlCol="false" tIns="0" lIns="0" bIns="0" rIns="0">
            <a:spAutoFit/>
          </a:bodyPr>
          <a:lstStyle/>
          <a:p>
            <a:pPr algn="r" marL="0" indent="0" lvl="0">
              <a:lnSpc>
                <a:spcPts val="3120"/>
              </a:lnSpc>
              <a:spcBef>
                <a:spcPct val="0"/>
              </a:spcBef>
            </a:pPr>
            <a:r>
              <a:rPr lang="en-US" b="true" sz="2600" spc="72">
                <a:solidFill>
                  <a:srgbClr val="00618A"/>
                </a:solidFill>
                <a:latin typeface="Arimo Bold"/>
                <a:ea typeface="Arimo Bold"/>
                <a:cs typeface="Arimo Bold"/>
                <a:sym typeface="Arimo Bold"/>
              </a:rPr>
              <a:t>30</a:t>
            </a:r>
          </a:p>
        </p:txBody>
      </p:sp>
      <p:sp>
        <p:nvSpPr>
          <p:cNvPr name="Freeform 7" id="7"/>
          <p:cNvSpPr/>
          <p:nvPr/>
        </p:nvSpPr>
        <p:spPr>
          <a:xfrm flipH="false" flipV="false" rot="0">
            <a:off x="16713285" y="707142"/>
            <a:ext cx="865138" cy="854186"/>
          </a:xfrm>
          <a:custGeom>
            <a:avLst/>
            <a:gdLst/>
            <a:ahLst/>
            <a:cxnLst/>
            <a:rect r="r" b="b" t="t" l="l"/>
            <a:pathLst>
              <a:path h="854186" w="865138">
                <a:moveTo>
                  <a:pt x="0" y="0"/>
                </a:moveTo>
                <a:lnTo>
                  <a:pt x="865138" y="0"/>
                </a:lnTo>
                <a:lnTo>
                  <a:pt x="865138" y="854186"/>
                </a:lnTo>
                <a:lnTo>
                  <a:pt x="0" y="854186"/>
                </a:lnTo>
                <a:lnTo>
                  <a:pt x="0" y="0"/>
                </a:lnTo>
                <a:close/>
              </a:path>
            </a:pathLst>
          </a:custGeom>
          <a:blipFill>
            <a:blip r:embed="rId2"/>
            <a:stretch>
              <a:fillRect l="0" t="0" r="0" b="0"/>
            </a:stretch>
          </a:blipFill>
        </p:spPr>
      </p:sp>
    </p:spTree>
  </p:cSld>
  <p:clrMapOvr>
    <a:masterClrMapping/>
  </p:clrMapOvr>
  <p:transition spd="fast">
    <p:fade/>
  </p:transition>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705967" y="9253538"/>
            <a:ext cx="16872456" cy="4762"/>
          </a:xfrm>
          <a:prstGeom prst="line">
            <a:avLst/>
          </a:prstGeom>
          <a:ln cap="rnd" w="19050">
            <a:solidFill>
              <a:srgbClr val="4BADD6"/>
            </a:solidFill>
            <a:prstDash val="solid"/>
            <a:headEnd type="none" len="sm" w="sm"/>
            <a:tailEnd type="none" len="sm" w="sm"/>
          </a:ln>
        </p:spPr>
      </p:sp>
      <p:sp>
        <p:nvSpPr>
          <p:cNvPr name="AutoShape 3" id="3"/>
          <p:cNvSpPr/>
          <p:nvPr/>
        </p:nvSpPr>
        <p:spPr>
          <a:xfrm flipH="true">
            <a:off x="763112" y="716667"/>
            <a:ext cx="0" cy="771525"/>
          </a:xfrm>
          <a:prstGeom prst="line">
            <a:avLst/>
          </a:prstGeom>
          <a:ln cap="rnd" w="114300">
            <a:solidFill>
              <a:srgbClr val="075985">
                <a:alpha val="46667"/>
              </a:srgbClr>
            </a:solidFill>
            <a:prstDash val="solid"/>
            <a:headEnd type="none" len="sm" w="sm"/>
            <a:tailEnd type="none" len="sm" w="sm"/>
          </a:ln>
        </p:spPr>
      </p:sp>
      <p:sp>
        <p:nvSpPr>
          <p:cNvPr name="Freeform 4" id="4"/>
          <p:cNvSpPr/>
          <p:nvPr/>
        </p:nvSpPr>
        <p:spPr>
          <a:xfrm flipH="false" flipV="false" rot="0">
            <a:off x="16713285" y="707142"/>
            <a:ext cx="865138" cy="854186"/>
          </a:xfrm>
          <a:custGeom>
            <a:avLst/>
            <a:gdLst/>
            <a:ahLst/>
            <a:cxnLst/>
            <a:rect r="r" b="b" t="t" l="l"/>
            <a:pathLst>
              <a:path h="854186" w="865138">
                <a:moveTo>
                  <a:pt x="0" y="0"/>
                </a:moveTo>
                <a:lnTo>
                  <a:pt x="865138" y="0"/>
                </a:lnTo>
                <a:lnTo>
                  <a:pt x="865138" y="854186"/>
                </a:lnTo>
                <a:lnTo>
                  <a:pt x="0" y="854186"/>
                </a:lnTo>
                <a:lnTo>
                  <a:pt x="0" y="0"/>
                </a:lnTo>
                <a:close/>
              </a:path>
            </a:pathLst>
          </a:custGeom>
          <a:blipFill>
            <a:blip r:embed="rId2"/>
            <a:stretch>
              <a:fillRect l="0" t="0" r="0" b="0"/>
            </a:stretch>
          </a:blipFill>
        </p:spPr>
      </p:sp>
      <p:sp>
        <p:nvSpPr>
          <p:cNvPr name="TextBox 5" id="5"/>
          <p:cNvSpPr txBox="true"/>
          <p:nvPr/>
        </p:nvSpPr>
        <p:spPr>
          <a:xfrm rot="0">
            <a:off x="763112" y="9369641"/>
            <a:ext cx="12119638" cy="409575"/>
          </a:xfrm>
          <a:prstGeom prst="rect">
            <a:avLst/>
          </a:prstGeom>
        </p:spPr>
        <p:txBody>
          <a:bodyPr anchor="t" rtlCol="false" tIns="0" lIns="0" bIns="0" rIns="0">
            <a:spAutoFit/>
          </a:bodyPr>
          <a:lstStyle/>
          <a:p>
            <a:pPr algn="l" marL="0" indent="0" lvl="0">
              <a:lnSpc>
                <a:spcPts val="3120"/>
              </a:lnSpc>
              <a:spcBef>
                <a:spcPct val="0"/>
              </a:spcBef>
            </a:pPr>
            <a:r>
              <a:rPr lang="en-US" b="true" sz="2600" spc="72" strike="noStrike" u="none">
                <a:solidFill>
                  <a:srgbClr val="00618A"/>
                </a:solidFill>
                <a:latin typeface="Arimo Bold"/>
                <a:ea typeface="Arimo Bold"/>
                <a:cs typeface="Arimo Bold"/>
                <a:sym typeface="Arimo Bold"/>
              </a:rPr>
              <a:t>XÂY DỰNG HỆ THỐNG TẠO VÀ ĐÁNH GIÁ</a:t>
            </a:r>
            <a:r>
              <a:rPr lang="en-US" b="true" sz="2600" spc="72" strike="noStrike" u="none">
                <a:solidFill>
                  <a:srgbClr val="00618A"/>
                </a:solidFill>
                <a:latin typeface="Arimo Bold"/>
                <a:ea typeface="Arimo Bold"/>
                <a:cs typeface="Arimo Bold"/>
                <a:sym typeface="Arimo Bold"/>
              </a:rPr>
              <a:t> HỒ SƠ XIN VIỆC TÍCH HỢP AI</a:t>
            </a:r>
          </a:p>
        </p:txBody>
      </p:sp>
      <p:sp>
        <p:nvSpPr>
          <p:cNvPr name="TextBox 6" id="6"/>
          <p:cNvSpPr txBox="true"/>
          <p:nvPr/>
        </p:nvSpPr>
        <p:spPr>
          <a:xfrm rot="0">
            <a:off x="1041536" y="688092"/>
            <a:ext cx="7323162" cy="438150"/>
          </a:xfrm>
          <a:prstGeom prst="rect">
            <a:avLst/>
          </a:prstGeom>
        </p:spPr>
        <p:txBody>
          <a:bodyPr anchor="t" rtlCol="false" tIns="0" lIns="0" bIns="0" rIns="0">
            <a:spAutoFit/>
          </a:bodyPr>
          <a:lstStyle/>
          <a:p>
            <a:pPr algn="l" marL="0" indent="0" lvl="0">
              <a:lnSpc>
                <a:spcPts val="3359"/>
              </a:lnSpc>
              <a:spcBef>
                <a:spcPct val="0"/>
              </a:spcBef>
            </a:pPr>
            <a:r>
              <a:rPr lang="en-US" sz="2799" i="true" spc="77">
                <a:solidFill>
                  <a:srgbClr val="00618A"/>
                </a:solidFill>
                <a:latin typeface="Arimo Italics"/>
                <a:ea typeface="Arimo Italics"/>
                <a:cs typeface="Arimo Italics"/>
                <a:sym typeface="Arimo Italics"/>
              </a:rPr>
              <a:t>5. Kết luận và hướng phát triển</a:t>
            </a:r>
          </a:p>
        </p:txBody>
      </p:sp>
      <p:sp>
        <p:nvSpPr>
          <p:cNvPr name="TextBox 7" id="7"/>
          <p:cNvSpPr txBox="true"/>
          <p:nvPr/>
        </p:nvSpPr>
        <p:spPr>
          <a:xfrm rot="0">
            <a:off x="1041536" y="1078617"/>
            <a:ext cx="6067738" cy="438150"/>
          </a:xfrm>
          <a:prstGeom prst="rect">
            <a:avLst/>
          </a:prstGeom>
        </p:spPr>
        <p:txBody>
          <a:bodyPr anchor="t" rtlCol="false" tIns="0" lIns="0" bIns="0" rIns="0">
            <a:spAutoFit/>
          </a:bodyPr>
          <a:lstStyle/>
          <a:p>
            <a:pPr algn="l" marL="0" indent="0" lvl="0">
              <a:lnSpc>
                <a:spcPts val="3359"/>
              </a:lnSpc>
              <a:spcBef>
                <a:spcPct val="0"/>
              </a:spcBef>
            </a:pPr>
            <a:r>
              <a:rPr lang="en-US" b="true" sz="2799" spc="77">
                <a:solidFill>
                  <a:srgbClr val="00618A"/>
                </a:solidFill>
                <a:latin typeface="Arimo Bold"/>
                <a:ea typeface="Arimo Bold"/>
                <a:cs typeface="Arimo Bold"/>
                <a:sym typeface="Arimo Bold"/>
              </a:rPr>
              <a:t>Kết luận</a:t>
            </a:r>
          </a:p>
        </p:txBody>
      </p:sp>
      <p:sp>
        <p:nvSpPr>
          <p:cNvPr name="TextBox 8" id="8"/>
          <p:cNvSpPr txBox="true"/>
          <p:nvPr/>
        </p:nvSpPr>
        <p:spPr>
          <a:xfrm rot="0">
            <a:off x="763112" y="2183659"/>
            <a:ext cx="16742130" cy="976630"/>
          </a:xfrm>
          <a:prstGeom prst="rect">
            <a:avLst/>
          </a:prstGeom>
        </p:spPr>
        <p:txBody>
          <a:bodyPr anchor="t" rtlCol="false" tIns="0" lIns="0" bIns="0" rIns="0">
            <a:spAutoFit/>
          </a:bodyPr>
          <a:lstStyle/>
          <a:p>
            <a:pPr algn="l" marL="0" indent="0" lvl="0">
              <a:lnSpc>
                <a:spcPts val="3919"/>
              </a:lnSpc>
              <a:spcBef>
                <a:spcPct val="0"/>
              </a:spcBef>
            </a:pPr>
            <a:r>
              <a:rPr lang="en-US" sz="2799" strike="noStrike" u="none">
                <a:solidFill>
                  <a:srgbClr val="000000"/>
                </a:solidFill>
                <a:latin typeface="Open Sans"/>
                <a:ea typeface="Open Sans"/>
                <a:cs typeface="Open Sans"/>
                <a:sym typeface="Open Sans"/>
              </a:rPr>
              <a:t>Hệ thống tạo và đánh giá hồ sơ xin việc tích hợp AI đã được xây dựng thành công và đáp ứng được các nhu cầu cần thiết của người dùng với các chức năng chính như</a:t>
            </a:r>
            <a:r>
              <a:rPr lang="en-US" sz="2799" strike="noStrike" u="none">
                <a:solidFill>
                  <a:srgbClr val="000000"/>
                </a:solidFill>
                <a:latin typeface="Open Sans"/>
                <a:ea typeface="Open Sans"/>
                <a:cs typeface="Open Sans"/>
                <a:sym typeface="Open Sans"/>
              </a:rPr>
              <a:t>:</a:t>
            </a:r>
          </a:p>
        </p:txBody>
      </p:sp>
      <p:grpSp>
        <p:nvGrpSpPr>
          <p:cNvPr name="Group 9" id="9"/>
          <p:cNvGrpSpPr/>
          <p:nvPr/>
        </p:nvGrpSpPr>
        <p:grpSpPr>
          <a:xfrm rot="0">
            <a:off x="1689087" y="3814633"/>
            <a:ext cx="4868629" cy="626829"/>
            <a:chOff x="0" y="0"/>
            <a:chExt cx="6491505" cy="835772"/>
          </a:xfrm>
        </p:grpSpPr>
        <p:sp>
          <p:nvSpPr>
            <p:cNvPr name="Freeform 10" id="10"/>
            <p:cNvSpPr/>
            <p:nvPr/>
          </p:nvSpPr>
          <p:spPr>
            <a:xfrm flipH="false" flipV="false" rot="0">
              <a:off x="0" y="0"/>
              <a:ext cx="934298" cy="835772"/>
            </a:xfrm>
            <a:custGeom>
              <a:avLst/>
              <a:gdLst/>
              <a:ahLst/>
              <a:cxnLst/>
              <a:rect r="r" b="b" t="t" l="l"/>
              <a:pathLst>
                <a:path h="835772" w="934298">
                  <a:moveTo>
                    <a:pt x="0" y="0"/>
                  </a:moveTo>
                  <a:lnTo>
                    <a:pt x="934298" y="0"/>
                  </a:lnTo>
                  <a:lnTo>
                    <a:pt x="934298" y="835772"/>
                  </a:lnTo>
                  <a:lnTo>
                    <a:pt x="0" y="83577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1354547" y="77949"/>
              <a:ext cx="5136958" cy="622724"/>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000000"/>
                  </a:solidFill>
                  <a:latin typeface="Open Sans"/>
                  <a:ea typeface="Open Sans"/>
                  <a:cs typeface="Open Sans"/>
                  <a:sym typeface="Open Sans"/>
                </a:rPr>
                <a:t>Đăng ký / Đăng nhập</a:t>
              </a:r>
            </a:p>
          </p:txBody>
        </p:sp>
      </p:grpSp>
      <p:grpSp>
        <p:nvGrpSpPr>
          <p:cNvPr name="Group 12" id="12"/>
          <p:cNvGrpSpPr/>
          <p:nvPr/>
        </p:nvGrpSpPr>
        <p:grpSpPr>
          <a:xfrm rot="0">
            <a:off x="1689087" y="4828183"/>
            <a:ext cx="6376802" cy="626829"/>
            <a:chOff x="0" y="0"/>
            <a:chExt cx="8502402" cy="835772"/>
          </a:xfrm>
        </p:grpSpPr>
        <p:sp>
          <p:nvSpPr>
            <p:cNvPr name="Freeform 13" id="13"/>
            <p:cNvSpPr/>
            <p:nvPr/>
          </p:nvSpPr>
          <p:spPr>
            <a:xfrm flipH="false" flipV="false" rot="0">
              <a:off x="0" y="0"/>
              <a:ext cx="934298" cy="835772"/>
            </a:xfrm>
            <a:custGeom>
              <a:avLst/>
              <a:gdLst/>
              <a:ahLst/>
              <a:cxnLst/>
              <a:rect r="r" b="b" t="t" l="l"/>
              <a:pathLst>
                <a:path h="835772" w="934298">
                  <a:moveTo>
                    <a:pt x="0" y="0"/>
                  </a:moveTo>
                  <a:lnTo>
                    <a:pt x="934298" y="0"/>
                  </a:lnTo>
                  <a:lnTo>
                    <a:pt x="934298" y="835772"/>
                  </a:lnTo>
                  <a:lnTo>
                    <a:pt x="0" y="83577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4" id="14"/>
            <p:cNvSpPr txBox="true"/>
            <p:nvPr/>
          </p:nvSpPr>
          <p:spPr>
            <a:xfrm rot="0">
              <a:off x="1354547" y="77949"/>
              <a:ext cx="7147855" cy="622724"/>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000000"/>
                  </a:solidFill>
                  <a:latin typeface="Open Sans"/>
                  <a:ea typeface="Open Sans"/>
                  <a:cs typeface="Open Sans"/>
                  <a:sym typeface="Open Sans"/>
                </a:rPr>
                <a:t>Tạo và chỉnh sửa hồ sơ xin việc</a:t>
              </a:r>
            </a:p>
          </p:txBody>
        </p:sp>
      </p:grpSp>
      <p:grpSp>
        <p:nvGrpSpPr>
          <p:cNvPr name="Group 15" id="15"/>
          <p:cNvGrpSpPr/>
          <p:nvPr/>
        </p:nvGrpSpPr>
        <p:grpSpPr>
          <a:xfrm rot="0">
            <a:off x="8684539" y="5845537"/>
            <a:ext cx="4868629" cy="626829"/>
            <a:chOff x="0" y="0"/>
            <a:chExt cx="6491505" cy="835772"/>
          </a:xfrm>
        </p:grpSpPr>
        <p:sp>
          <p:nvSpPr>
            <p:cNvPr name="Freeform 16" id="16"/>
            <p:cNvSpPr/>
            <p:nvPr/>
          </p:nvSpPr>
          <p:spPr>
            <a:xfrm flipH="false" flipV="false" rot="0">
              <a:off x="0" y="0"/>
              <a:ext cx="934298" cy="835772"/>
            </a:xfrm>
            <a:custGeom>
              <a:avLst/>
              <a:gdLst/>
              <a:ahLst/>
              <a:cxnLst/>
              <a:rect r="r" b="b" t="t" l="l"/>
              <a:pathLst>
                <a:path h="835772" w="934298">
                  <a:moveTo>
                    <a:pt x="0" y="0"/>
                  </a:moveTo>
                  <a:lnTo>
                    <a:pt x="934298" y="0"/>
                  </a:lnTo>
                  <a:lnTo>
                    <a:pt x="934298" y="835772"/>
                  </a:lnTo>
                  <a:lnTo>
                    <a:pt x="0" y="83577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7" id="17"/>
            <p:cNvSpPr txBox="true"/>
            <p:nvPr/>
          </p:nvSpPr>
          <p:spPr>
            <a:xfrm rot="0">
              <a:off x="1354547" y="77949"/>
              <a:ext cx="5136958" cy="622724"/>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000000"/>
                  </a:solidFill>
                  <a:latin typeface="Open Sans"/>
                  <a:ea typeface="Open Sans"/>
                  <a:cs typeface="Open Sans"/>
                  <a:sym typeface="Open Sans"/>
                </a:rPr>
                <a:t>Import từ PDF (AI)</a:t>
              </a:r>
            </a:p>
          </p:txBody>
        </p:sp>
      </p:grpSp>
      <p:grpSp>
        <p:nvGrpSpPr>
          <p:cNvPr name="Group 18" id="18"/>
          <p:cNvGrpSpPr/>
          <p:nvPr/>
        </p:nvGrpSpPr>
        <p:grpSpPr>
          <a:xfrm rot="0">
            <a:off x="1668057" y="5845537"/>
            <a:ext cx="6376802" cy="626829"/>
            <a:chOff x="0" y="0"/>
            <a:chExt cx="8502402" cy="835772"/>
          </a:xfrm>
        </p:grpSpPr>
        <p:sp>
          <p:nvSpPr>
            <p:cNvPr name="Freeform 19" id="19"/>
            <p:cNvSpPr/>
            <p:nvPr/>
          </p:nvSpPr>
          <p:spPr>
            <a:xfrm flipH="false" flipV="false" rot="0">
              <a:off x="0" y="0"/>
              <a:ext cx="934298" cy="835772"/>
            </a:xfrm>
            <a:custGeom>
              <a:avLst/>
              <a:gdLst/>
              <a:ahLst/>
              <a:cxnLst/>
              <a:rect r="r" b="b" t="t" l="l"/>
              <a:pathLst>
                <a:path h="835772" w="934298">
                  <a:moveTo>
                    <a:pt x="0" y="0"/>
                  </a:moveTo>
                  <a:lnTo>
                    <a:pt x="934298" y="0"/>
                  </a:lnTo>
                  <a:lnTo>
                    <a:pt x="934298" y="835772"/>
                  </a:lnTo>
                  <a:lnTo>
                    <a:pt x="0" y="83577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0" id="20"/>
            <p:cNvSpPr txBox="true"/>
            <p:nvPr/>
          </p:nvSpPr>
          <p:spPr>
            <a:xfrm rot="0">
              <a:off x="1354547" y="77949"/>
              <a:ext cx="7147855" cy="622724"/>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000000"/>
                  </a:solidFill>
                  <a:latin typeface="Open Sans"/>
                  <a:ea typeface="Open Sans"/>
                  <a:cs typeface="Open Sans"/>
                  <a:sym typeface="Open Sans"/>
                </a:rPr>
                <a:t>Công khai hồ sơ xin việc</a:t>
              </a:r>
            </a:p>
          </p:txBody>
        </p:sp>
      </p:grpSp>
      <p:grpSp>
        <p:nvGrpSpPr>
          <p:cNvPr name="Group 21" id="21"/>
          <p:cNvGrpSpPr/>
          <p:nvPr/>
        </p:nvGrpSpPr>
        <p:grpSpPr>
          <a:xfrm rot="0">
            <a:off x="8684539" y="3814633"/>
            <a:ext cx="6376802" cy="626829"/>
            <a:chOff x="0" y="0"/>
            <a:chExt cx="8502402" cy="835772"/>
          </a:xfrm>
        </p:grpSpPr>
        <p:sp>
          <p:nvSpPr>
            <p:cNvPr name="Freeform 22" id="22"/>
            <p:cNvSpPr/>
            <p:nvPr/>
          </p:nvSpPr>
          <p:spPr>
            <a:xfrm flipH="false" flipV="false" rot="0">
              <a:off x="0" y="0"/>
              <a:ext cx="934298" cy="835772"/>
            </a:xfrm>
            <a:custGeom>
              <a:avLst/>
              <a:gdLst/>
              <a:ahLst/>
              <a:cxnLst/>
              <a:rect r="r" b="b" t="t" l="l"/>
              <a:pathLst>
                <a:path h="835772" w="934298">
                  <a:moveTo>
                    <a:pt x="0" y="0"/>
                  </a:moveTo>
                  <a:lnTo>
                    <a:pt x="934298" y="0"/>
                  </a:lnTo>
                  <a:lnTo>
                    <a:pt x="934298" y="835772"/>
                  </a:lnTo>
                  <a:lnTo>
                    <a:pt x="0" y="83577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3" id="23"/>
            <p:cNvSpPr txBox="true"/>
            <p:nvPr/>
          </p:nvSpPr>
          <p:spPr>
            <a:xfrm rot="0">
              <a:off x="1354547" y="77949"/>
              <a:ext cx="7147855" cy="622724"/>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000000"/>
                  </a:solidFill>
                  <a:latin typeface="Open Sans"/>
                  <a:ea typeface="Open Sans"/>
                  <a:cs typeface="Open Sans"/>
                  <a:sym typeface="Open Sans"/>
                </a:rPr>
                <a:t>Dịch thuật (AI)</a:t>
              </a:r>
            </a:p>
          </p:txBody>
        </p:sp>
      </p:grpSp>
      <p:grpSp>
        <p:nvGrpSpPr>
          <p:cNvPr name="Group 24" id="24"/>
          <p:cNvGrpSpPr/>
          <p:nvPr/>
        </p:nvGrpSpPr>
        <p:grpSpPr>
          <a:xfrm rot="0">
            <a:off x="8684539" y="4783081"/>
            <a:ext cx="6376802" cy="626829"/>
            <a:chOff x="0" y="0"/>
            <a:chExt cx="8502402" cy="835772"/>
          </a:xfrm>
        </p:grpSpPr>
        <p:sp>
          <p:nvSpPr>
            <p:cNvPr name="Freeform 25" id="25"/>
            <p:cNvSpPr/>
            <p:nvPr/>
          </p:nvSpPr>
          <p:spPr>
            <a:xfrm flipH="false" flipV="false" rot="0">
              <a:off x="0" y="0"/>
              <a:ext cx="934298" cy="835772"/>
            </a:xfrm>
            <a:custGeom>
              <a:avLst/>
              <a:gdLst/>
              <a:ahLst/>
              <a:cxnLst/>
              <a:rect r="r" b="b" t="t" l="l"/>
              <a:pathLst>
                <a:path h="835772" w="934298">
                  <a:moveTo>
                    <a:pt x="0" y="0"/>
                  </a:moveTo>
                  <a:lnTo>
                    <a:pt x="934298" y="0"/>
                  </a:lnTo>
                  <a:lnTo>
                    <a:pt x="934298" y="835772"/>
                  </a:lnTo>
                  <a:lnTo>
                    <a:pt x="0" y="83577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6" id="26"/>
            <p:cNvSpPr txBox="true"/>
            <p:nvPr/>
          </p:nvSpPr>
          <p:spPr>
            <a:xfrm rot="0">
              <a:off x="1354547" y="77949"/>
              <a:ext cx="7147855" cy="622724"/>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000000"/>
                  </a:solidFill>
                  <a:latin typeface="Open Sans"/>
                  <a:ea typeface="Open Sans"/>
                  <a:cs typeface="Open Sans"/>
                  <a:sym typeface="Open Sans"/>
                </a:rPr>
                <a:t>Đánh giá hồ sơ xin việc (AI)</a:t>
              </a:r>
            </a:p>
          </p:txBody>
        </p:sp>
      </p:grpSp>
      <p:sp>
        <p:nvSpPr>
          <p:cNvPr name="TextBox 27" id="27"/>
          <p:cNvSpPr txBox="true"/>
          <p:nvPr/>
        </p:nvSpPr>
        <p:spPr>
          <a:xfrm rot="0">
            <a:off x="1028700" y="7152169"/>
            <a:ext cx="16742130" cy="976630"/>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000000"/>
                </a:solidFill>
                <a:latin typeface="Open Sans"/>
                <a:ea typeface="Open Sans"/>
                <a:cs typeface="Open Sans"/>
                <a:sym typeface="Open Sans"/>
              </a:rPr>
              <a:t>Bằng việc sử dụng hệ thống người dùng có thể dễ dàng, nhanh chóng thiết kế hồ sơ xin việc cho riêng mình. Đồng thời nâng cao chất lượng hồ sơ xin việc giúp ích cho quá trình ứng tuyển việc làm.</a:t>
            </a:r>
          </a:p>
        </p:txBody>
      </p:sp>
      <p:sp>
        <p:nvSpPr>
          <p:cNvPr name="TextBox 28" id="28"/>
          <p:cNvSpPr txBox="true"/>
          <p:nvPr/>
        </p:nvSpPr>
        <p:spPr>
          <a:xfrm rot="0">
            <a:off x="16976359" y="9369641"/>
            <a:ext cx="528883" cy="409575"/>
          </a:xfrm>
          <a:prstGeom prst="rect">
            <a:avLst/>
          </a:prstGeom>
        </p:spPr>
        <p:txBody>
          <a:bodyPr anchor="t" rtlCol="false" tIns="0" lIns="0" bIns="0" rIns="0">
            <a:spAutoFit/>
          </a:bodyPr>
          <a:lstStyle/>
          <a:p>
            <a:pPr algn="r" marL="0" indent="0" lvl="0">
              <a:lnSpc>
                <a:spcPts val="3120"/>
              </a:lnSpc>
              <a:spcBef>
                <a:spcPct val="0"/>
              </a:spcBef>
            </a:pPr>
            <a:r>
              <a:rPr lang="en-US" b="true" sz="2600" spc="72">
                <a:solidFill>
                  <a:srgbClr val="00618A"/>
                </a:solidFill>
                <a:latin typeface="Arimo Bold"/>
                <a:ea typeface="Arimo Bold"/>
                <a:cs typeface="Arimo Bold"/>
                <a:sym typeface="Arimo Bold"/>
              </a:rPr>
              <a:t>31</a:t>
            </a:r>
          </a:p>
        </p:txBody>
      </p:sp>
    </p:spTree>
  </p:cSld>
  <p:clrMapOvr>
    <a:masterClrMapping/>
  </p:clrMapOvr>
  <p:transition spd="fast">
    <p:fade/>
  </p:transition>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705967" y="9253538"/>
            <a:ext cx="16872456" cy="4762"/>
          </a:xfrm>
          <a:prstGeom prst="line">
            <a:avLst/>
          </a:prstGeom>
          <a:ln cap="rnd" w="19050">
            <a:solidFill>
              <a:srgbClr val="4BADD6"/>
            </a:solidFill>
            <a:prstDash val="solid"/>
            <a:headEnd type="none" len="sm" w="sm"/>
            <a:tailEnd type="none" len="sm" w="sm"/>
          </a:ln>
        </p:spPr>
      </p:sp>
      <p:sp>
        <p:nvSpPr>
          <p:cNvPr name="AutoShape 3" id="3"/>
          <p:cNvSpPr/>
          <p:nvPr/>
        </p:nvSpPr>
        <p:spPr>
          <a:xfrm flipH="true">
            <a:off x="763112" y="716667"/>
            <a:ext cx="0" cy="771525"/>
          </a:xfrm>
          <a:prstGeom prst="line">
            <a:avLst/>
          </a:prstGeom>
          <a:ln cap="rnd" w="114300">
            <a:solidFill>
              <a:srgbClr val="075985">
                <a:alpha val="46667"/>
              </a:srgbClr>
            </a:solidFill>
            <a:prstDash val="solid"/>
            <a:headEnd type="none" len="sm" w="sm"/>
            <a:tailEnd type="none" len="sm" w="sm"/>
          </a:ln>
        </p:spPr>
      </p:sp>
      <p:sp>
        <p:nvSpPr>
          <p:cNvPr name="Freeform 4" id="4"/>
          <p:cNvSpPr/>
          <p:nvPr/>
        </p:nvSpPr>
        <p:spPr>
          <a:xfrm flipH="false" flipV="false" rot="0">
            <a:off x="16713285" y="707142"/>
            <a:ext cx="865138" cy="854186"/>
          </a:xfrm>
          <a:custGeom>
            <a:avLst/>
            <a:gdLst/>
            <a:ahLst/>
            <a:cxnLst/>
            <a:rect r="r" b="b" t="t" l="l"/>
            <a:pathLst>
              <a:path h="854186" w="865138">
                <a:moveTo>
                  <a:pt x="0" y="0"/>
                </a:moveTo>
                <a:lnTo>
                  <a:pt x="865138" y="0"/>
                </a:lnTo>
                <a:lnTo>
                  <a:pt x="865138" y="854186"/>
                </a:lnTo>
                <a:lnTo>
                  <a:pt x="0" y="854186"/>
                </a:lnTo>
                <a:lnTo>
                  <a:pt x="0" y="0"/>
                </a:lnTo>
                <a:close/>
              </a:path>
            </a:pathLst>
          </a:custGeom>
          <a:blipFill>
            <a:blip r:embed="rId2"/>
            <a:stretch>
              <a:fillRect l="0" t="0" r="0" b="0"/>
            </a:stretch>
          </a:blipFill>
        </p:spPr>
      </p:sp>
      <p:sp>
        <p:nvSpPr>
          <p:cNvPr name="Freeform 5" id="5"/>
          <p:cNvSpPr/>
          <p:nvPr/>
        </p:nvSpPr>
        <p:spPr>
          <a:xfrm flipH="false" flipV="false" rot="0">
            <a:off x="13001860" y="3021807"/>
            <a:ext cx="3711425" cy="4705452"/>
          </a:xfrm>
          <a:custGeom>
            <a:avLst/>
            <a:gdLst/>
            <a:ahLst/>
            <a:cxnLst/>
            <a:rect r="r" b="b" t="t" l="l"/>
            <a:pathLst>
              <a:path h="4705452" w="3711425">
                <a:moveTo>
                  <a:pt x="0" y="0"/>
                </a:moveTo>
                <a:lnTo>
                  <a:pt x="3711425" y="0"/>
                </a:lnTo>
                <a:lnTo>
                  <a:pt x="3711425" y="4705451"/>
                </a:lnTo>
                <a:lnTo>
                  <a:pt x="0" y="47054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763112" y="9369641"/>
            <a:ext cx="12119638" cy="409575"/>
          </a:xfrm>
          <a:prstGeom prst="rect">
            <a:avLst/>
          </a:prstGeom>
        </p:spPr>
        <p:txBody>
          <a:bodyPr anchor="t" rtlCol="false" tIns="0" lIns="0" bIns="0" rIns="0">
            <a:spAutoFit/>
          </a:bodyPr>
          <a:lstStyle/>
          <a:p>
            <a:pPr algn="l" marL="0" indent="0" lvl="0">
              <a:lnSpc>
                <a:spcPts val="3120"/>
              </a:lnSpc>
              <a:spcBef>
                <a:spcPct val="0"/>
              </a:spcBef>
            </a:pPr>
            <a:r>
              <a:rPr lang="en-US" b="true" sz="2600" spc="72" strike="noStrike" u="none">
                <a:solidFill>
                  <a:srgbClr val="00618A"/>
                </a:solidFill>
                <a:latin typeface="Arimo Bold"/>
                <a:ea typeface="Arimo Bold"/>
                <a:cs typeface="Arimo Bold"/>
                <a:sym typeface="Arimo Bold"/>
              </a:rPr>
              <a:t>XÂY DỰNG HỆ THỐNG TẠO VÀ ĐÁNH GIÁ</a:t>
            </a:r>
            <a:r>
              <a:rPr lang="en-US" b="true" sz="2600" spc="72" strike="noStrike" u="none">
                <a:solidFill>
                  <a:srgbClr val="00618A"/>
                </a:solidFill>
                <a:latin typeface="Arimo Bold"/>
                <a:ea typeface="Arimo Bold"/>
                <a:cs typeface="Arimo Bold"/>
                <a:sym typeface="Arimo Bold"/>
              </a:rPr>
              <a:t> HỒ SƠ XIN VIỆC TÍCH HỢP AI</a:t>
            </a:r>
          </a:p>
        </p:txBody>
      </p:sp>
      <p:sp>
        <p:nvSpPr>
          <p:cNvPr name="TextBox 7" id="7"/>
          <p:cNvSpPr txBox="true"/>
          <p:nvPr/>
        </p:nvSpPr>
        <p:spPr>
          <a:xfrm rot="0">
            <a:off x="1041536" y="688092"/>
            <a:ext cx="7323162" cy="438150"/>
          </a:xfrm>
          <a:prstGeom prst="rect">
            <a:avLst/>
          </a:prstGeom>
        </p:spPr>
        <p:txBody>
          <a:bodyPr anchor="t" rtlCol="false" tIns="0" lIns="0" bIns="0" rIns="0">
            <a:spAutoFit/>
          </a:bodyPr>
          <a:lstStyle/>
          <a:p>
            <a:pPr algn="l" marL="0" indent="0" lvl="0">
              <a:lnSpc>
                <a:spcPts val="3359"/>
              </a:lnSpc>
              <a:spcBef>
                <a:spcPct val="0"/>
              </a:spcBef>
            </a:pPr>
            <a:r>
              <a:rPr lang="en-US" sz="2799" i="true" spc="77">
                <a:solidFill>
                  <a:srgbClr val="00618A"/>
                </a:solidFill>
                <a:latin typeface="Arimo Italics"/>
                <a:ea typeface="Arimo Italics"/>
                <a:cs typeface="Arimo Italics"/>
                <a:sym typeface="Arimo Italics"/>
              </a:rPr>
              <a:t>5. Kết luận và hướng phát triển</a:t>
            </a:r>
          </a:p>
        </p:txBody>
      </p:sp>
      <p:sp>
        <p:nvSpPr>
          <p:cNvPr name="TextBox 8" id="8"/>
          <p:cNvSpPr txBox="true"/>
          <p:nvPr/>
        </p:nvSpPr>
        <p:spPr>
          <a:xfrm rot="0">
            <a:off x="1041536" y="1078617"/>
            <a:ext cx="6067738" cy="438150"/>
          </a:xfrm>
          <a:prstGeom prst="rect">
            <a:avLst/>
          </a:prstGeom>
        </p:spPr>
        <p:txBody>
          <a:bodyPr anchor="t" rtlCol="false" tIns="0" lIns="0" bIns="0" rIns="0">
            <a:spAutoFit/>
          </a:bodyPr>
          <a:lstStyle/>
          <a:p>
            <a:pPr algn="l" marL="0" indent="0" lvl="0">
              <a:lnSpc>
                <a:spcPts val="3359"/>
              </a:lnSpc>
              <a:spcBef>
                <a:spcPct val="0"/>
              </a:spcBef>
            </a:pPr>
            <a:r>
              <a:rPr lang="en-US" b="true" sz="2799" spc="77">
                <a:solidFill>
                  <a:srgbClr val="00618A"/>
                </a:solidFill>
                <a:latin typeface="Arimo Bold"/>
                <a:ea typeface="Arimo Bold"/>
                <a:cs typeface="Arimo Bold"/>
                <a:sym typeface="Arimo Bold"/>
              </a:rPr>
              <a:t>Hướng phát triển</a:t>
            </a:r>
          </a:p>
        </p:txBody>
      </p:sp>
      <p:sp>
        <p:nvSpPr>
          <p:cNvPr name="TextBox 9" id="9"/>
          <p:cNvSpPr txBox="true"/>
          <p:nvPr/>
        </p:nvSpPr>
        <p:spPr>
          <a:xfrm rot="0">
            <a:off x="895906" y="2859632"/>
            <a:ext cx="11567860" cy="1471930"/>
          </a:xfrm>
          <a:prstGeom prst="rect">
            <a:avLst/>
          </a:prstGeom>
        </p:spPr>
        <p:txBody>
          <a:bodyPr anchor="t" rtlCol="false" tIns="0" lIns="0" bIns="0" rIns="0">
            <a:spAutoFit/>
          </a:bodyPr>
          <a:lstStyle/>
          <a:p>
            <a:pPr algn="l" marL="0" indent="0" lvl="0">
              <a:lnSpc>
                <a:spcPts val="3919"/>
              </a:lnSpc>
              <a:spcBef>
                <a:spcPct val="0"/>
              </a:spcBef>
            </a:pPr>
            <a:r>
              <a:rPr lang="en-US" b="true" sz="2799">
                <a:solidFill>
                  <a:srgbClr val="000000"/>
                </a:solidFill>
                <a:latin typeface="Open Sans Bold"/>
                <a:ea typeface="Open Sans Bold"/>
                <a:cs typeface="Open Sans Bold"/>
                <a:sym typeface="Open Sans Bold"/>
              </a:rPr>
              <a:t>Mở</a:t>
            </a:r>
            <a:r>
              <a:rPr lang="en-US" b="true" sz="2799" strike="noStrike" u="none">
                <a:solidFill>
                  <a:srgbClr val="000000"/>
                </a:solidFill>
                <a:latin typeface="Open Sans Bold"/>
                <a:ea typeface="Open Sans Bold"/>
                <a:cs typeface="Open Sans Bold"/>
                <a:sym typeface="Open Sans Bold"/>
              </a:rPr>
              <a:t> </a:t>
            </a:r>
            <a:r>
              <a:rPr lang="en-US" b="true" sz="2799" strike="noStrike" u="none">
                <a:solidFill>
                  <a:srgbClr val="000000"/>
                </a:solidFill>
                <a:latin typeface="Open Sans Bold"/>
                <a:ea typeface="Open Sans Bold"/>
                <a:cs typeface="Open Sans Bold"/>
                <a:sym typeface="Open Sans Bold"/>
              </a:rPr>
              <a:t>rộ</a:t>
            </a:r>
            <a:r>
              <a:rPr lang="en-US" b="true" sz="2799" strike="noStrike" u="none">
                <a:solidFill>
                  <a:srgbClr val="000000"/>
                </a:solidFill>
                <a:latin typeface="Open Sans Bold"/>
                <a:ea typeface="Open Sans Bold"/>
                <a:cs typeface="Open Sans Bold"/>
                <a:sym typeface="Open Sans Bold"/>
              </a:rPr>
              <a:t>ng và </a:t>
            </a:r>
            <a:r>
              <a:rPr lang="en-US" b="true" sz="2799" strike="noStrike" u="none">
                <a:solidFill>
                  <a:srgbClr val="000000"/>
                </a:solidFill>
                <a:latin typeface="Open Sans Bold"/>
                <a:ea typeface="Open Sans Bold"/>
                <a:cs typeface="Open Sans Bold"/>
                <a:sym typeface="Open Sans Bold"/>
              </a:rPr>
              <a:t>c</a:t>
            </a:r>
            <a:r>
              <a:rPr lang="en-US" b="true" sz="2799" strike="noStrike" u="none">
                <a:solidFill>
                  <a:srgbClr val="000000"/>
                </a:solidFill>
                <a:latin typeface="Open Sans Bold"/>
                <a:ea typeface="Open Sans Bold"/>
                <a:cs typeface="Open Sans Bold"/>
                <a:sym typeface="Open Sans Bold"/>
              </a:rPr>
              <a:t>á</a:t>
            </a:r>
            <a:r>
              <a:rPr lang="en-US" b="true" sz="2799" strike="noStrike" u="none">
                <a:solidFill>
                  <a:srgbClr val="000000"/>
                </a:solidFill>
                <a:latin typeface="Open Sans Bold"/>
                <a:ea typeface="Open Sans Bold"/>
                <a:cs typeface="Open Sans Bold"/>
                <a:sym typeface="Open Sans Bold"/>
              </a:rPr>
              <a:t> </a:t>
            </a:r>
            <a:r>
              <a:rPr lang="en-US" b="true" sz="2799" strike="noStrike" u="none">
                <a:solidFill>
                  <a:srgbClr val="000000"/>
                </a:solidFill>
                <a:latin typeface="Open Sans Bold"/>
                <a:ea typeface="Open Sans Bold"/>
                <a:cs typeface="Open Sans Bold"/>
                <a:sym typeface="Open Sans Bold"/>
              </a:rPr>
              <a:t>nh</a:t>
            </a:r>
            <a:r>
              <a:rPr lang="en-US" b="true" sz="2799" strike="noStrike" u="none">
                <a:solidFill>
                  <a:srgbClr val="000000"/>
                </a:solidFill>
                <a:latin typeface="Open Sans Bold"/>
                <a:ea typeface="Open Sans Bold"/>
                <a:cs typeface="Open Sans Bold"/>
                <a:sym typeface="Open Sans Bold"/>
              </a:rPr>
              <a:t>ân hóa</a:t>
            </a:r>
            <a:r>
              <a:rPr lang="en-US" b="true" sz="2799" strike="noStrike" u="none">
                <a:solidFill>
                  <a:srgbClr val="000000"/>
                </a:solidFill>
                <a:latin typeface="Open Sans Bold"/>
                <a:ea typeface="Open Sans Bold"/>
                <a:cs typeface="Open Sans Bold"/>
                <a:sym typeface="Open Sans Bold"/>
              </a:rPr>
              <a:t> </a:t>
            </a:r>
            <a:r>
              <a:rPr lang="en-US" b="true" sz="2799" strike="noStrike" u="none">
                <a:solidFill>
                  <a:srgbClr val="000000"/>
                </a:solidFill>
                <a:latin typeface="Open Sans Bold"/>
                <a:ea typeface="Open Sans Bold"/>
                <a:cs typeface="Open Sans Bold"/>
                <a:sym typeface="Open Sans Bold"/>
              </a:rPr>
              <a:t>mẫu</a:t>
            </a:r>
            <a:r>
              <a:rPr lang="en-US" b="true" sz="2799" strike="noStrike" u="none">
                <a:solidFill>
                  <a:srgbClr val="000000"/>
                </a:solidFill>
                <a:latin typeface="Open Sans Bold"/>
                <a:ea typeface="Open Sans Bold"/>
                <a:cs typeface="Open Sans Bold"/>
                <a:sym typeface="Open Sans Bold"/>
              </a:rPr>
              <a:t> hồ sơ xin việc</a:t>
            </a:r>
            <a:r>
              <a:rPr lang="en-US" sz="2799" strike="noStrike" u="none">
                <a:solidFill>
                  <a:srgbClr val="000000"/>
                </a:solidFill>
                <a:latin typeface="Open Sans"/>
                <a:ea typeface="Open Sans"/>
                <a:cs typeface="Open Sans"/>
                <a:sym typeface="Open Sans"/>
              </a:rPr>
              <a:t>:</a:t>
            </a:r>
            <a:r>
              <a:rPr lang="en-US" sz="2799" strike="noStrike" u="none">
                <a:solidFill>
                  <a:srgbClr val="000000"/>
                </a:solidFill>
                <a:latin typeface="Open Sans"/>
                <a:ea typeface="Open Sans"/>
                <a:cs typeface="Open Sans"/>
                <a:sym typeface="Open Sans"/>
              </a:rPr>
              <a:t> </a:t>
            </a:r>
            <a:r>
              <a:rPr lang="en-US" sz="2799" strike="noStrike" u="none">
                <a:solidFill>
                  <a:srgbClr val="000000"/>
                </a:solidFill>
                <a:latin typeface="Open Sans"/>
                <a:ea typeface="Open Sans"/>
                <a:cs typeface="Open Sans"/>
                <a:sym typeface="Open Sans"/>
              </a:rPr>
              <a:t>Bổ sung n</a:t>
            </a:r>
            <a:r>
              <a:rPr lang="en-US" sz="2799" strike="noStrike" u="none">
                <a:solidFill>
                  <a:srgbClr val="000000"/>
                </a:solidFill>
                <a:latin typeface="Open Sans"/>
                <a:ea typeface="Open Sans"/>
                <a:cs typeface="Open Sans"/>
                <a:sym typeface="Open Sans"/>
              </a:rPr>
              <a:t>h</a:t>
            </a:r>
            <a:r>
              <a:rPr lang="en-US" sz="2799" strike="noStrike" u="none">
                <a:solidFill>
                  <a:srgbClr val="000000"/>
                </a:solidFill>
                <a:latin typeface="Open Sans"/>
                <a:ea typeface="Open Sans"/>
                <a:cs typeface="Open Sans"/>
                <a:sym typeface="Open Sans"/>
              </a:rPr>
              <a:t>iều mẫu</a:t>
            </a:r>
            <a:r>
              <a:rPr lang="en-US" sz="2799" strike="noStrike" u="none">
                <a:solidFill>
                  <a:srgbClr val="000000"/>
                </a:solidFill>
                <a:latin typeface="Open Sans"/>
                <a:ea typeface="Open Sans"/>
                <a:cs typeface="Open Sans"/>
                <a:sym typeface="Open Sans"/>
              </a:rPr>
              <a:t> h</a:t>
            </a:r>
            <a:r>
              <a:rPr lang="en-US" sz="2799" strike="noStrike" u="none">
                <a:solidFill>
                  <a:srgbClr val="000000"/>
                </a:solidFill>
                <a:latin typeface="Open Sans"/>
                <a:ea typeface="Open Sans"/>
                <a:cs typeface="Open Sans"/>
                <a:sym typeface="Open Sans"/>
              </a:rPr>
              <a:t>ồ sơ xin</a:t>
            </a:r>
            <a:r>
              <a:rPr lang="en-US" sz="2799" strike="noStrike" u="none">
                <a:solidFill>
                  <a:srgbClr val="000000"/>
                </a:solidFill>
                <a:latin typeface="Open Sans"/>
                <a:ea typeface="Open Sans"/>
                <a:cs typeface="Open Sans"/>
                <a:sym typeface="Open Sans"/>
              </a:rPr>
              <a:t> </a:t>
            </a:r>
            <a:r>
              <a:rPr lang="en-US" sz="2799" strike="noStrike" u="none">
                <a:solidFill>
                  <a:srgbClr val="000000"/>
                </a:solidFill>
                <a:latin typeface="Open Sans"/>
                <a:ea typeface="Open Sans"/>
                <a:cs typeface="Open Sans"/>
                <a:sym typeface="Open Sans"/>
              </a:rPr>
              <a:t>việc</a:t>
            </a:r>
            <a:r>
              <a:rPr lang="en-US" sz="2799" strike="noStrike" u="none">
                <a:solidFill>
                  <a:srgbClr val="000000"/>
                </a:solidFill>
                <a:latin typeface="Open Sans"/>
                <a:ea typeface="Open Sans"/>
                <a:cs typeface="Open Sans"/>
                <a:sym typeface="Open Sans"/>
              </a:rPr>
              <a:t> đ</a:t>
            </a:r>
            <a:r>
              <a:rPr lang="en-US" sz="2799" strike="noStrike" u="none">
                <a:solidFill>
                  <a:srgbClr val="000000"/>
                </a:solidFill>
                <a:latin typeface="Open Sans"/>
                <a:ea typeface="Open Sans"/>
                <a:cs typeface="Open Sans"/>
                <a:sym typeface="Open Sans"/>
              </a:rPr>
              <a:t>a dạng,</a:t>
            </a:r>
            <a:r>
              <a:rPr lang="en-US" sz="2799" strike="noStrike" u="none">
                <a:solidFill>
                  <a:srgbClr val="000000"/>
                </a:solidFill>
                <a:latin typeface="Open Sans"/>
                <a:ea typeface="Open Sans"/>
                <a:cs typeface="Open Sans"/>
                <a:sym typeface="Open Sans"/>
              </a:rPr>
              <a:t> được </a:t>
            </a:r>
            <a:r>
              <a:rPr lang="en-US" sz="2799" strike="noStrike" u="none">
                <a:solidFill>
                  <a:srgbClr val="000000"/>
                </a:solidFill>
                <a:latin typeface="Open Sans"/>
                <a:ea typeface="Open Sans"/>
                <a:cs typeface="Open Sans"/>
                <a:sym typeface="Open Sans"/>
              </a:rPr>
              <a:t>thiết</a:t>
            </a:r>
            <a:r>
              <a:rPr lang="en-US" sz="2799" strike="noStrike" u="none">
                <a:solidFill>
                  <a:srgbClr val="000000"/>
                </a:solidFill>
                <a:latin typeface="Open Sans"/>
                <a:ea typeface="Open Sans"/>
                <a:cs typeface="Open Sans"/>
                <a:sym typeface="Open Sans"/>
              </a:rPr>
              <a:t> </a:t>
            </a:r>
            <a:r>
              <a:rPr lang="en-US" sz="2799" strike="noStrike" u="none">
                <a:solidFill>
                  <a:srgbClr val="000000"/>
                </a:solidFill>
                <a:latin typeface="Open Sans"/>
                <a:ea typeface="Open Sans"/>
                <a:cs typeface="Open Sans"/>
                <a:sym typeface="Open Sans"/>
              </a:rPr>
              <a:t>kế</a:t>
            </a:r>
            <a:r>
              <a:rPr lang="en-US" sz="2799" strike="noStrike" u="none">
                <a:solidFill>
                  <a:srgbClr val="000000"/>
                </a:solidFill>
                <a:latin typeface="Open Sans"/>
                <a:ea typeface="Open Sans"/>
                <a:cs typeface="Open Sans"/>
                <a:sym typeface="Open Sans"/>
              </a:rPr>
              <a:t> </a:t>
            </a:r>
            <a:r>
              <a:rPr lang="en-US" sz="2799" strike="noStrike" u="none">
                <a:solidFill>
                  <a:srgbClr val="000000"/>
                </a:solidFill>
                <a:latin typeface="Open Sans"/>
                <a:ea typeface="Open Sans"/>
                <a:cs typeface="Open Sans"/>
                <a:sym typeface="Open Sans"/>
              </a:rPr>
              <a:t>c</a:t>
            </a:r>
            <a:r>
              <a:rPr lang="en-US" sz="2799" strike="noStrike" u="none">
                <a:solidFill>
                  <a:srgbClr val="000000"/>
                </a:solidFill>
                <a:latin typeface="Open Sans"/>
                <a:ea typeface="Open Sans"/>
                <a:cs typeface="Open Sans"/>
                <a:sym typeface="Open Sans"/>
              </a:rPr>
              <a:t>h</a:t>
            </a:r>
            <a:r>
              <a:rPr lang="en-US" sz="2799" strike="noStrike" u="none">
                <a:solidFill>
                  <a:srgbClr val="000000"/>
                </a:solidFill>
                <a:latin typeface="Open Sans"/>
                <a:ea typeface="Open Sans"/>
                <a:cs typeface="Open Sans"/>
                <a:sym typeface="Open Sans"/>
              </a:rPr>
              <a:t>uyê</a:t>
            </a:r>
            <a:r>
              <a:rPr lang="en-US" sz="2799" strike="noStrike" u="none">
                <a:solidFill>
                  <a:srgbClr val="000000"/>
                </a:solidFill>
                <a:latin typeface="Open Sans"/>
                <a:ea typeface="Open Sans"/>
                <a:cs typeface="Open Sans"/>
                <a:sym typeface="Open Sans"/>
              </a:rPr>
              <a:t>n</a:t>
            </a:r>
            <a:r>
              <a:rPr lang="en-US" sz="2799" strike="noStrike" u="none">
                <a:solidFill>
                  <a:srgbClr val="000000"/>
                </a:solidFill>
                <a:latin typeface="Open Sans"/>
                <a:ea typeface="Open Sans"/>
                <a:cs typeface="Open Sans"/>
                <a:sym typeface="Open Sans"/>
              </a:rPr>
              <a:t> biệt</a:t>
            </a:r>
            <a:r>
              <a:rPr lang="en-US" sz="2799" strike="noStrike" u="none">
                <a:solidFill>
                  <a:srgbClr val="000000"/>
                </a:solidFill>
                <a:latin typeface="Open Sans"/>
                <a:ea typeface="Open Sans"/>
                <a:cs typeface="Open Sans"/>
                <a:sym typeface="Open Sans"/>
              </a:rPr>
              <a:t> c</a:t>
            </a:r>
            <a:r>
              <a:rPr lang="en-US" sz="2799" strike="noStrike" u="none">
                <a:solidFill>
                  <a:srgbClr val="000000"/>
                </a:solidFill>
                <a:latin typeface="Open Sans"/>
                <a:ea typeface="Open Sans"/>
                <a:cs typeface="Open Sans"/>
                <a:sym typeface="Open Sans"/>
              </a:rPr>
              <a:t>ho từ</a:t>
            </a:r>
            <a:r>
              <a:rPr lang="en-US" sz="2799" strike="noStrike" u="none">
                <a:solidFill>
                  <a:srgbClr val="000000"/>
                </a:solidFill>
                <a:latin typeface="Open Sans"/>
                <a:ea typeface="Open Sans"/>
                <a:cs typeface="Open Sans"/>
                <a:sym typeface="Open Sans"/>
              </a:rPr>
              <a:t>ng </a:t>
            </a:r>
            <a:r>
              <a:rPr lang="en-US" sz="2799" strike="noStrike" u="none">
                <a:solidFill>
                  <a:srgbClr val="000000"/>
                </a:solidFill>
                <a:latin typeface="Open Sans"/>
                <a:ea typeface="Open Sans"/>
                <a:cs typeface="Open Sans"/>
                <a:sym typeface="Open Sans"/>
              </a:rPr>
              <a:t>nhóm</a:t>
            </a:r>
            <a:r>
              <a:rPr lang="en-US" sz="2799" strike="noStrike" u="none">
                <a:solidFill>
                  <a:srgbClr val="000000"/>
                </a:solidFill>
                <a:latin typeface="Open Sans"/>
                <a:ea typeface="Open Sans"/>
                <a:cs typeface="Open Sans"/>
                <a:sym typeface="Open Sans"/>
              </a:rPr>
              <a:t> đ</a:t>
            </a:r>
            <a:r>
              <a:rPr lang="en-US" sz="2799" strike="noStrike" u="none">
                <a:solidFill>
                  <a:srgbClr val="000000"/>
                </a:solidFill>
                <a:latin typeface="Open Sans"/>
                <a:ea typeface="Open Sans"/>
                <a:cs typeface="Open Sans"/>
                <a:sym typeface="Open Sans"/>
              </a:rPr>
              <a:t>ối</a:t>
            </a:r>
            <a:r>
              <a:rPr lang="en-US" sz="2799" strike="noStrike" u="none">
                <a:solidFill>
                  <a:srgbClr val="000000"/>
                </a:solidFill>
                <a:latin typeface="Open Sans"/>
                <a:ea typeface="Open Sans"/>
                <a:cs typeface="Open Sans"/>
                <a:sym typeface="Open Sans"/>
              </a:rPr>
              <a:t> </a:t>
            </a:r>
            <a:r>
              <a:rPr lang="en-US" sz="2799" strike="noStrike" u="none">
                <a:solidFill>
                  <a:srgbClr val="000000"/>
                </a:solidFill>
                <a:latin typeface="Open Sans"/>
                <a:ea typeface="Open Sans"/>
                <a:cs typeface="Open Sans"/>
                <a:sym typeface="Open Sans"/>
              </a:rPr>
              <a:t>tượ</a:t>
            </a:r>
            <a:r>
              <a:rPr lang="en-US" sz="2799" strike="noStrike" u="none">
                <a:solidFill>
                  <a:srgbClr val="000000"/>
                </a:solidFill>
                <a:latin typeface="Open Sans"/>
                <a:ea typeface="Open Sans"/>
                <a:cs typeface="Open Sans"/>
                <a:sym typeface="Open Sans"/>
              </a:rPr>
              <a:t>ng </a:t>
            </a:r>
            <a:r>
              <a:rPr lang="en-US" sz="2799" strike="noStrike" u="none">
                <a:solidFill>
                  <a:srgbClr val="000000"/>
                </a:solidFill>
                <a:latin typeface="Open Sans"/>
                <a:ea typeface="Open Sans"/>
                <a:cs typeface="Open Sans"/>
                <a:sym typeface="Open Sans"/>
              </a:rPr>
              <a:t>nh</a:t>
            </a:r>
            <a:r>
              <a:rPr lang="en-US" sz="2799" strike="noStrike" u="none">
                <a:solidFill>
                  <a:srgbClr val="000000"/>
                </a:solidFill>
                <a:latin typeface="Open Sans"/>
                <a:ea typeface="Open Sans"/>
                <a:cs typeface="Open Sans"/>
                <a:sym typeface="Open Sans"/>
              </a:rPr>
              <a:t>ư</a:t>
            </a:r>
            <a:r>
              <a:rPr lang="en-US" sz="2799" strike="noStrike" u="none">
                <a:solidFill>
                  <a:srgbClr val="000000"/>
                </a:solidFill>
                <a:latin typeface="Open Sans"/>
                <a:ea typeface="Open Sans"/>
                <a:cs typeface="Open Sans"/>
                <a:sym typeface="Open Sans"/>
              </a:rPr>
              <a:t> chuyê</a:t>
            </a:r>
            <a:r>
              <a:rPr lang="en-US" sz="2799" strike="noStrike" u="none">
                <a:solidFill>
                  <a:srgbClr val="000000"/>
                </a:solidFill>
                <a:latin typeface="Open Sans"/>
                <a:ea typeface="Open Sans"/>
                <a:cs typeface="Open Sans"/>
                <a:sym typeface="Open Sans"/>
              </a:rPr>
              <a:t>n </a:t>
            </a:r>
            <a:r>
              <a:rPr lang="en-US" sz="2799" strike="noStrike" u="none">
                <a:solidFill>
                  <a:srgbClr val="000000"/>
                </a:solidFill>
                <a:latin typeface="Open Sans"/>
                <a:ea typeface="Open Sans"/>
                <a:cs typeface="Open Sans"/>
                <a:sym typeface="Open Sans"/>
              </a:rPr>
              <a:t>g</a:t>
            </a:r>
            <a:r>
              <a:rPr lang="en-US" sz="2799" strike="noStrike" u="none">
                <a:solidFill>
                  <a:srgbClr val="000000"/>
                </a:solidFill>
                <a:latin typeface="Open Sans"/>
                <a:ea typeface="Open Sans"/>
                <a:cs typeface="Open Sans"/>
                <a:sym typeface="Open Sans"/>
              </a:rPr>
              <a:t>i</a:t>
            </a:r>
            <a:r>
              <a:rPr lang="en-US" sz="2799" strike="noStrike" u="none">
                <a:solidFill>
                  <a:srgbClr val="000000"/>
                </a:solidFill>
                <a:latin typeface="Open Sans"/>
                <a:ea typeface="Open Sans"/>
                <a:cs typeface="Open Sans"/>
                <a:sym typeface="Open Sans"/>
              </a:rPr>
              <a:t>a</a:t>
            </a:r>
            <a:r>
              <a:rPr lang="en-US" sz="2799" strike="noStrike" u="none">
                <a:solidFill>
                  <a:srgbClr val="000000"/>
                </a:solidFill>
                <a:latin typeface="Open Sans"/>
                <a:ea typeface="Open Sans"/>
                <a:cs typeface="Open Sans"/>
                <a:sym typeface="Open Sans"/>
              </a:rPr>
              <a:t> </a:t>
            </a:r>
            <a:r>
              <a:rPr lang="en-US" sz="2799" strike="noStrike" u="none">
                <a:solidFill>
                  <a:srgbClr val="000000"/>
                </a:solidFill>
                <a:latin typeface="Open Sans"/>
                <a:ea typeface="Open Sans"/>
                <a:cs typeface="Open Sans"/>
                <a:sym typeface="Open Sans"/>
              </a:rPr>
              <a:t>kỹ thuật, hoặ</a:t>
            </a:r>
            <a:r>
              <a:rPr lang="en-US" sz="2799" strike="noStrike" u="none">
                <a:solidFill>
                  <a:srgbClr val="000000"/>
                </a:solidFill>
                <a:latin typeface="Open Sans"/>
                <a:ea typeface="Open Sans"/>
                <a:cs typeface="Open Sans"/>
                <a:sym typeface="Open Sans"/>
              </a:rPr>
              <a:t>c c</a:t>
            </a:r>
            <a:r>
              <a:rPr lang="en-US" sz="2799" strike="noStrike" u="none">
                <a:solidFill>
                  <a:srgbClr val="000000"/>
                </a:solidFill>
                <a:latin typeface="Open Sans"/>
                <a:ea typeface="Open Sans"/>
                <a:cs typeface="Open Sans"/>
                <a:sym typeface="Open Sans"/>
              </a:rPr>
              <a:t>á</a:t>
            </a:r>
            <a:r>
              <a:rPr lang="en-US" sz="2799" strike="noStrike" u="none">
                <a:solidFill>
                  <a:srgbClr val="000000"/>
                </a:solidFill>
                <a:latin typeface="Open Sans"/>
                <a:ea typeface="Open Sans"/>
                <a:cs typeface="Open Sans"/>
                <a:sym typeface="Open Sans"/>
              </a:rPr>
              <a:t>c ng</a:t>
            </a:r>
            <a:r>
              <a:rPr lang="en-US" sz="2799" strike="noStrike" u="none">
                <a:solidFill>
                  <a:srgbClr val="000000"/>
                </a:solidFill>
                <a:latin typeface="Open Sans"/>
                <a:ea typeface="Open Sans"/>
                <a:cs typeface="Open Sans"/>
                <a:sym typeface="Open Sans"/>
              </a:rPr>
              <a:t>à</a:t>
            </a:r>
            <a:r>
              <a:rPr lang="en-US" sz="2799" strike="noStrike" u="none">
                <a:solidFill>
                  <a:srgbClr val="000000"/>
                </a:solidFill>
                <a:latin typeface="Open Sans"/>
                <a:ea typeface="Open Sans"/>
                <a:cs typeface="Open Sans"/>
                <a:sym typeface="Open Sans"/>
              </a:rPr>
              <a:t>nh </a:t>
            </a:r>
            <a:r>
              <a:rPr lang="en-US" sz="2799" strike="noStrike" u="none">
                <a:solidFill>
                  <a:srgbClr val="000000"/>
                </a:solidFill>
                <a:latin typeface="Open Sans"/>
                <a:ea typeface="Open Sans"/>
                <a:cs typeface="Open Sans"/>
                <a:sym typeface="Open Sans"/>
              </a:rPr>
              <a:t>sá</a:t>
            </a:r>
            <a:r>
              <a:rPr lang="en-US" sz="2799" strike="noStrike" u="none">
                <a:solidFill>
                  <a:srgbClr val="000000"/>
                </a:solidFill>
                <a:latin typeface="Open Sans"/>
                <a:ea typeface="Open Sans"/>
                <a:cs typeface="Open Sans"/>
                <a:sym typeface="Open Sans"/>
              </a:rPr>
              <a:t>n</a:t>
            </a:r>
            <a:r>
              <a:rPr lang="en-US" sz="2799" strike="noStrike" u="none">
                <a:solidFill>
                  <a:srgbClr val="000000"/>
                </a:solidFill>
                <a:latin typeface="Open Sans"/>
                <a:ea typeface="Open Sans"/>
                <a:cs typeface="Open Sans"/>
                <a:sym typeface="Open Sans"/>
              </a:rPr>
              <a:t>g tạo. </a:t>
            </a:r>
          </a:p>
        </p:txBody>
      </p:sp>
      <p:sp>
        <p:nvSpPr>
          <p:cNvPr name="TextBox 10" id="10"/>
          <p:cNvSpPr txBox="true"/>
          <p:nvPr/>
        </p:nvSpPr>
        <p:spPr>
          <a:xfrm rot="0">
            <a:off x="895906" y="4617313"/>
            <a:ext cx="11986844" cy="1471930"/>
          </a:xfrm>
          <a:prstGeom prst="rect">
            <a:avLst/>
          </a:prstGeom>
        </p:spPr>
        <p:txBody>
          <a:bodyPr anchor="t" rtlCol="false" tIns="0" lIns="0" bIns="0" rIns="0">
            <a:spAutoFit/>
          </a:bodyPr>
          <a:lstStyle/>
          <a:p>
            <a:pPr algn="l" marL="0" indent="0" lvl="0">
              <a:lnSpc>
                <a:spcPts val="3919"/>
              </a:lnSpc>
              <a:spcBef>
                <a:spcPct val="0"/>
              </a:spcBef>
            </a:pPr>
            <a:r>
              <a:rPr lang="en-US" b="true" sz="2799">
                <a:solidFill>
                  <a:srgbClr val="000000"/>
                </a:solidFill>
                <a:latin typeface="Open Sans Bold"/>
                <a:ea typeface="Open Sans Bold"/>
                <a:cs typeface="Open Sans Bold"/>
                <a:sym typeface="Open Sans Bold"/>
              </a:rPr>
              <a:t>Cải thiện tốc độ xử lý của mỗi lần đánh giá:</a:t>
            </a:r>
            <a:r>
              <a:rPr lang="en-US" sz="2799">
                <a:solidFill>
                  <a:srgbClr val="000000"/>
                </a:solidFill>
                <a:latin typeface="Open Sans"/>
                <a:ea typeface="Open Sans"/>
                <a:cs typeface="Open Sans"/>
                <a:sym typeface="Open Sans"/>
              </a:rPr>
              <a:t> Với tốc độ mỗi lượt đánh giá khá chậm hiện tại (khoảng 20 giây/lượt), có thể nghiên cứu giải pháp để rút ngắn thời gian này.</a:t>
            </a:r>
          </a:p>
        </p:txBody>
      </p:sp>
      <p:sp>
        <p:nvSpPr>
          <p:cNvPr name="TextBox 11" id="11"/>
          <p:cNvSpPr txBox="true"/>
          <p:nvPr/>
        </p:nvSpPr>
        <p:spPr>
          <a:xfrm rot="0">
            <a:off x="895906" y="6372067"/>
            <a:ext cx="11987142" cy="1471930"/>
          </a:xfrm>
          <a:prstGeom prst="rect">
            <a:avLst/>
          </a:prstGeom>
        </p:spPr>
        <p:txBody>
          <a:bodyPr anchor="t" rtlCol="false" tIns="0" lIns="0" bIns="0" rIns="0">
            <a:spAutoFit/>
          </a:bodyPr>
          <a:lstStyle/>
          <a:p>
            <a:pPr algn="l" marL="0" indent="0" lvl="0">
              <a:lnSpc>
                <a:spcPts val="3919"/>
              </a:lnSpc>
              <a:spcBef>
                <a:spcPct val="0"/>
              </a:spcBef>
            </a:pPr>
            <a:r>
              <a:rPr lang="en-US" b="true" sz="2799" strike="noStrike" u="none">
                <a:solidFill>
                  <a:srgbClr val="000000"/>
                </a:solidFill>
                <a:latin typeface="Open Sans Bold"/>
                <a:ea typeface="Open Sans Bold"/>
                <a:cs typeface="Open Sans Bold"/>
                <a:sym typeface="Open Sans Bold"/>
              </a:rPr>
              <a:t>Về kỹ thuật trích xuất từ PDF: </a:t>
            </a:r>
            <a:r>
              <a:rPr lang="en-US" sz="2799" strike="noStrike" u="none">
                <a:solidFill>
                  <a:srgbClr val="000000"/>
                </a:solidFill>
                <a:latin typeface="Open Sans"/>
                <a:ea typeface="Open Sans"/>
                <a:cs typeface="Open Sans"/>
                <a:sym typeface="Open Sans"/>
              </a:rPr>
              <a:t>Quá trình phân tích nội dung file PDF đôi khi gặp khó khăn với các định dạng phức tạp hoặc bố cục không chuẩn, dẫn đến thông tin bị thiếu hoặc sắp xếp sai vị trí. </a:t>
            </a:r>
          </a:p>
        </p:txBody>
      </p:sp>
      <p:sp>
        <p:nvSpPr>
          <p:cNvPr name="TextBox 12" id="12"/>
          <p:cNvSpPr txBox="true"/>
          <p:nvPr/>
        </p:nvSpPr>
        <p:spPr>
          <a:xfrm rot="0">
            <a:off x="16976359" y="9369641"/>
            <a:ext cx="528883" cy="409575"/>
          </a:xfrm>
          <a:prstGeom prst="rect">
            <a:avLst/>
          </a:prstGeom>
        </p:spPr>
        <p:txBody>
          <a:bodyPr anchor="t" rtlCol="false" tIns="0" lIns="0" bIns="0" rIns="0">
            <a:spAutoFit/>
          </a:bodyPr>
          <a:lstStyle/>
          <a:p>
            <a:pPr algn="r" marL="0" indent="0" lvl="0">
              <a:lnSpc>
                <a:spcPts val="3120"/>
              </a:lnSpc>
              <a:spcBef>
                <a:spcPct val="0"/>
              </a:spcBef>
            </a:pPr>
            <a:r>
              <a:rPr lang="en-US" b="true" sz="2600" spc="72">
                <a:solidFill>
                  <a:srgbClr val="00618A"/>
                </a:solidFill>
                <a:latin typeface="Arimo Bold"/>
                <a:ea typeface="Arimo Bold"/>
                <a:cs typeface="Arimo Bold"/>
                <a:sym typeface="Arimo Bold"/>
              </a:rPr>
              <a:t>32</a:t>
            </a:r>
          </a:p>
        </p:txBody>
      </p:sp>
    </p:spTree>
  </p:cSld>
  <p:clrMapOvr>
    <a:masterClrMapping/>
  </p:clrMapOvr>
  <p:transition spd="fast">
    <p:fade/>
  </p:transition>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604641" y="4752975"/>
            <a:ext cx="9078719" cy="771525"/>
          </a:xfrm>
          <a:prstGeom prst="rect">
            <a:avLst/>
          </a:prstGeom>
        </p:spPr>
        <p:txBody>
          <a:bodyPr anchor="t" rtlCol="false" tIns="0" lIns="0" bIns="0" rIns="0">
            <a:spAutoFit/>
          </a:bodyPr>
          <a:lstStyle/>
          <a:p>
            <a:pPr algn="ctr" marL="0" indent="0" lvl="0">
              <a:lnSpc>
                <a:spcPts val="6000"/>
              </a:lnSpc>
              <a:spcBef>
                <a:spcPct val="0"/>
              </a:spcBef>
            </a:pPr>
            <a:r>
              <a:rPr lang="en-US" b="true" sz="5000" spc="138">
                <a:solidFill>
                  <a:srgbClr val="00618A">
                    <a:alpha val="81961"/>
                  </a:srgbClr>
                </a:solidFill>
                <a:latin typeface="Open Sans Bold"/>
                <a:ea typeface="Open Sans Bold"/>
                <a:cs typeface="Open Sans Bold"/>
                <a:sym typeface="Open Sans Bold"/>
              </a:rPr>
              <a:t>6. DEMO</a:t>
            </a:r>
          </a:p>
        </p:txBody>
      </p:sp>
      <p:sp>
        <p:nvSpPr>
          <p:cNvPr name="AutoShape 3" id="3"/>
          <p:cNvSpPr/>
          <p:nvPr/>
        </p:nvSpPr>
        <p:spPr>
          <a:xfrm flipV="true">
            <a:off x="705967" y="1028700"/>
            <a:ext cx="14985584" cy="0"/>
          </a:xfrm>
          <a:prstGeom prst="line">
            <a:avLst/>
          </a:prstGeom>
          <a:ln cap="rnd" w="19050">
            <a:solidFill>
              <a:srgbClr val="4BADD6"/>
            </a:solidFill>
            <a:prstDash val="solid"/>
            <a:headEnd type="none" len="sm" w="sm"/>
            <a:tailEnd type="none" len="sm" w="sm"/>
          </a:ln>
        </p:spPr>
      </p:sp>
      <p:sp>
        <p:nvSpPr>
          <p:cNvPr name="AutoShape 4" id="4"/>
          <p:cNvSpPr/>
          <p:nvPr/>
        </p:nvSpPr>
        <p:spPr>
          <a:xfrm>
            <a:off x="705967" y="9253538"/>
            <a:ext cx="16872456" cy="4762"/>
          </a:xfrm>
          <a:prstGeom prst="line">
            <a:avLst/>
          </a:prstGeom>
          <a:ln cap="rnd" w="19050">
            <a:solidFill>
              <a:srgbClr val="4BADD6"/>
            </a:solidFill>
            <a:prstDash val="solid"/>
            <a:headEnd type="none" len="sm" w="sm"/>
            <a:tailEnd type="none" len="sm" w="sm"/>
          </a:ln>
        </p:spPr>
      </p:sp>
      <p:sp>
        <p:nvSpPr>
          <p:cNvPr name="TextBox 5" id="5"/>
          <p:cNvSpPr txBox="true"/>
          <p:nvPr/>
        </p:nvSpPr>
        <p:spPr>
          <a:xfrm rot="0">
            <a:off x="763112" y="9369641"/>
            <a:ext cx="12119638" cy="409575"/>
          </a:xfrm>
          <a:prstGeom prst="rect">
            <a:avLst/>
          </a:prstGeom>
        </p:spPr>
        <p:txBody>
          <a:bodyPr anchor="t" rtlCol="false" tIns="0" lIns="0" bIns="0" rIns="0">
            <a:spAutoFit/>
          </a:bodyPr>
          <a:lstStyle/>
          <a:p>
            <a:pPr algn="l" marL="0" indent="0" lvl="0">
              <a:lnSpc>
                <a:spcPts val="3120"/>
              </a:lnSpc>
              <a:spcBef>
                <a:spcPct val="0"/>
              </a:spcBef>
            </a:pPr>
            <a:r>
              <a:rPr lang="en-US" b="true" sz="2600" spc="72" strike="noStrike" u="none">
                <a:solidFill>
                  <a:srgbClr val="00618A"/>
                </a:solidFill>
                <a:latin typeface="Arimo Bold"/>
                <a:ea typeface="Arimo Bold"/>
                <a:cs typeface="Arimo Bold"/>
                <a:sym typeface="Arimo Bold"/>
              </a:rPr>
              <a:t>XÂY DỰNG HỆ THỐNG TẠO VÀ ĐÁNH GIÁ</a:t>
            </a:r>
            <a:r>
              <a:rPr lang="en-US" b="true" sz="2600" spc="72" strike="noStrike" u="none">
                <a:solidFill>
                  <a:srgbClr val="00618A"/>
                </a:solidFill>
                <a:latin typeface="Arimo Bold"/>
                <a:ea typeface="Arimo Bold"/>
                <a:cs typeface="Arimo Bold"/>
                <a:sym typeface="Arimo Bold"/>
              </a:rPr>
              <a:t> HỒ SƠ XIN VIỆC TÍCH HỢP AI</a:t>
            </a:r>
          </a:p>
        </p:txBody>
      </p:sp>
      <p:sp>
        <p:nvSpPr>
          <p:cNvPr name="TextBox 6" id="6"/>
          <p:cNvSpPr txBox="true"/>
          <p:nvPr/>
        </p:nvSpPr>
        <p:spPr>
          <a:xfrm rot="0">
            <a:off x="16976359" y="9369641"/>
            <a:ext cx="528883" cy="409575"/>
          </a:xfrm>
          <a:prstGeom prst="rect">
            <a:avLst/>
          </a:prstGeom>
        </p:spPr>
        <p:txBody>
          <a:bodyPr anchor="t" rtlCol="false" tIns="0" lIns="0" bIns="0" rIns="0">
            <a:spAutoFit/>
          </a:bodyPr>
          <a:lstStyle/>
          <a:p>
            <a:pPr algn="r" marL="0" indent="0" lvl="0">
              <a:lnSpc>
                <a:spcPts val="3120"/>
              </a:lnSpc>
              <a:spcBef>
                <a:spcPct val="0"/>
              </a:spcBef>
            </a:pPr>
            <a:r>
              <a:rPr lang="en-US" b="true" sz="2600" spc="72">
                <a:solidFill>
                  <a:srgbClr val="00618A"/>
                </a:solidFill>
                <a:latin typeface="Arimo Bold"/>
                <a:ea typeface="Arimo Bold"/>
                <a:cs typeface="Arimo Bold"/>
                <a:sym typeface="Arimo Bold"/>
              </a:rPr>
              <a:t>33</a:t>
            </a:r>
          </a:p>
        </p:txBody>
      </p:sp>
      <p:sp>
        <p:nvSpPr>
          <p:cNvPr name="Freeform 7" id="7"/>
          <p:cNvSpPr/>
          <p:nvPr/>
        </p:nvSpPr>
        <p:spPr>
          <a:xfrm flipH="false" flipV="false" rot="0">
            <a:off x="16713285" y="707142"/>
            <a:ext cx="865138" cy="854186"/>
          </a:xfrm>
          <a:custGeom>
            <a:avLst/>
            <a:gdLst/>
            <a:ahLst/>
            <a:cxnLst/>
            <a:rect r="r" b="b" t="t" l="l"/>
            <a:pathLst>
              <a:path h="854186" w="865138">
                <a:moveTo>
                  <a:pt x="0" y="0"/>
                </a:moveTo>
                <a:lnTo>
                  <a:pt x="865138" y="0"/>
                </a:lnTo>
                <a:lnTo>
                  <a:pt x="865138" y="854186"/>
                </a:lnTo>
                <a:lnTo>
                  <a:pt x="0" y="854186"/>
                </a:lnTo>
                <a:lnTo>
                  <a:pt x="0" y="0"/>
                </a:lnTo>
                <a:close/>
              </a:path>
            </a:pathLst>
          </a:custGeom>
          <a:blipFill>
            <a:blip r:embed="rId2"/>
            <a:stretch>
              <a:fillRect l="0" t="0" r="0" b="0"/>
            </a:stretch>
          </a:blipFill>
        </p:spPr>
      </p:sp>
    </p:spTree>
  </p:cSld>
  <p:clrMapOvr>
    <a:masterClrMapping/>
  </p:clrMapOvr>
  <p:transition spd="fast">
    <p:fade/>
  </p:transition>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705967" y="1028700"/>
            <a:ext cx="14985584" cy="0"/>
          </a:xfrm>
          <a:prstGeom prst="line">
            <a:avLst/>
          </a:prstGeom>
          <a:ln cap="rnd" w="19050">
            <a:solidFill>
              <a:srgbClr val="4BADD6"/>
            </a:solidFill>
            <a:prstDash val="solid"/>
            <a:headEnd type="none" len="sm" w="sm"/>
            <a:tailEnd type="none" len="sm" w="sm"/>
          </a:ln>
        </p:spPr>
      </p:sp>
      <p:sp>
        <p:nvSpPr>
          <p:cNvPr name="Freeform 3" id="3"/>
          <p:cNvSpPr/>
          <p:nvPr/>
        </p:nvSpPr>
        <p:spPr>
          <a:xfrm flipH="false" flipV="false" rot="0">
            <a:off x="2158888" y="2382671"/>
            <a:ext cx="3602176" cy="5661574"/>
          </a:xfrm>
          <a:custGeom>
            <a:avLst/>
            <a:gdLst/>
            <a:ahLst/>
            <a:cxnLst/>
            <a:rect r="r" b="b" t="t" l="l"/>
            <a:pathLst>
              <a:path h="5661574" w="3602176">
                <a:moveTo>
                  <a:pt x="0" y="0"/>
                </a:moveTo>
                <a:lnTo>
                  <a:pt x="3602176" y="0"/>
                </a:lnTo>
                <a:lnTo>
                  <a:pt x="3602176" y="5661574"/>
                </a:lnTo>
                <a:lnTo>
                  <a:pt x="0" y="5661574"/>
                </a:lnTo>
                <a:lnTo>
                  <a:pt x="0" y="0"/>
                </a:lnTo>
                <a:close/>
              </a:path>
            </a:pathLst>
          </a:custGeom>
          <a:blipFill>
            <a:blip r:embed="rId2"/>
            <a:stretch>
              <a:fillRect l="0" t="0" r="0" b="0"/>
            </a:stretch>
          </a:blipFill>
        </p:spPr>
      </p:sp>
      <p:sp>
        <p:nvSpPr>
          <p:cNvPr name="TextBox 4" id="4"/>
          <p:cNvSpPr txBox="true"/>
          <p:nvPr/>
        </p:nvSpPr>
        <p:spPr>
          <a:xfrm rot="0">
            <a:off x="6296255" y="4246886"/>
            <a:ext cx="9673122" cy="1802754"/>
          </a:xfrm>
          <a:prstGeom prst="rect">
            <a:avLst/>
          </a:prstGeom>
        </p:spPr>
        <p:txBody>
          <a:bodyPr anchor="t" rtlCol="false" tIns="0" lIns="0" bIns="0" rIns="0">
            <a:spAutoFit/>
          </a:bodyPr>
          <a:lstStyle/>
          <a:p>
            <a:pPr algn="ctr" marL="0" indent="0" lvl="0">
              <a:lnSpc>
                <a:spcPts val="7102"/>
              </a:lnSpc>
            </a:pPr>
            <a:r>
              <a:rPr lang="en-US" b="true" sz="6122">
                <a:solidFill>
                  <a:srgbClr val="00618A"/>
                </a:solidFill>
                <a:latin typeface="Open Sans Bold"/>
                <a:ea typeface="Open Sans Bold"/>
                <a:cs typeface="Open Sans Bold"/>
                <a:sym typeface="Open Sans Bold"/>
              </a:rPr>
              <a:t>CẢM ƠN THẦY CÔ VÀ CÁC BẠN ĐÃ THEO DÕI</a:t>
            </a:r>
          </a:p>
        </p:txBody>
      </p:sp>
      <p:sp>
        <p:nvSpPr>
          <p:cNvPr name="AutoShape 5" id="5"/>
          <p:cNvSpPr/>
          <p:nvPr/>
        </p:nvSpPr>
        <p:spPr>
          <a:xfrm>
            <a:off x="705967" y="9253538"/>
            <a:ext cx="16872456" cy="4762"/>
          </a:xfrm>
          <a:prstGeom prst="line">
            <a:avLst/>
          </a:prstGeom>
          <a:ln cap="rnd" w="19050">
            <a:solidFill>
              <a:srgbClr val="4BADD6"/>
            </a:solidFill>
            <a:prstDash val="solid"/>
            <a:headEnd type="none" len="sm" w="sm"/>
            <a:tailEnd type="none" len="sm" w="sm"/>
          </a:ln>
        </p:spPr>
      </p:sp>
      <p:sp>
        <p:nvSpPr>
          <p:cNvPr name="TextBox 6" id="6"/>
          <p:cNvSpPr txBox="true"/>
          <p:nvPr/>
        </p:nvSpPr>
        <p:spPr>
          <a:xfrm rot="0">
            <a:off x="763112" y="9369641"/>
            <a:ext cx="12119638" cy="409575"/>
          </a:xfrm>
          <a:prstGeom prst="rect">
            <a:avLst/>
          </a:prstGeom>
        </p:spPr>
        <p:txBody>
          <a:bodyPr anchor="t" rtlCol="false" tIns="0" lIns="0" bIns="0" rIns="0">
            <a:spAutoFit/>
          </a:bodyPr>
          <a:lstStyle/>
          <a:p>
            <a:pPr algn="l" marL="0" indent="0" lvl="0">
              <a:lnSpc>
                <a:spcPts val="3120"/>
              </a:lnSpc>
              <a:spcBef>
                <a:spcPct val="0"/>
              </a:spcBef>
            </a:pPr>
            <a:r>
              <a:rPr lang="en-US" b="true" sz="2600" spc="72" strike="noStrike" u="none">
                <a:solidFill>
                  <a:srgbClr val="00618A"/>
                </a:solidFill>
                <a:latin typeface="Arimo Bold"/>
                <a:ea typeface="Arimo Bold"/>
                <a:cs typeface="Arimo Bold"/>
                <a:sym typeface="Arimo Bold"/>
              </a:rPr>
              <a:t>XÂY DỰNG HỆ THỐNG TẠO VÀ ĐÁNH GIÁ</a:t>
            </a:r>
            <a:r>
              <a:rPr lang="en-US" b="true" sz="2600" spc="72" strike="noStrike" u="none">
                <a:solidFill>
                  <a:srgbClr val="00618A"/>
                </a:solidFill>
                <a:latin typeface="Arimo Bold"/>
                <a:ea typeface="Arimo Bold"/>
                <a:cs typeface="Arimo Bold"/>
                <a:sym typeface="Arimo Bold"/>
              </a:rPr>
              <a:t> HỒ SƠ XIN VIỆC TÍCH HỢP AI</a:t>
            </a:r>
          </a:p>
        </p:txBody>
      </p:sp>
      <p:sp>
        <p:nvSpPr>
          <p:cNvPr name="TextBox 7" id="7"/>
          <p:cNvSpPr txBox="true"/>
          <p:nvPr/>
        </p:nvSpPr>
        <p:spPr>
          <a:xfrm rot="0">
            <a:off x="16976359" y="9369641"/>
            <a:ext cx="528883" cy="409575"/>
          </a:xfrm>
          <a:prstGeom prst="rect">
            <a:avLst/>
          </a:prstGeom>
        </p:spPr>
        <p:txBody>
          <a:bodyPr anchor="t" rtlCol="false" tIns="0" lIns="0" bIns="0" rIns="0">
            <a:spAutoFit/>
          </a:bodyPr>
          <a:lstStyle/>
          <a:p>
            <a:pPr algn="r" marL="0" indent="0" lvl="0">
              <a:lnSpc>
                <a:spcPts val="3120"/>
              </a:lnSpc>
              <a:spcBef>
                <a:spcPct val="0"/>
              </a:spcBef>
            </a:pPr>
            <a:r>
              <a:rPr lang="en-US" b="true" sz="2600" spc="72">
                <a:solidFill>
                  <a:srgbClr val="00618A"/>
                </a:solidFill>
                <a:latin typeface="Arimo Bold"/>
                <a:ea typeface="Arimo Bold"/>
                <a:cs typeface="Arimo Bold"/>
                <a:sym typeface="Arimo Bold"/>
              </a:rPr>
              <a:t>34</a:t>
            </a:r>
          </a:p>
        </p:txBody>
      </p:sp>
      <p:sp>
        <p:nvSpPr>
          <p:cNvPr name="Freeform 8" id="8"/>
          <p:cNvSpPr/>
          <p:nvPr/>
        </p:nvSpPr>
        <p:spPr>
          <a:xfrm flipH="false" flipV="false" rot="0">
            <a:off x="16713285" y="707142"/>
            <a:ext cx="865138" cy="854186"/>
          </a:xfrm>
          <a:custGeom>
            <a:avLst/>
            <a:gdLst/>
            <a:ahLst/>
            <a:cxnLst/>
            <a:rect r="r" b="b" t="t" l="l"/>
            <a:pathLst>
              <a:path h="854186" w="865138">
                <a:moveTo>
                  <a:pt x="0" y="0"/>
                </a:moveTo>
                <a:lnTo>
                  <a:pt x="865138" y="0"/>
                </a:lnTo>
                <a:lnTo>
                  <a:pt x="865138" y="854186"/>
                </a:lnTo>
                <a:lnTo>
                  <a:pt x="0" y="854186"/>
                </a:lnTo>
                <a:lnTo>
                  <a:pt x="0" y="0"/>
                </a:lnTo>
                <a:close/>
              </a:path>
            </a:pathLst>
          </a:custGeom>
          <a:blipFill>
            <a:blip r:embed="rId3"/>
            <a:stretch>
              <a:fillRect l="0" t="0" r="0" b="0"/>
            </a:stretch>
          </a:blipFill>
        </p:spPr>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DAGx9BLeF_4</dc:identifier>
  <dcterms:modified xsi:type="dcterms:W3CDTF">2011-08-01T06:04:30Z</dcterms:modified>
  <cp:revision>1</cp:revision>
  <dc:title>Báo cáo tốt nghiệp</dc:title>
</cp:coreProperties>
</file>